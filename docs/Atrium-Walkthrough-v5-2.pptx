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 name="Shape 15"/>
        <p:cNvGrpSpPr/>
        <p:nvPr/>
      </p:nvGrpSpPr>
      <p:grpSpPr>
        <a:xfrm>
          <a:off x="0" y="0"/>
          <a:ext cx="0" cy="0"/>
          <a:chOff x="0" y="0"/>
          <a:chExt cx="0" cy="0"/>
        </a:xfrm>
      </p:grpSpPr>
      <p:sp>
        <p:nvSpPr>
          <p:cNvPr id="16" name="Google Shape;16;p3"/>
          <p:cNvSpPr/>
          <p:nvPr/>
        </p:nvSpPr>
        <p:spPr>
          <a:xfrm>
            <a:off x="9784080" y="-1463040"/>
            <a:ext cx="4206240" cy="4206240"/>
          </a:xfrm>
          <a:prstGeom prst="ellipse">
            <a:avLst/>
          </a:prstGeom>
          <a:solidFill>
            <a:srgbClr val="2E5E8C">
              <a:alpha val="38039"/>
            </a:srgbClr>
          </a:solidFill>
          <a:ln cap="flat" cmpd="sng" w="12700">
            <a:solidFill>
              <a:srgbClr val="2E5E8C">
                <a:alpha val="3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881360" y="4297680"/>
            <a:ext cx="2926080" cy="2926080"/>
          </a:xfrm>
          <a:prstGeom prst="ellipse">
            <a:avLst/>
          </a:prstGeom>
          <a:solidFill>
            <a:srgbClr val="E1A140">
              <a:alpha val="30196"/>
            </a:srgbClr>
          </a:solidFill>
          <a:ln cap="flat" cmpd="sng" w="12700">
            <a:solidFill>
              <a:srgbClr val="E1A14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731520" y="1874520"/>
            <a:ext cx="8229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200"/>
              <a:buFont typeface="Cambria"/>
              <a:buNone/>
            </a:pPr>
            <a:r>
              <a:rPr b="1" i="0" lang="en-US" sz="6200" u="none" cap="none" strike="noStrike">
                <a:solidFill>
                  <a:srgbClr val="FFFFFF"/>
                </a:solidFill>
                <a:latin typeface="Cambria"/>
                <a:ea typeface="Cambria"/>
                <a:cs typeface="Cambria"/>
                <a:sym typeface="Cambria"/>
              </a:rPr>
              <a:t>ATRIUM</a:t>
            </a:r>
            <a:endParaRPr b="0" i="0" sz="6200" u="none" cap="none" strike="noStrike">
              <a:solidFill>
                <a:schemeClr val="dk1"/>
              </a:solidFill>
              <a:latin typeface="Calibri"/>
              <a:ea typeface="Calibri"/>
              <a:cs typeface="Calibri"/>
              <a:sym typeface="Calibri"/>
            </a:endParaRPr>
          </a:p>
        </p:txBody>
      </p:sp>
      <p:sp>
        <p:nvSpPr>
          <p:cNvPr id="19" name="Google Shape;19;p3"/>
          <p:cNvSpPr/>
          <p:nvPr/>
        </p:nvSpPr>
        <p:spPr>
          <a:xfrm>
            <a:off x="749808" y="2926080"/>
            <a:ext cx="9144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2000"/>
              <a:buFont typeface="Calibri"/>
              <a:buNone/>
            </a:pPr>
            <a:r>
              <a:rPr b="0" i="0" lang="en-US" sz="2000" u="none" cap="none" strike="noStrike">
                <a:solidFill>
                  <a:srgbClr val="CBD5E1"/>
                </a:solidFill>
                <a:latin typeface="Calibri"/>
                <a:ea typeface="Calibri"/>
                <a:cs typeface="Calibri"/>
                <a:sym typeface="Calibri"/>
              </a:rPr>
              <a:t>The AltoLumo solo operator sales console</a:t>
            </a:r>
            <a:endParaRPr b="0" i="0" sz="2000" u="none" cap="none" strike="noStrike">
              <a:solidFill>
                <a:schemeClr val="dk1"/>
              </a:solidFill>
              <a:latin typeface="Calibri"/>
              <a:ea typeface="Calibri"/>
              <a:cs typeface="Calibri"/>
              <a:sym typeface="Calibri"/>
            </a:endParaRPr>
          </a:p>
        </p:txBody>
      </p:sp>
      <p:sp>
        <p:nvSpPr>
          <p:cNvPr id="20" name="Google Shape;20;p3"/>
          <p:cNvSpPr/>
          <p:nvPr/>
        </p:nvSpPr>
        <p:spPr>
          <a:xfrm>
            <a:off x="749808" y="3456432"/>
            <a:ext cx="8778240" cy="7315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94A3B8"/>
              </a:buClr>
              <a:buSzPts val="1400"/>
              <a:buFont typeface="Calibri"/>
              <a:buNone/>
            </a:pPr>
            <a:r>
              <a:rPr b="0" i="0" lang="en-US" sz="1400" u="none" cap="none" strike="noStrike">
                <a:solidFill>
                  <a:srgbClr val="94A3B8"/>
                </a:solidFill>
                <a:latin typeface="Calibri"/>
                <a:ea typeface="Calibri"/>
                <a:cs typeface="Calibri"/>
                <a:sym typeface="Calibri"/>
              </a:rPr>
              <a:t>One console runs both inbound and outbound lead generation over an AI sales crew inside Claude Code.</a:t>
            </a:r>
            <a:endParaRPr b="0" i="0" sz="1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400"/>
              <a:buFont typeface="Calibri"/>
              <a:buNone/>
            </a:pPr>
            <a:r>
              <a:rPr b="0" i="0" lang="en-US" sz="1400" u="none" cap="none" strike="noStrike">
                <a:solidFill>
                  <a:srgbClr val="94A3B8"/>
                </a:solidFill>
                <a:latin typeface="Calibri"/>
                <a:ea typeface="Calibri"/>
                <a:cs typeface="Calibri"/>
                <a:sym typeface="Calibri"/>
              </a:rPr>
              <a:t>You manage the crew, the crew works the leads.</a:t>
            </a:r>
            <a:endParaRPr b="0" i="0" sz="1400" u="none" cap="none" strike="noStrike">
              <a:solidFill>
                <a:schemeClr val="dk1"/>
              </a:solidFill>
              <a:latin typeface="Calibri"/>
              <a:ea typeface="Calibri"/>
              <a:cs typeface="Calibri"/>
              <a:sym typeface="Calibri"/>
            </a:endParaRPr>
          </a:p>
        </p:txBody>
      </p:sp>
      <p:cxnSp>
        <p:nvCxnSpPr>
          <p:cNvPr id="21" name="Google Shape;21;p3"/>
          <p:cNvCxnSpPr/>
          <p:nvPr/>
        </p:nvCxnSpPr>
        <p:spPr>
          <a:xfrm>
            <a:off x="777240" y="4892040"/>
            <a:ext cx="3108960" cy="0"/>
          </a:xfrm>
          <a:prstGeom prst="straightConnector1">
            <a:avLst/>
          </a:prstGeom>
          <a:noFill/>
          <a:ln cap="flat" cmpd="sng" w="25400">
            <a:solidFill>
              <a:srgbClr val="E1A140"/>
            </a:solidFill>
            <a:prstDash val="solid"/>
            <a:round/>
            <a:headEnd len="sm" w="sm" type="none"/>
            <a:tailEnd len="sm" w="sm" type="none"/>
          </a:ln>
        </p:spPr>
      </p:cxnSp>
      <p:sp>
        <p:nvSpPr>
          <p:cNvPr id="22" name="Google Shape;22;p3"/>
          <p:cNvSpPr/>
          <p:nvPr/>
        </p:nvSpPr>
        <p:spPr>
          <a:xfrm>
            <a:off x="749808" y="507492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300"/>
              <a:buFont typeface="Calibri"/>
              <a:buNone/>
            </a:pPr>
            <a:r>
              <a:rPr b="1" i="0" lang="en-US" sz="1300" u="none" cap="none" strike="noStrike">
                <a:solidFill>
                  <a:srgbClr val="E1A140"/>
                </a:solidFill>
                <a:latin typeface="Calibri"/>
                <a:ea typeface="Calibri"/>
                <a:cs typeface="Calibri"/>
                <a:sym typeface="Calibri"/>
              </a:rPr>
              <a:t>Version 5.0</a:t>
            </a:r>
            <a:r>
              <a:rPr b="0" i="0" lang="en-US" sz="1300" u="none" cap="none" strike="noStrike">
                <a:solidFill>
                  <a:srgbClr val="94A3B8"/>
                </a:solidFill>
                <a:latin typeface="Calibri"/>
                <a:ea typeface="Calibri"/>
                <a:cs typeface="Calibri"/>
                <a:sym typeface="Calibri"/>
              </a:rPr>
              <a:t>     Project code ATR     Kenneth Benavides     July 5, 2026</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 name="Shape 27"/>
        <p:cNvGrpSpPr/>
        <p:nvPr/>
      </p:nvGrpSpPr>
      <p:grpSpPr>
        <a:xfrm>
          <a:off x="0" y="0"/>
          <a:ext cx="0" cy="0"/>
          <a:chOff x="0" y="0"/>
          <a:chExt cx="0" cy="0"/>
        </a:xfrm>
      </p:grpSpPr>
      <p:sp>
        <p:nvSpPr>
          <p:cNvPr id="28" name="Google Shape;28;p4"/>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PROBLEM</a:t>
            </a:r>
            <a:endParaRPr b="0" i="0" sz="1200" u="none" cap="none" strike="noStrike">
              <a:solidFill>
                <a:schemeClr val="dk1"/>
              </a:solidFill>
              <a:latin typeface="Calibri"/>
              <a:ea typeface="Calibri"/>
              <a:cs typeface="Calibri"/>
              <a:sym typeface="Calibri"/>
            </a:endParaRPr>
          </a:p>
        </p:txBody>
      </p:sp>
      <p:sp>
        <p:nvSpPr>
          <p:cNvPr id="29" name="Google Shape;29;p4"/>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mbria"/>
              <a:buNone/>
            </a:pPr>
            <a:r>
              <a:rPr b="1" i="0" lang="en-US" sz="2800" u="none" cap="none" strike="noStrike">
                <a:solidFill>
                  <a:srgbClr val="0F172A"/>
                </a:solidFill>
                <a:latin typeface="Cambria"/>
                <a:ea typeface="Cambria"/>
                <a:cs typeface="Cambria"/>
                <a:sym typeface="Cambria"/>
              </a:rPr>
              <a:t>One operator, two full-time jobs</a:t>
            </a:r>
            <a:endParaRPr b="0" i="0" sz="2800" u="none" cap="none" strike="noStrike">
              <a:solidFill>
                <a:schemeClr val="dk1"/>
              </a:solidFill>
              <a:latin typeface="Calibri"/>
              <a:ea typeface="Calibri"/>
              <a:cs typeface="Calibri"/>
              <a:sym typeface="Calibri"/>
            </a:endParaRPr>
          </a:p>
        </p:txBody>
      </p:sp>
      <p:sp>
        <p:nvSpPr>
          <p:cNvPr id="30" name="Google Shape;30;p4"/>
          <p:cNvSpPr/>
          <p:nvPr/>
        </p:nvSpPr>
        <p:spPr>
          <a:xfrm>
            <a:off x="548640" y="1371600"/>
            <a:ext cx="1106424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4748B"/>
              </a:buClr>
              <a:buSzPts val="1500"/>
              <a:buFont typeface="Calibri"/>
              <a:buNone/>
            </a:pPr>
            <a:r>
              <a:rPr b="0" i="0" lang="en-US" sz="1500" u="none" cap="none" strike="noStrike">
                <a:solidFill>
                  <a:srgbClr val="64748B"/>
                </a:solidFill>
                <a:latin typeface="Calibri"/>
                <a:ea typeface="Calibri"/>
                <a:cs typeface="Calibri"/>
                <a:sym typeface="Calibri"/>
              </a:rPr>
              <a:t>Generating leads and working leads are each a full-time job, and a solo operation has one person for both. Manual outbound research does not scale, and inbound cannot wait, so one stream always gets neglected.</a:t>
            </a:r>
            <a:endParaRPr b="0" i="0" sz="1500" u="none" cap="none" strike="noStrike">
              <a:solidFill>
                <a:schemeClr val="dk1"/>
              </a:solidFill>
              <a:latin typeface="Calibri"/>
              <a:ea typeface="Calibri"/>
              <a:cs typeface="Calibri"/>
              <a:sym typeface="Calibri"/>
            </a:endParaRPr>
          </a:p>
        </p:txBody>
      </p:sp>
      <p:sp>
        <p:nvSpPr>
          <p:cNvPr id="31" name="Google Shape;31;p4"/>
          <p:cNvSpPr/>
          <p:nvPr/>
        </p:nvSpPr>
        <p:spPr>
          <a:xfrm>
            <a:off x="548640" y="2286000"/>
            <a:ext cx="3520440" cy="1737360"/>
          </a:xfrm>
          <a:prstGeom prst="roundRect">
            <a:avLst>
              <a:gd fmla="val 368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77240" y="2487168"/>
            <a:ext cx="640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2600"/>
              <a:buFont typeface="Cambria"/>
              <a:buNone/>
            </a:pPr>
            <a:r>
              <a:rPr b="1" i="0" lang="en-US" sz="2600" u="none" cap="none" strike="noStrike">
                <a:solidFill>
                  <a:srgbClr val="E1A140"/>
                </a:solidFill>
                <a:latin typeface="Cambria"/>
                <a:ea typeface="Cambria"/>
                <a:cs typeface="Cambria"/>
                <a:sym typeface="Cambria"/>
              </a:rPr>
              <a:t>1</a:t>
            </a:r>
            <a:endParaRPr b="0" i="0" sz="2600" u="none" cap="none" strike="noStrike">
              <a:solidFill>
                <a:schemeClr val="dk1"/>
              </a:solidFill>
              <a:latin typeface="Calibri"/>
              <a:ea typeface="Calibri"/>
              <a:cs typeface="Calibri"/>
              <a:sym typeface="Calibri"/>
            </a:endParaRPr>
          </a:p>
        </p:txBody>
      </p:sp>
      <p:sp>
        <p:nvSpPr>
          <p:cNvPr id="33" name="Google Shape;33;p4"/>
          <p:cNvSpPr/>
          <p:nvPr/>
        </p:nvSpPr>
        <p:spPr>
          <a:xfrm>
            <a:off x="777240" y="2999232"/>
            <a:ext cx="3063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Outbound is slow</a:t>
            </a:r>
            <a:endParaRPr b="0" i="0" sz="1500" u="none" cap="none" strike="noStrike">
              <a:solidFill>
                <a:schemeClr val="dk1"/>
              </a:solidFill>
              <a:latin typeface="Calibri"/>
              <a:ea typeface="Calibri"/>
              <a:cs typeface="Calibri"/>
              <a:sym typeface="Calibri"/>
            </a:endParaRPr>
          </a:p>
        </p:txBody>
      </p:sp>
      <p:sp>
        <p:nvSpPr>
          <p:cNvPr id="34" name="Google Shape;34;p4"/>
          <p:cNvSpPr/>
          <p:nvPr/>
        </p:nvSpPr>
        <p:spPr>
          <a:xfrm>
            <a:off x="777240" y="3337560"/>
            <a:ext cx="306324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Hours of company research per account before a single message goes out.</a:t>
            </a:r>
            <a:endParaRPr b="0" i="0" sz="1200" u="none" cap="none" strike="noStrike">
              <a:solidFill>
                <a:schemeClr val="dk1"/>
              </a:solidFill>
              <a:latin typeface="Calibri"/>
              <a:ea typeface="Calibri"/>
              <a:cs typeface="Calibri"/>
              <a:sym typeface="Calibri"/>
            </a:endParaRPr>
          </a:p>
        </p:txBody>
      </p:sp>
      <p:sp>
        <p:nvSpPr>
          <p:cNvPr id="35" name="Google Shape;35;p4"/>
          <p:cNvSpPr/>
          <p:nvPr/>
        </p:nvSpPr>
        <p:spPr>
          <a:xfrm>
            <a:off x="4389120" y="2286000"/>
            <a:ext cx="3520440" cy="1737360"/>
          </a:xfrm>
          <a:prstGeom prst="roundRect">
            <a:avLst>
              <a:gd fmla="val 368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4617720" y="2487168"/>
            <a:ext cx="640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2600"/>
              <a:buFont typeface="Cambria"/>
              <a:buNone/>
            </a:pPr>
            <a:r>
              <a:rPr b="1" i="0" lang="en-US" sz="2600" u="none" cap="none" strike="noStrike">
                <a:solidFill>
                  <a:srgbClr val="E1A140"/>
                </a:solidFill>
                <a:latin typeface="Cambria"/>
                <a:ea typeface="Cambria"/>
                <a:cs typeface="Cambria"/>
                <a:sym typeface="Cambria"/>
              </a:rPr>
              <a:t>2</a:t>
            </a:r>
            <a:endParaRPr b="0" i="0" sz="2600" u="none" cap="none" strike="noStrike">
              <a:solidFill>
                <a:schemeClr val="dk1"/>
              </a:solidFill>
              <a:latin typeface="Calibri"/>
              <a:ea typeface="Calibri"/>
              <a:cs typeface="Calibri"/>
              <a:sym typeface="Calibri"/>
            </a:endParaRPr>
          </a:p>
        </p:txBody>
      </p:sp>
      <p:sp>
        <p:nvSpPr>
          <p:cNvPr id="37" name="Google Shape;37;p4"/>
          <p:cNvSpPr/>
          <p:nvPr/>
        </p:nvSpPr>
        <p:spPr>
          <a:xfrm>
            <a:off x="4617720" y="2999232"/>
            <a:ext cx="3063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Inbound cannot wait</a:t>
            </a:r>
            <a:endParaRPr b="0" i="0" sz="1500" u="none" cap="none" strike="noStrike">
              <a:solidFill>
                <a:schemeClr val="dk1"/>
              </a:solidFill>
              <a:latin typeface="Calibri"/>
              <a:ea typeface="Calibri"/>
              <a:cs typeface="Calibri"/>
              <a:sym typeface="Calibri"/>
            </a:endParaRPr>
          </a:p>
        </p:txBody>
      </p:sp>
      <p:sp>
        <p:nvSpPr>
          <p:cNvPr id="38" name="Google Shape;38;p4"/>
          <p:cNvSpPr/>
          <p:nvPr/>
        </p:nvSpPr>
        <p:spPr>
          <a:xfrm>
            <a:off x="4617720" y="3337560"/>
            <a:ext cx="306324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A generic contact box yields cold, delayed first replies and lost interest.</a:t>
            </a:r>
            <a:endParaRPr b="0" i="0" sz="1200" u="none" cap="none" strike="noStrike">
              <a:solidFill>
                <a:schemeClr val="dk1"/>
              </a:solidFill>
              <a:latin typeface="Calibri"/>
              <a:ea typeface="Calibri"/>
              <a:cs typeface="Calibri"/>
              <a:sym typeface="Calibri"/>
            </a:endParaRPr>
          </a:p>
        </p:txBody>
      </p:sp>
      <p:sp>
        <p:nvSpPr>
          <p:cNvPr id="39" name="Google Shape;39;p4"/>
          <p:cNvSpPr/>
          <p:nvPr/>
        </p:nvSpPr>
        <p:spPr>
          <a:xfrm>
            <a:off x="8229600" y="2286000"/>
            <a:ext cx="3520440" cy="1737360"/>
          </a:xfrm>
          <a:prstGeom prst="roundRect">
            <a:avLst>
              <a:gd fmla="val 368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8458200" y="2487168"/>
            <a:ext cx="640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2600"/>
              <a:buFont typeface="Cambria"/>
              <a:buNone/>
            </a:pPr>
            <a:r>
              <a:rPr b="1" i="0" lang="en-US" sz="2600" u="none" cap="none" strike="noStrike">
                <a:solidFill>
                  <a:srgbClr val="E1A140"/>
                </a:solidFill>
                <a:latin typeface="Cambria"/>
                <a:ea typeface="Cambria"/>
                <a:cs typeface="Cambria"/>
                <a:sym typeface="Cambria"/>
              </a:rPr>
              <a:t>3</a:t>
            </a:r>
            <a:endParaRPr b="0" i="0" sz="2600" u="none" cap="none" strike="noStrike">
              <a:solidFill>
                <a:schemeClr val="dk1"/>
              </a:solidFill>
              <a:latin typeface="Calibri"/>
              <a:ea typeface="Calibri"/>
              <a:cs typeface="Calibri"/>
              <a:sym typeface="Calibri"/>
            </a:endParaRPr>
          </a:p>
        </p:txBody>
      </p:sp>
      <p:sp>
        <p:nvSpPr>
          <p:cNvPr id="41" name="Google Shape;41;p4"/>
          <p:cNvSpPr/>
          <p:nvPr/>
        </p:nvSpPr>
        <p:spPr>
          <a:xfrm>
            <a:off x="8458200" y="2999232"/>
            <a:ext cx="3063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Context switching</a:t>
            </a:r>
            <a:endParaRPr b="0" i="0" sz="1500" u="none" cap="none" strike="noStrike">
              <a:solidFill>
                <a:schemeClr val="dk1"/>
              </a:solidFill>
              <a:latin typeface="Calibri"/>
              <a:ea typeface="Calibri"/>
              <a:cs typeface="Calibri"/>
              <a:sym typeface="Calibri"/>
            </a:endParaRPr>
          </a:p>
        </p:txBody>
      </p:sp>
      <p:sp>
        <p:nvSpPr>
          <p:cNvPr id="42" name="Google Shape;42;p4"/>
          <p:cNvSpPr/>
          <p:nvPr/>
        </p:nvSpPr>
        <p:spPr>
          <a:xfrm>
            <a:off x="8458200" y="3337560"/>
            <a:ext cx="306324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Two streams, one person, and only so many hours in a day.</a:t>
            </a:r>
            <a:endParaRPr b="0" i="0" sz="1200" u="none" cap="none" strike="noStrike">
              <a:solidFill>
                <a:schemeClr val="dk1"/>
              </a:solidFill>
              <a:latin typeface="Calibri"/>
              <a:ea typeface="Calibri"/>
              <a:cs typeface="Calibri"/>
              <a:sym typeface="Calibri"/>
            </a:endParaRPr>
          </a:p>
        </p:txBody>
      </p:sp>
      <p:sp>
        <p:nvSpPr>
          <p:cNvPr id="43" name="Google Shape;43;p4"/>
          <p:cNvSpPr/>
          <p:nvPr/>
        </p:nvSpPr>
        <p:spPr>
          <a:xfrm>
            <a:off x="548640" y="4343400"/>
            <a:ext cx="11064240" cy="1417320"/>
          </a:xfrm>
          <a:prstGeom prst="roundRect">
            <a:avLst>
              <a:gd fmla="val 4516"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914400" y="4526280"/>
            <a:ext cx="10332720" cy="10515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A140"/>
              </a:buClr>
              <a:buSzPts val="1600"/>
              <a:buFont typeface="Calibri"/>
              <a:buNone/>
            </a:pPr>
            <a:r>
              <a:rPr b="1" i="0" lang="en-US" sz="1600" u="none" cap="none" strike="noStrike">
                <a:solidFill>
                  <a:srgbClr val="E1A140"/>
                </a:solidFill>
                <a:latin typeface="Calibri"/>
                <a:ea typeface="Calibri"/>
                <a:cs typeface="Calibri"/>
                <a:sym typeface="Calibri"/>
              </a:rPr>
              <a:t>The fix.  </a:t>
            </a:r>
            <a:r>
              <a:rPr b="0" i="0" lang="en-US" sz="1600" u="none" cap="none" strike="noStrike">
                <a:solidFill>
                  <a:srgbClr val="E2E8F0"/>
                </a:solidFill>
                <a:latin typeface="Calibri"/>
                <a:ea typeface="Calibri"/>
                <a:cs typeface="Calibri"/>
                <a:sym typeface="Calibri"/>
              </a:rPr>
              <a:t>One console drives an AI crew across both lead streams. The crew does the research and qualification so the operator only shows up to close.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9" name="Shape 49"/>
        <p:cNvGrpSpPr/>
        <p:nvPr/>
      </p:nvGrpSpPr>
      <p:grpSpPr>
        <a:xfrm>
          <a:off x="0" y="0"/>
          <a:ext cx="0" cy="0"/>
          <a:chOff x="0" y="0"/>
          <a:chExt cx="0" cy="0"/>
        </a:xfrm>
      </p:grpSpPr>
      <p:sp>
        <p:nvSpPr>
          <p:cNvPr id="50" name="Google Shape;50;p5"/>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SHAPE OF THE SOLUTION</a:t>
            </a:r>
            <a:endParaRPr b="0" i="0" sz="1200" u="none" cap="none" strike="noStrike">
              <a:solidFill>
                <a:schemeClr val="dk1"/>
              </a:solidFill>
              <a:latin typeface="Calibri"/>
              <a:ea typeface="Calibri"/>
              <a:cs typeface="Calibri"/>
              <a:sym typeface="Calibri"/>
            </a:endParaRPr>
          </a:p>
        </p:txBody>
      </p:sp>
      <p:sp>
        <p:nvSpPr>
          <p:cNvPr id="51" name="Google Shape;51;p5"/>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mbria"/>
              <a:buNone/>
            </a:pPr>
            <a:r>
              <a:rPr b="1" i="0" lang="en-US" sz="2800" u="none" cap="none" strike="noStrike">
                <a:solidFill>
                  <a:srgbClr val="0F172A"/>
                </a:solidFill>
                <a:latin typeface="Cambria"/>
                <a:ea typeface="Cambria"/>
                <a:cs typeface="Cambria"/>
                <a:sym typeface="Cambria"/>
              </a:rPr>
              <a:t>Two lead streams, one crew, one console</a:t>
            </a:r>
            <a:endParaRPr b="0" i="0" sz="2800" u="none" cap="none" strike="noStrike">
              <a:solidFill>
                <a:schemeClr val="dk1"/>
              </a:solidFill>
              <a:latin typeface="Calibri"/>
              <a:ea typeface="Calibri"/>
              <a:cs typeface="Calibri"/>
              <a:sym typeface="Calibri"/>
            </a:endParaRPr>
          </a:p>
        </p:txBody>
      </p:sp>
      <p:sp>
        <p:nvSpPr>
          <p:cNvPr id="52" name="Google Shape;52;p5"/>
          <p:cNvSpPr/>
          <p:nvPr/>
        </p:nvSpPr>
        <p:spPr>
          <a:xfrm>
            <a:off x="548640" y="1600200"/>
            <a:ext cx="3520440" cy="2743200"/>
          </a:xfrm>
          <a:prstGeom prst="roundRect">
            <a:avLst>
              <a:gd fmla="val 2333"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822960" y="1892808"/>
            <a:ext cx="502920" cy="502920"/>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822960" y="189280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1</a:t>
            </a:r>
            <a:endParaRPr b="0" i="0" sz="2000" u="none" cap="none" strike="noStrike">
              <a:solidFill>
                <a:schemeClr val="dk1"/>
              </a:solidFill>
              <a:latin typeface="Calibri"/>
              <a:ea typeface="Calibri"/>
              <a:cs typeface="Calibri"/>
              <a:sym typeface="Calibri"/>
            </a:endParaRPr>
          </a:p>
        </p:txBody>
      </p:sp>
      <p:sp>
        <p:nvSpPr>
          <p:cNvPr id="55" name="Google Shape;55;p5"/>
          <p:cNvSpPr/>
          <p:nvPr/>
        </p:nvSpPr>
        <p:spPr>
          <a:xfrm>
            <a:off x="1463040" y="1920240"/>
            <a:ext cx="2423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2000"/>
              <a:buFont typeface="Cambria"/>
              <a:buNone/>
            </a:pPr>
            <a:r>
              <a:rPr b="1" i="0" lang="en-US" sz="2000" u="none" cap="none" strike="noStrike">
                <a:solidFill>
                  <a:srgbClr val="2E5E8C"/>
                </a:solidFill>
                <a:latin typeface="Cambria"/>
                <a:ea typeface="Cambria"/>
                <a:cs typeface="Cambria"/>
                <a:sym typeface="Cambria"/>
              </a:rPr>
              <a:t>Inbound</a:t>
            </a:r>
            <a:endParaRPr b="0" i="0" sz="2000" u="none" cap="none" strike="noStrike">
              <a:solidFill>
                <a:schemeClr val="dk1"/>
              </a:solidFill>
              <a:latin typeface="Calibri"/>
              <a:ea typeface="Calibri"/>
              <a:cs typeface="Calibri"/>
              <a:sym typeface="Calibri"/>
            </a:endParaRPr>
          </a:p>
        </p:txBody>
      </p:sp>
      <p:sp>
        <p:nvSpPr>
          <p:cNvPr id="56" name="Google Shape;56;p5"/>
          <p:cNvSpPr/>
          <p:nvPr/>
        </p:nvSpPr>
        <p:spPr>
          <a:xfrm>
            <a:off x="841248" y="2651760"/>
            <a:ext cx="2935224" cy="14630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1350"/>
              <a:buFont typeface="Calibri"/>
              <a:buNone/>
            </a:pPr>
            <a:r>
              <a:rPr b="0" i="0" lang="en-US" sz="1350" u="none" cap="none" strike="noStrike">
                <a:solidFill>
                  <a:srgbClr val="0F172A"/>
                </a:solidFill>
                <a:latin typeface="Calibri"/>
                <a:ea typeface="Calibri"/>
                <a:cs typeface="Calibri"/>
                <a:sym typeface="Calibri"/>
              </a:rPr>
              <a:t>A consultation funnel on the AltoLumo site captures visitors who raise a hand, one tappable question at a time.</a:t>
            </a:r>
            <a:endParaRPr b="0" i="0" sz="1350" u="none" cap="none" strike="noStrike">
              <a:solidFill>
                <a:schemeClr val="dk1"/>
              </a:solidFill>
              <a:latin typeface="Calibri"/>
              <a:ea typeface="Calibri"/>
              <a:cs typeface="Calibri"/>
              <a:sym typeface="Calibri"/>
            </a:endParaRPr>
          </a:p>
        </p:txBody>
      </p:sp>
      <p:sp>
        <p:nvSpPr>
          <p:cNvPr id="57" name="Google Shape;57;p5"/>
          <p:cNvSpPr/>
          <p:nvPr/>
        </p:nvSpPr>
        <p:spPr>
          <a:xfrm>
            <a:off x="4389120" y="1600200"/>
            <a:ext cx="3520440" cy="2743200"/>
          </a:xfrm>
          <a:prstGeom prst="roundRect">
            <a:avLst>
              <a:gd fmla="val 2333" name="adj"/>
            </a:avLst>
          </a:prstGeom>
          <a:solidFill>
            <a:srgbClr val="F7EBD5"/>
          </a:solidFill>
          <a:ln cap="flat" cmpd="sng" w="12700">
            <a:solidFill>
              <a:srgbClr val="F7EBD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4663440" y="1892808"/>
            <a:ext cx="502920" cy="502920"/>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4663440" y="189280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2</a:t>
            </a:r>
            <a:endParaRPr b="0" i="0" sz="2000" u="none" cap="none" strike="noStrike">
              <a:solidFill>
                <a:schemeClr val="dk1"/>
              </a:solidFill>
              <a:latin typeface="Calibri"/>
              <a:ea typeface="Calibri"/>
              <a:cs typeface="Calibri"/>
              <a:sym typeface="Calibri"/>
            </a:endParaRPr>
          </a:p>
        </p:txBody>
      </p:sp>
      <p:sp>
        <p:nvSpPr>
          <p:cNvPr id="60" name="Google Shape;60;p5"/>
          <p:cNvSpPr/>
          <p:nvPr/>
        </p:nvSpPr>
        <p:spPr>
          <a:xfrm>
            <a:off x="5303520" y="1920240"/>
            <a:ext cx="2423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2000"/>
              <a:buFont typeface="Cambria"/>
              <a:buNone/>
            </a:pPr>
            <a:r>
              <a:rPr b="1" i="0" lang="en-US" sz="2000" u="none" cap="none" strike="noStrike">
                <a:solidFill>
                  <a:srgbClr val="E1A140"/>
                </a:solidFill>
                <a:latin typeface="Cambria"/>
                <a:ea typeface="Cambria"/>
                <a:cs typeface="Cambria"/>
                <a:sym typeface="Cambria"/>
              </a:rPr>
              <a:t>Outbound</a:t>
            </a:r>
            <a:endParaRPr b="0" i="0" sz="2000" u="none" cap="none" strike="noStrike">
              <a:solidFill>
                <a:schemeClr val="dk1"/>
              </a:solidFill>
              <a:latin typeface="Calibri"/>
              <a:ea typeface="Calibri"/>
              <a:cs typeface="Calibri"/>
              <a:sym typeface="Calibri"/>
            </a:endParaRPr>
          </a:p>
        </p:txBody>
      </p:sp>
      <p:sp>
        <p:nvSpPr>
          <p:cNvPr id="61" name="Google Shape;61;p5"/>
          <p:cNvSpPr/>
          <p:nvPr/>
        </p:nvSpPr>
        <p:spPr>
          <a:xfrm>
            <a:off x="4681728" y="2651760"/>
            <a:ext cx="2935224" cy="14630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1350"/>
              <a:buFont typeface="Calibri"/>
              <a:buNone/>
            </a:pPr>
            <a:r>
              <a:rPr b="0" i="0" lang="en-US" sz="1350" u="none" cap="none" strike="noStrike">
                <a:solidFill>
                  <a:srgbClr val="0F172A"/>
                </a:solidFill>
                <a:latin typeface="Calibri"/>
                <a:ea typeface="Calibri"/>
                <a:cs typeface="Calibri"/>
                <a:sym typeface="Calibri"/>
              </a:rPr>
              <a:t>The crew sources and qualifies target companies you point it at, returning a scored, contact-mapped prospect.</a:t>
            </a:r>
            <a:endParaRPr b="0" i="0" sz="1350" u="none" cap="none" strike="noStrike">
              <a:solidFill>
                <a:schemeClr val="dk1"/>
              </a:solidFill>
              <a:latin typeface="Calibri"/>
              <a:ea typeface="Calibri"/>
              <a:cs typeface="Calibri"/>
              <a:sym typeface="Calibri"/>
            </a:endParaRPr>
          </a:p>
        </p:txBody>
      </p:sp>
      <p:sp>
        <p:nvSpPr>
          <p:cNvPr id="62" name="Google Shape;62;p5"/>
          <p:cNvSpPr/>
          <p:nvPr/>
        </p:nvSpPr>
        <p:spPr>
          <a:xfrm>
            <a:off x="8229600" y="1600200"/>
            <a:ext cx="3520440" cy="2743200"/>
          </a:xfrm>
          <a:prstGeom prst="roundRect">
            <a:avLst>
              <a:gd fmla="val 2333" name="adj"/>
            </a:avLst>
          </a:prstGeom>
          <a:solidFill>
            <a:srgbClr val="DEEDE6"/>
          </a:solidFill>
          <a:ln cap="flat" cmpd="sng" w="12700">
            <a:solidFill>
              <a:srgbClr val="DEEDE6"/>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8503920" y="1892808"/>
            <a:ext cx="502920" cy="502920"/>
          </a:xfrm>
          <a:prstGeom prst="ellipse">
            <a:avLst/>
          </a:prstGeom>
          <a:solidFill>
            <a:srgbClr val="3F8F6B"/>
          </a:solidFill>
          <a:ln cap="flat" cmpd="sng" w="127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8503920" y="189280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3</a:t>
            </a:r>
            <a:endParaRPr b="0" i="0" sz="2000" u="none" cap="none" strike="noStrike">
              <a:solidFill>
                <a:schemeClr val="dk1"/>
              </a:solidFill>
              <a:latin typeface="Calibri"/>
              <a:ea typeface="Calibri"/>
              <a:cs typeface="Calibri"/>
              <a:sym typeface="Calibri"/>
            </a:endParaRPr>
          </a:p>
        </p:txBody>
      </p:sp>
      <p:sp>
        <p:nvSpPr>
          <p:cNvPr id="65" name="Google Shape;65;p5"/>
          <p:cNvSpPr/>
          <p:nvPr/>
        </p:nvSpPr>
        <p:spPr>
          <a:xfrm>
            <a:off x="9144000" y="1920240"/>
            <a:ext cx="2423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8F6B"/>
              </a:buClr>
              <a:buSzPts val="2000"/>
              <a:buFont typeface="Cambria"/>
              <a:buNone/>
            </a:pPr>
            <a:r>
              <a:rPr b="1" i="0" lang="en-US" sz="2000" u="none" cap="none" strike="noStrike">
                <a:solidFill>
                  <a:srgbClr val="3F8F6B"/>
                </a:solidFill>
                <a:latin typeface="Cambria"/>
                <a:ea typeface="Cambria"/>
                <a:cs typeface="Cambria"/>
                <a:sym typeface="Cambria"/>
              </a:rPr>
              <a:t>One pipeline</a:t>
            </a:r>
            <a:endParaRPr b="0" i="0" sz="2000" u="none" cap="none" strike="noStrike">
              <a:solidFill>
                <a:schemeClr val="dk1"/>
              </a:solidFill>
              <a:latin typeface="Calibri"/>
              <a:ea typeface="Calibri"/>
              <a:cs typeface="Calibri"/>
              <a:sym typeface="Calibri"/>
            </a:endParaRPr>
          </a:p>
        </p:txBody>
      </p:sp>
      <p:sp>
        <p:nvSpPr>
          <p:cNvPr id="66" name="Google Shape;66;p5"/>
          <p:cNvSpPr/>
          <p:nvPr/>
        </p:nvSpPr>
        <p:spPr>
          <a:xfrm>
            <a:off x="8522208" y="2651760"/>
            <a:ext cx="2935224" cy="14630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1350"/>
              <a:buFont typeface="Calibri"/>
              <a:buNone/>
            </a:pPr>
            <a:r>
              <a:rPr b="0" i="0" lang="en-US" sz="1350" u="none" cap="none" strike="noStrike">
                <a:solidFill>
                  <a:srgbClr val="0F172A"/>
                </a:solidFill>
                <a:latin typeface="Calibri"/>
                <a:ea typeface="Calibri"/>
                <a:cs typeface="Calibri"/>
                <a:sym typeface="Calibri"/>
              </a:rPr>
              <a:t>Both streams land in Supabase, where the crew researches, qualifies, scores, and drafts outreach for every lead.</a:t>
            </a:r>
            <a:endParaRPr b="0" i="0" sz="1350" u="none" cap="none" strike="noStrike">
              <a:solidFill>
                <a:schemeClr val="dk1"/>
              </a:solidFill>
              <a:latin typeface="Calibri"/>
              <a:ea typeface="Calibri"/>
              <a:cs typeface="Calibri"/>
              <a:sym typeface="Calibri"/>
            </a:endParaRPr>
          </a:p>
        </p:txBody>
      </p:sp>
      <p:sp>
        <p:nvSpPr>
          <p:cNvPr id="67" name="Google Shape;67;p5"/>
          <p:cNvSpPr/>
          <p:nvPr/>
        </p:nvSpPr>
        <p:spPr>
          <a:xfrm>
            <a:off x="548640" y="4709160"/>
            <a:ext cx="11064240" cy="82296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Inbound arrives through the funnel, outbound is sourced by the crew, and both are managed from a single console that shows the pipeline and launches every crew command.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2" name="Shape 72"/>
        <p:cNvGrpSpPr/>
        <p:nvPr/>
      </p:nvGrpSpPr>
      <p:grpSpPr>
        <a:xfrm>
          <a:off x="0" y="0"/>
          <a:ext cx="0" cy="0"/>
          <a:chOff x="0" y="0"/>
          <a:chExt cx="0" cy="0"/>
        </a:xfrm>
      </p:grpSpPr>
      <p:sp>
        <p:nvSpPr>
          <p:cNvPr id="73" name="Google Shape;73;p6"/>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SYSTEM ARCHITECTURE, HOW IT WORKS</a:t>
            </a:r>
            <a:endParaRPr b="0" i="0" sz="1200" u="none" cap="none" strike="noStrike">
              <a:solidFill>
                <a:schemeClr val="dk1"/>
              </a:solidFill>
              <a:latin typeface="Calibri"/>
              <a:ea typeface="Calibri"/>
              <a:cs typeface="Calibri"/>
              <a:sym typeface="Calibri"/>
            </a:endParaRPr>
          </a:p>
        </p:txBody>
      </p:sp>
      <p:sp>
        <p:nvSpPr>
          <p:cNvPr id="74" name="Google Shape;74;p6"/>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mbria"/>
              <a:buNone/>
            </a:pPr>
            <a:r>
              <a:rPr b="1" i="0" lang="en-US" sz="2800" u="none" cap="none" strike="noStrike">
                <a:solidFill>
                  <a:srgbClr val="0F172A"/>
                </a:solidFill>
                <a:latin typeface="Cambria"/>
                <a:ea typeface="Cambria"/>
                <a:cs typeface="Cambria"/>
                <a:sym typeface="Cambria"/>
              </a:rPr>
              <a:t>Four layers over one engine</a:t>
            </a:r>
            <a:endParaRPr b="0" i="0" sz="2800" u="none" cap="none" strike="noStrike">
              <a:solidFill>
                <a:schemeClr val="dk1"/>
              </a:solidFill>
              <a:latin typeface="Calibri"/>
              <a:ea typeface="Calibri"/>
              <a:cs typeface="Calibri"/>
              <a:sym typeface="Calibri"/>
            </a:endParaRPr>
          </a:p>
        </p:txBody>
      </p:sp>
      <p:sp>
        <p:nvSpPr>
          <p:cNvPr id="75" name="Google Shape;75;p6"/>
          <p:cNvSpPr/>
          <p:nvPr/>
        </p:nvSpPr>
        <p:spPr>
          <a:xfrm>
            <a:off x="548640" y="1737360"/>
            <a:ext cx="2514600" cy="960120"/>
          </a:xfrm>
          <a:prstGeom prst="roundRect">
            <a:avLst>
              <a:gd fmla="val 8571"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548640" y="1737360"/>
            <a:ext cx="2514600" cy="96012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2E5E8C"/>
              </a:buClr>
              <a:buSzPts val="1300"/>
              <a:buFont typeface="Calibri"/>
              <a:buNone/>
            </a:pPr>
            <a:r>
              <a:rPr b="1" i="0" lang="en-US" sz="1300" u="none" cap="none" strike="noStrike">
                <a:solidFill>
                  <a:srgbClr val="2E5E8C"/>
                </a:solidFill>
                <a:latin typeface="Calibri"/>
                <a:ea typeface="Calibri"/>
                <a:cs typeface="Calibri"/>
                <a:sym typeface="Calibri"/>
              </a:rPr>
              <a:t>Inbound funnel</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Next.js on Vercel, public</a:t>
            </a:r>
            <a:endParaRPr b="0" i="0" sz="1300" u="none" cap="none" strike="noStrike">
              <a:solidFill>
                <a:schemeClr val="dk1"/>
              </a:solidFill>
              <a:latin typeface="Calibri"/>
              <a:ea typeface="Calibri"/>
              <a:cs typeface="Calibri"/>
              <a:sym typeface="Calibri"/>
            </a:endParaRPr>
          </a:p>
        </p:txBody>
      </p:sp>
      <p:sp>
        <p:nvSpPr>
          <p:cNvPr id="77" name="Google Shape;77;p6"/>
          <p:cNvSpPr/>
          <p:nvPr/>
        </p:nvSpPr>
        <p:spPr>
          <a:xfrm>
            <a:off x="3337560" y="1737360"/>
            <a:ext cx="2514600" cy="960120"/>
          </a:xfrm>
          <a:prstGeom prst="roundRect">
            <a:avLst>
              <a:gd fmla="val 8571"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3337560" y="1737360"/>
            <a:ext cx="2514600" cy="96012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2E5E8C"/>
              </a:buClr>
              <a:buSzPts val="1300"/>
              <a:buFont typeface="Calibri"/>
              <a:buNone/>
            </a:pPr>
            <a:r>
              <a:rPr b="1" i="0" lang="en-US" sz="1300" u="none" cap="none" strike="noStrike">
                <a:solidFill>
                  <a:srgbClr val="2E5E8C"/>
                </a:solidFill>
                <a:latin typeface="Calibri"/>
                <a:ea typeface="Calibri"/>
                <a:cs typeface="Calibri"/>
                <a:sym typeface="Calibri"/>
              </a:rPr>
              <a:t>Operator console</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Next.js, local</a:t>
            </a:r>
            <a:endParaRPr b="0" i="0" sz="1300" u="none" cap="none" strike="noStrike">
              <a:solidFill>
                <a:schemeClr val="dk1"/>
              </a:solidFill>
              <a:latin typeface="Calibri"/>
              <a:ea typeface="Calibri"/>
              <a:cs typeface="Calibri"/>
              <a:sym typeface="Calibri"/>
            </a:endParaRPr>
          </a:p>
        </p:txBody>
      </p:sp>
      <p:sp>
        <p:nvSpPr>
          <p:cNvPr id="79" name="Google Shape;79;p6"/>
          <p:cNvSpPr/>
          <p:nvPr/>
        </p:nvSpPr>
        <p:spPr>
          <a:xfrm>
            <a:off x="6126480" y="1737360"/>
            <a:ext cx="2514600" cy="960120"/>
          </a:xfrm>
          <a:prstGeom prst="roundRect">
            <a:avLst>
              <a:gd fmla="val 8571" name="adj"/>
            </a:avLst>
          </a:prstGeom>
          <a:solidFill>
            <a:srgbClr val="EEF1F5"/>
          </a:solidFill>
          <a:ln cap="flat" cmpd="sng" w="12700">
            <a:solidFill>
              <a:srgbClr val="EEF1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6126480" y="1737360"/>
            <a:ext cx="2514600" cy="96012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Local launcher</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Node helper</a:t>
            </a:r>
            <a:endParaRPr b="0" i="0" sz="1300" u="none" cap="none" strike="noStrike">
              <a:solidFill>
                <a:schemeClr val="dk1"/>
              </a:solidFill>
              <a:latin typeface="Calibri"/>
              <a:ea typeface="Calibri"/>
              <a:cs typeface="Calibri"/>
              <a:sym typeface="Calibri"/>
            </a:endParaRPr>
          </a:p>
        </p:txBody>
      </p:sp>
      <p:sp>
        <p:nvSpPr>
          <p:cNvPr id="81" name="Google Shape;81;p6"/>
          <p:cNvSpPr/>
          <p:nvPr/>
        </p:nvSpPr>
        <p:spPr>
          <a:xfrm>
            <a:off x="8915400" y="1737360"/>
            <a:ext cx="2697480" cy="960120"/>
          </a:xfrm>
          <a:prstGeom prst="roundRect">
            <a:avLst>
              <a:gd fmla="val 8571" name="adj"/>
            </a:avLst>
          </a:prstGeom>
          <a:solidFill>
            <a:srgbClr val="F7EBD5"/>
          </a:solidFill>
          <a:ln cap="flat" cmpd="sng" w="12700">
            <a:solidFill>
              <a:srgbClr val="F7EBD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8915400" y="1737360"/>
            <a:ext cx="2697480" cy="96012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9A6A14"/>
              </a:buClr>
              <a:buSzPts val="1300"/>
              <a:buFont typeface="Calibri"/>
              <a:buNone/>
            </a:pPr>
            <a:r>
              <a:rPr b="1" i="0" lang="en-US" sz="1300" u="none" cap="none" strike="noStrike">
                <a:solidFill>
                  <a:srgbClr val="9A6A14"/>
                </a:solidFill>
                <a:latin typeface="Calibri"/>
                <a:ea typeface="Calibri"/>
                <a:cs typeface="Calibri"/>
                <a:sym typeface="Calibri"/>
              </a:rPr>
              <a:t>Claude Code crew</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The engine</a:t>
            </a:r>
            <a:endParaRPr b="0" i="0" sz="1300" u="none" cap="none" strike="noStrike">
              <a:solidFill>
                <a:schemeClr val="dk1"/>
              </a:solidFill>
              <a:latin typeface="Calibri"/>
              <a:ea typeface="Calibri"/>
              <a:cs typeface="Calibri"/>
              <a:sym typeface="Calibri"/>
            </a:endParaRPr>
          </a:p>
        </p:txBody>
      </p:sp>
      <p:sp>
        <p:nvSpPr>
          <p:cNvPr id="83" name="Google Shape;83;p6"/>
          <p:cNvSpPr/>
          <p:nvPr/>
        </p:nvSpPr>
        <p:spPr>
          <a:xfrm>
            <a:off x="3337560" y="3246120"/>
            <a:ext cx="5303520" cy="868680"/>
          </a:xfrm>
          <a:prstGeom prst="roundRect">
            <a:avLst>
              <a:gd fmla="val 9474" name="adj"/>
            </a:avLst>
          </a:prstGeom>
          <a:solidFill>
            <a:srgbClr val="DEEDE6"/>
          </a:solidFill>
          <a:ln cap="flat" cmpd="sng" w="12700">
            <a:solidFill>
              <a:srgbClr val="DEEDE6"/>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3337560" y="3246120"/>
            <a:ext cx="5303520" cy="86868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3F8F6B"/>
              </a:buClr>
              <a:buSzPts val="1300"/>
              <a:buFont typeface="Calibri"/>
              <a:buNone/>
            </a:pPr>
            <a:r>
              <a:rPr b="1" i="0" lang="en-US" sz="1300" u="none" cap="none" strike="noStrike">
                <a:solidFill>
                  <a:srgbClr val="3F8F6B"/>
                </a:solidFill>
                <a:latin typeface="Calibri"/>
                <a:ea typeface="Calibri"/>
                <a:cs typeface="Calibri"/>
                <a:sym typeface="Calibri"/>
              </a:rPr>
              <a:t>Supabase</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Leads, targets, runs, artifacts   .   single source of truth</a:t>
            </a:r>
            <a:endParaRPr b="0" i="0" sz="1300" u="none" cap="none" strike="noStrike">
              <a:solidFill>
                <a:schemeClr val="dk1"/>
              </a:solidFill>
              <a:latin typeface="Calibri"/>
              <a:ea typeface="Calibri"/>
              <a:cs typeface="Calibri"/>
              <a:sym typeface="Calibri"/>
            </a:endParaRPr>
          </a:p>
        </p:txBody>
      </p:sp>
      <p:sp>
        <p:nvSpPr>
          <p:cNvPr id="85" name="Google Shape;85;p6"/>
          <p:cNvSpPr/>
          <p:nvPr/>
        </p:nvSpPr>
        <p:spPr>
          <a:xfrm>
            <a:off x="8915400" y="3063240"/>
            <a:ext cx="2697480" cy="1234440"/>
          </a:xfrm>
          <a:prstGeom prst="roundRect">
            <a:avLst>
              <a:gd fmla="val 6667" name="adj"/>
            </a:avLst>
          </a:prstGeom>
          <a:solidFill>
            <a:srgbClr val="F7EBD5"/>
          </a:solidFill>
          <a:ln cap="flat" cmpd="sng" w="12700">
            <a:solidFill>
              <a:srgbClr val="F7EBD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8915400" y="3063240"/>
            <a:ext cx="2697480" cy="123444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9A6A14"/>
              </a:buClr>
              <a:buSzPts val="1300"/>
              <a:buFont typeface="Calibri"/>
              <a:buNone/>
            </a:pPr>
            <a:r>
              <a:rPr b="1" i="0" lang="en-US" sz="1300" u="none" cap="none" strike="noStrike">
                <a:solidFill>
                  <a:srgbClr val="9A6A14"/>
                </a:solidFill>
                <a:latin typeface="Calibri"/>
                <a:ea typeface="Calibri"/>
                <a:cs typeface="Calibri"/>
                <a:sym typeface="Calibri"/>
              </a:rPr>
              <a:t>Orchestrator + crew</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13 sub-skills, 5 parallel agents, 4 scripts, 6 templates</a:t>
            </a:r>
            <a:endParaRPr b="0" i="0" sz="1300" u="none" cap="none" strike="noStrike">
              <a:solidFill>
                <a:schemeClr val="dk1"/>
              </a:solidFill>
              <a:latin typeface="Calibri"/>
              <a:ea typeface="Calibri"/>
              <a:cs typeface="Calibri"/>
              <a:sym typeface="Calibri"/>
            </a:endParaRPr>
          </a:p>
        </p:txBody>
      </p:sp>
      <p:cxnSp>
        <p:nvCxnSpPr>
          <p:cNvPr id="87" name="Google Shape;87;p6"/>
          <p:cNvCxnSpPr/>
          <p:nvPr/>
        </p:nvCxnSpPr>
        <p:spPr>
          <a:xfrm>
            <a:off x="1805940" y="2697480"/>
            <a:ext cx="2263140" cy="548640"/>
          </a:xfrm>
          <a:prstGeom prst="straightConnector1">
            <a:avLst/>
          </a:prstGeom>
          <a:noFill/>
          <a:ln cap="flat" cmpd="sng" w="28575">
            <a:solidFill>
              <a:srgbClr val="2E5E8C"/>
            </a:solidFill>
            <a:prstDash val="solid"/>
            <a:round/>
            <a:headEnd len="sm" w="sm" type="none"/>
            <a:tailEnd len="med" w="med" type="triangle"/>
          </a:ln>
        </p:spPr>
      </p:cxnSp>
      <p:cxnSp>
        <p:nvCxnSpPr>
          <p:cNvPr id="88" name="Google Shape;88;p6"/>
          <p:cNvCxnSpPr/>
          <p:nvPr/>
        </p:nvCxnSpPr>
        <p:spPr>
          <a:xfrm>
            <a:off x="4594860" y="2697480"/>
            <a:ext cx="1394460" cy="548640"/>
          </a:xfrm>
          <a:prstGeom prst="straightConnector1">
            <a:avLst/>
          </a:prstGeom>
          <a:noFill/>
          <a:ln cap="flat" cmpd="sng" w="28575">
            <a:solidFill>
              <a:srgbClr val="2E5E8C"/>
            </a:solidFill>
            <a:prstDash val="solid"/>
            <a:round/>
            <a:headEnd len="sm" w="sm" type="none"/>
            <a:tailEnd len="med" w="med" type="triangle"/>
          </a:ln>
        </p:spPr>
      </p:cxnSp>
      <p:cxnSp>
        <p:nvCxnSpPr>
          <p:cNvPr id="89" name="Google Shape;89;p6"/>
          <p:cNvCxnSpPr/>
          <p:nvPr/>
        </p:nvCxnSpPr>
        <p:spPr>
          <a:xfrm>
            <a:off x="7383780" y="2697480"/>
            <a:ext cx="2811780" cy="365760"/>
          </a:xfrm>
          <a:prstGeom prst="straightConnector1">
            <a:avLst/>
          </a:prstGeom>
          <a:noFill/>
          <a:ln cap="flat" cmpd="sng" w="28575">
            <a:solidFill>
              <a:srgbClr val="64748B"/>
            </a:solidFill>
            <a:prstDash val="solid"/>
            <a:round/>
            <a:headEnd len="sm" w="sm" type="none"/>
            <a:tailEnd len="med" w="med" type="triangle"/>
          </a:ln>
        </p:spPr>
      </p:cxnSp>
      <p:cxnSp>
        <p:nvCxnSpPr>
          <p:cNvPr id="90" name="Google Shape;90;p6"/>
          <p:cNvCxnSpPr/>
          <p:nvPr/>
        </p:nvCxnSpPr>
        <p:spPr>
          <a:xfrm>
            <a:off x="5852160" y="2217420"/>
            <a:ext cx="274320" cy="0"/>
          </a:xfrm>
          <a:prstGeom prst="straightConnector1">
            <a:avLst/>
          </a:prstGeom>
          <a:noFill/>
          <a:ln cap="flat" cmpd="sng" w="28575">
            <a:solidFill>
              <a:srgbClr val="64748B"/>
            </a:solidFill>
            <a:prstDash val="solid"/>
            <a:round/>
            <a:headEnd len="sm" w="sm" type="none"/>
            <a:tailEnd len="med" w="med" type="triangle"/>
          </a:ln>
        </p:spPr>
      </p:cxnSp>
      <p:cxnSp>
        <p:nvCxnSpPr>
          <p:cNvPr id="91" name="Google Shape;91;p6"/>
          <p:cNvCxnSpPr/>
          <p:nvPr/>
        </p:nvCxnSpPr>
        <p:spPr>
          <a:xfrm>
            <a:off x="8641080" y="3566160"/>
            <a:ext cx="274320" cy="114300"/>
          </a:xfrm>
          <a:prstGeom prst="straightConnector1">
            <a:avLst/>
          </a:prstGeom>
          <a:noFill/>
          <a:ln cap="flat" cmpd="sng" w="28575">
            <a:solidFill>
              <a:srgbClr val="3F8F6B"/>
            </a:solidFill>
            <a:prstDash val="solid"/>
            <a:round/>
            <a:headEnd len="sm" w="sm" type="none"/>
            <a:tailEnd len="med" w="med" type="triangle"/>
          </a:ln>
        </p:spPr>
      </p:cxnSp>
      <p:sp>
        <p:nvSpPr>
          <p:cNvPr id="92" name="Google Shape;92;p6"/>
          <p:cNvSpPr/>
          <p:nvPr/>
        </p:nvSpPr>
        <p:spPr>
          <a:xfrm>
            <a:off x="548640" y="4617720"/>
            <a:ext cx="11064240" cy="7315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64748B"/>
              </a:buClr>
              <a:buSzPts val="1350"/>
              <a:buFont typeface="Calibri"/>
              <a:buNone/>
            </a:pPr>
            <a:r>
              <a:rPr b="0" i="1" lang="en-US" sz="1350" u="none" cap="none" strike="noStrike">
                <a:solidFill>
                  <a:srgbClr val="64748B"/>
                </a:solidFill>
                <a:latin typeface="Calibri"/>
                <a:ea typeface="Calibri"/>
                <a:cs typeface="Calibri"/>
                <a:sym typeface="Calibri"/>
              </a:rPr>
              <a:t>The funnel and console read and write Supabase. The console calls the launcher, the launcher drives the crew, and the crew writes its scores and artifacts back to Supabase for the console to render.</a:t>
            </a:r>
            <a:endParaRPr b="0" i="0" sz="1350" u="none" cap="none" strike="noStrike">
              <a:solidFill>
                <a:schemeClr val="dk1"/>
              </a:solidFill>
              <a:latin typeface="Calibri"/>
              <a:ea typeface="Calibri"/>
              <a:cs typeface="Calibri"/>
              <a:sym typeface="Calibri"/>
            </a:endParaRPr>
          </a:p>
        </p:txBody>
      </p:sp>
      <p:sp>
        <p:nvSpPr>
          <p:cNvPr id="93" name="Google Shape;93;p6"/>
          <p:cNvSpPr/>
          <p:nvPr/>
        </p:nvSpPr>
        <p:spPr>
          <a:xfrm>
            <a:off x="3108960" y="5623560"/>
            <a:ext cx="201168" cy="201168"/>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3383280" y="5568696"/>
            <a:ext cx="2011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Inbound / structural</a:t>
            </a:r>
            <a:endParaRPr b="0" i="0" sz="1100" u="none" cap="none" strike="noStrike">
              <a:solidFill>
                <a:schemeClr val="dk1"/>
              </a:solidFill>
              <a:latin typeface="Calibri"/>
              <a:ea typeface="Calibri"/>
              <a:cs typeface="Calibri"/>
              <a:sym typeface="Calibri"/>
            </a:endParaRPr>
          </a:p>
        </p:txBody>
      </p:sp>
      <p:sp>
        <p:nvSpPr>
          <p:cNvPr id="95" name="Google Shape;95;p6"/>
          <p:cNvSpPr/>
          <p:nvPr/>
        </p:nvSpPr>
        <p:spPr>
          <a:xfrm>
            <a:off x="5394960" y="5623560"/>
            <a:ext cx="201168" cy="201168"/>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5669280" y="5568696"/>
            <a:ext cx="2011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Crew engine</a:t>
            </a:r>
            <a:endParaRPr b="0" i="0" sz="1100" u="none" cap="none" strike="noStrike">
              <a:solidFill>
                <a:schemeClr val="dk1"/>
              </a:solidFill>
              <a:latin typeface="Calibri"/>
              <a:ea typeface="Calibri"/>
              <a:cs typeface="Calibri"/>
              <a:sym typeface="Calibri"/>
            </a:endParaRPr>
          </a:p>
        </p:txBody>
      </p:sp>
      <p:sp>
        <p:nvSpPr>
          <p:cNvPr id="97" name="Google Shape;97;p6"/>
          <p:cNvSpPr/>
          <p:nvPr/>
        </p:nvSpPr>
        <p:spPr>
          <a:xfrm>
            <a:off x="7680960" y="5623560"/>
            <a:ext cx="201168" cy="201168"/>
          </a:xfrm>
          <a:prstGeom prst="ellipse">
            <a:avLst/>
          </a:prstGeom>
          <a:solidFill>
            <a:srgbClr val="3F8F6B"/>
          </a:solidFill>
          <a:ln cap="flat" cmpd="sng" w="127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7955280" y="5568696"/>
            <a:ext cx="2011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Source of truth</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3" name="Shape 103"/>
        <p:cNvGrpSpPr/>
        <p:nvPr/>
      </p:nvGrpSpPr>
      <p:grpSpPr>
        <a:xfrm>
          <a:off x="0" y="0"/>
          <a:ext cx="0" cy="0"/>
          <a:chOff x="0" y="0"/>
          <a:chExt cx="0" cy="0"/>
        </a:xfrm>
      </p:grpSpPr>
      <p:sp>
        <p:nvSpPr>
          <p:cNvPr id="104" name="Google Shape;104;p7"/>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STREAM ONE, INBOUND</a:t>
            </a:r>
            <a:endParaRPr b="0" i="0" sz="1200" u="none" cap="none" strike="noStrike">
              <a:solidFill>
                <a:schemeClr val="dk1"/>
              </a:solidFill>
              <a:latin typeface="Calibri"/>
              <a:ea typeface="Calibri"/>
              <a:cs typeface="Calibri"/>
              <a:sym typeface="Calibri"/>
            </a:endParaRPr>
          </a:p>
        </p:txBody>
      </p:sp>
      <p:sp>
        <p:nvSpPr>
          <p:cNvPr id="105" name="Google Shape;105;p7"/>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mbria"/>
              <a:buNone/>
            </a:pPr>
            <a:r>
              <a:rPr b="1" i="0" lang="en-US" sz="2800" u="none" cap="none" strike="noStrike">
                <a:solidFill>
                  <a:srgbClr val="0F172A"/>
                </a:solidFill>
                <a:latin typeface="Cambria"/>
                <a:ea typeface="Cambria"/>
                <a:cs typeface="Cambria"/>
                <a:sym typeface="Cambria"/>
              </a:rPr>
              <a:t>The consultation funnel, an elicitation flow</a:t>
            </a:r>
            <a:endParaRPr b="0" i="0" sz="2800" u="none" cap="none" strike="noStrike">
              <a:solidFill>
                <a:schemeClr val="dk1"/>
              </a:solidFill>
              <a:latin typeface="Calibri"/>
              <a:ea typeface="Calibri"/>
              <a:cs typeface="Calibri"/>
              <a:sym typeface="Calibri"/>
            </a:endParaRPr>
          </a:p>
        </p:txBody>
      </p:sp>
      <p:sp>
        <p:nvSpPr>
          <p:cNvPr id="106" name="Google Shape;106;p7"/>
          <p:cNvSpPr/>
          <p:nvPr/>
        </p:nvSpPr>
        <p:spPr>
          <a:xfrm>
            <a:off x="548640" y="1371600"/>
            <a:ext cx="11064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50"/>
              <a:buFont typeface="Calibri"/>
              <a:buNone/>
            </a:pPr>
            <a:r>
              <a:rPr b="0" i="0" lang="en-US" sz="1450" u="none" cap="none" strike="noStrike">
                <a:solidFill>
                  <a:srgbClr val="64748B"/>
                </a:solidFill>
                <a:latin typeface="Calibri"/>
                <a:ea typeface="Calibri"/>
                <a:cs typeface="Calibri"/>
                <a:sym typeface="Calibri"/>
              </a:rPr>
              <a:t>Built on the </a:t>
            </a:r>
            <a:r>
              <a:rPr b="1" i="0" lang="en-US" sz="1450" u="none" cap="none" strike="noStrike">
                <a:solidFill>
                  <a:srgbClr val="2E5E8C"/>
                </a:solidFill>
                <a:latin typeface="Calibri"/>
                <a:ea typeface="Calibri"/>
                <a:cs typeface="Calibri"/>
                <a:sym typeface="Calibri"/>
              </a:rPr>
              <a:t>elicitation-widget</a:t>
            </a:r>
            <a:r>
              <a:rPr b="0" i="0" lang="en-US" sz="1450" u="none" cap="none" strike="noStrike">
                <a:solidFill>
                  <a:srgbClr val="64748B"/>
                </a:solidFill>
                <a:latin typeface="Calibri"/>
                <a:ea typeface="Calibri"/>
                <a:cs typeface="Calibri"/>
                <a:sym typeface="Calibri"/>
              </a:rPr>
              <a:t>: five focused steps, one tappable question at a time, then a real Cal.com booking. Built for a phone.</a:t>
            </a:r>
            <a:endParaRPr b="0" i="0" sz="1450" u="none" cap="none" strike="noStrike">
              <a:solidFill>
                <a:schemeClr val="dk1"/>
              </a:solidFill>
              <a:latin typeface="Calibri"/>
              <a:ea typeface="Calibri"/>
              <a:cs typeface="Calibri"/>
              <a:sym typeface="Calibri"/>
            </a:endParaRPr>
          </a:p>
        </p:txBody>
      </p:sp>
      <p:sp>
        <p:nvSpPr>
          <p:cNvPr id="107" name="Google Shape;107;p7"/>
          <p:cNvSpPr/>
          <p:nvPr/>
        </p:nvSpPr>
        <p:spPr>
          <a:xfrm>
            <a:off x="548640" y="2148840"/>
            <a:ext cx="1691640" cy="868680"/>
          </a:xfrm>
          <a:prstGeom prst="roundRect">
            <a:avLst>
              <a:gd fmla="val 9474"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548640" y="2148840"/>
            <a:ext cx="1691640" cy="86868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2E5E8C"/>
              </a:buClr>
              <a:buSzPts val="1300"/>
              <a:buFont typeface="Calibri"/>
              <a:buNone/>
            </a:pPr>
            <a:r>
              <a:rPr b="1" i="0" lang="en-US" sz="1300" u="none" cap="none" strike="noStrike">
                <a:solidFill>
                  <a:srgbClr val="2E5E8C"/>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Company</a:t>
            </a:r>
            <a:endParaRPr b="0" i="0" sz="1300" u="none" cap="none" strike="noStrike">
              <a:solidFill>
                <a:schemeClr val="dk1"/>
              </a:solidFill>
              <a:latin typeface="Calibri"/>
              <a:ea typeface="Calibri"/>
              <a:cs typeface="Calibri"/>
              <a:sym typeface="Calibri"/>
            </a:endParaRPr>
          </a:p>
        </p:txBody>
      </p:sp>
      <p:cxnSp>
        <p:nvCxnSpPr>
          <p:cNvPr id="109" name="Google Shape;109;p7"/>
          <p:cNvCxnSpPr/>
          <p:nvPr/>
        </p:nvCxnSpPr>
        <p:spPr>
          <a:xfrm>
            <a:off x="2240280" y="2583180"/>
            <a:ext cx="256032" cy="0"/>
          </a:xfrm>
          <a:prstGeom prst="straightConnector1">
            <a:avLst/>
          </a:prstGeom>
          <a:noFill/>
          <a:ln cap="flat" cmpd="sng" w="28575">
            <a:solidFill>
              <a:srgbClr val="2E5E8C"/>
            </a:solidFill>
            <a:prstDash val="solid"/>
            <a:round/>
            <a:headEnd len="sm" w="sm" type="none"/>
            <a:tailEnd len="med" w="med" type="triangle"/>
          </a:ln>
        </p:spPr>
      </p:cxnSp>
      <p:sp>
        <p:nvSpPr>
          <p:cNvPr id="110" name="Google Shape;110;p7"/>
          <p:cNvSpPr/>
          <p:nvPr/>
        </p:nvSpPr>
        <p:spPr>
          <a:xfrm>
            <a:off x="2496312" y="2148840"/>
            <a:ext cx="1691640" cy="868680"/>
          </a:xfrm>
          <a:prstGeom prst="roundRect">
            <a:avLst>
              <a:gd fmla="val 9474"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2496312" y="2148840"/>
            <a:ext cx="1691640" cy="86868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2E5E8C"/>
              </a:buClr>
              <a:buSzPts val="1300"/>
              <a:buFont typeface="Calibri"/>
              <a:buNone/>
            </a:pPr>
            <a:r>
              <a:rPr b="1" i="0" lang="en-US" sz="1300" u="none" cap="none" strike="noStrike">
                <a:solidFill>
                  <a:srgbClr val="2E5E8C"/>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Challenge</a:t>
            </a:r>
            <a:endParaRPr b="0" i="0" sz="1300" u="none" cap="none" strike="noStrike">
              <a:solidFill>
                <a:schemeClr val="dk1"/>
              </a:solidFill>
              <a:latin typeface="Calibri"/>
              <a:ea typeface="Calibri"/>
              <a:cs typeface="Calibri"/>
              <a:sym typeface="Calibri"/>
            </a:endParaRPr>
          </a:p>
        </p:txBody>
      </p:sp>
      <p:cxnSp>
        <p:nvCxnSpPr>
          <p:cNvPr id="112" name="Google Shape;112;p7"/>
          <p:cNvCxnSpPr/>
          <p:nvPr/>
        </p:nvCxnSpPr>
        <p:spPr>
          <a:xfrm>
            <a:off x="4187952" y="2583180"/>
            <a:ext cx="256032" cy="0"/>
          </a:xfrm>
          <a:prstGeom prst="straightConnector1">
            <a:avLst/>
          </a:prstGeom>
          <a:noFill/>
          <a:ln cap="flat" cmpd="sng" w="28575">
            <a:solidFill>
              <a:srgbClr val="2E5E8C"/>
            </a:solidFill>
            <a:prstDash val="solid"/>
            <a:round/>
            <a:headEnd len="sm" w="sm" type="none"/>
            <a:tailEnd len="med" w="med" type="triangle"/>
          </a:ln>
        </p:spPr>
      </p:cxnSp>
      <p:sp>
        <p:nvSpPr>
          <p:cNvPr id="113" name="Google Shape;113;p7"/>
          <p:cNvSpPr/>
          <p:nvPr/>
        </p:nvSpPr>
        <p:spPr>
          <a:xfrm>
            <a:off x="4443984" y="2148840"/>
            <a:ext cx="1691640" cy="868680"/>
          </a:xfrm>
          <a:prstGeom prst="roundRect">
            <a:avLst>
              <a:gd fmla="val 9474"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4443984" y="2148840"/>
            <a:ext cx="1691640" cy="86868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2E5E8C"/>
              </a:buClr>
              <a:buSzPts val="1300"/>
              <a:buFont typeface="Calibri"/>
              <a:buNone/>
            </a:pPr>
            <a:r>
              <a:rPr b="1" i="0" lang="en-US" sz="1300" u="none" cap="none" strike="noStrike">
                <a:solidFill>
                  <a:srgbClr val="2E5E8C"/>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Timeline</a:t>
            </a:r>
            <a:endParaRPr b="0" i="0" sz="1300" u="none" cap="none" strike="noStrike">
              <a:solidFill>
                <a:schemeClr val="dk1"/>
              </a:solidFill>
              <a:latin typeface="Calibri"/>
              <a:ea typeface="Calibri"/>
              <a:cs typeface="Calibri"/>
              <a:sym typeface="Calibri"/>
            </a:endParaRPr>
          </a:p>
        </p:txBody>
      </p:sp>
      <p:cxnSp>
        <p:nvCxnSpPr>
          <p:cNvPr id="115" name="Google Shape;115;p7"/>
          <p:cNvCxnSpPr/>
          <p:nvPr/>
        </p:nvCxnSpPr>
        <p:spPr>
          <a:xfrm>
            <a:off x="6135624" y="2583180"/>
            <a:ext cx="256032" cy="0"/>
          </a:xfrm>
          <a:prstGeom prst="straightConnector1">
            <a:avLst/>
          </a:prstGeom>
          <a:noFill/>
          <a:ln cap="flat" cmpd="sng" w="28575">
            <a:solidFill>
              <a:srgbClr val="2E5E8C"/>
            </a:solidFill>
            <a:prstDash val="solid"/>
            <a:round/>
            <a:headEnd len="sm" w="sm" type="none"/>
            <a:tailEnd len="med" w="med" type="triangle"/>
          </a:ln>
        </p:spPr>
      </p:cxnSp>
      <p:sp>
        <p:nvSpPr>
          <p:cNvPr id="116" name="Google Shape;116;p7"/>
          <p:cNvSpPr/>
          <p:nvPr/>
        </p:nvSpPr>
        <p:spPr>
          <a:xfrm>
            <a:off x="6391656" y="2148840"/>
            <a:ext cx="1691640" cy="868680"/>
          </a:xfrm>
          <a:prstGeom prst="roundRect">
            <a:avLst>
              <a:gd fmla="val 9474"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6391656" y="2148840"/>
            <a:ext cx="1691640" cy="86868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2E5E8C"/>
              </a:buClr>
              <a:buSzPts val="1300"/>
              <a:buFont typeface="Calibri"/>
              <a:buNone/>
            </a:pPr>
            <a:r>
              <a:rPr b="1" i="0" lang="en-US" sz="1300" u="none" cap="none" strike="noStrike">
                <a:solidFill>
                  <a:srgbClr val="2E5E8C"/>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Budget</a:t>
            </a:r>
            <a:endParaRPr b="0" i="0" sz="1300" u="none" cap="none" strike="noStrike">
              <a:solidFill>
                <a:schemeClr val="dk1"/>
              </a:solidFill>
              <a:latin typeface="Calibri"/>
              <a:ea typeface="Calibri"/>
              <a:cs typeface="Calibri"/>
              <a:sym typeface="Calibri"/>
            </a:endParaRPr>
          </a:p>
        </p:txBody>
      </p:sp>
      <p:cxnSp>
        <p:nvCxnSpPr>
          <p:cNvPr id="118" name="Google Shape;118;p7"/>
          <p:cNvCxnSpPr/>
          <p:nvPr/>
        </p:nvCxnSpPr>
        <p:spPr>
          <a:xfrm>
            <a:off x="8083296" y="2583180"/>
            <a:ext cx="256032" cy="0"/>
          </a:xfrm>
          <a:prstGeom prst="straightConnector1">
            <a:avLst/>
          </a:prstGeom>
          <a:noFill/>
          <a:ln cap="flat" cmpd="sng" w="28575">
            <a:solidFill>
              <a:srgbClr val="2E5E8C"/>
            </a:solidFill>
            <a:prstDash val="solid"/>
            <a:round/>
            <a:headEnd len="sm" w="sm" type="none"/>
            <a:tailEnd len="med" w="med" type="triangle"/>
          </a:ln>
        </p:spPr>
      </p:cxnSp>
      <p:sp>
        <p:nvSpPr>
          <p:cNvPr id="119" name="Google Shape;119;p7"/>
          <p:cNvSpPr/>
          <p:nvPr/>
        </p:nvSpPr>
        <p:spPr>
          <a:xfrm>
            <a:off x="8339328" y="2148840"/>
            <a:ext cx="1691640" cy="868680"/>
          </a:xfrm>
          <a:prstGeom prst="roundRect">
            <a:avLst>
              <a:gd fmla="val 9474" name="adj"/>
            </a:avLst>
          </a:prstGeom>
          <a:solidFill>
            <a:srgbClr val="2E5E8C"/>
          </a:solidFill>
          <a:ln cap="flat" cmpd="sng" w="12700">
            <a:solidFill>
              <a:srgbClr val="2E5E8C"/>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8339328" y="2148840"/>
            <a:ext cx="1691640" cy="86868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Book</a:t>
            </a:r>
            <a:endParaRPr b="0" i="0" sz="1300" u="none" cap="none" strike="noStrike">
              <a:solidFill>
                <a:schemeClr val="dk1"/>
              </a:solidFill>
              <a:latin typeface="Calibri"/>
              <a:ea typeface="Calibri"/>
              <a:cs typeface="Calibri"/>
              <a:sym typeface="Calibri"/>
            </a:endParaRPr>
          </a:p>
        </p:txBody>
      </p:sp>
      <p:sp>
        <p:nvSpPr>
          <p:cNvPr id="121" name="Google Shape;121;p7"/>
          <p:cNvSpPr/>
          <p:nvPr/>
        </p:nvSpPr>
        <p:spPr>
          <a:xfrm>
            <a:off x="548640" y="3977640"/>
            <a:ext cx="2926080" cy="960120"/>
          </a:xfrm>
          <a:prstGeom prst="roundRect">
            <a:avLst>
              <a:gd fmla="val 8571" name="adj"/>
            </a:avLst>
          </a:prstGeom>
          <a:solidFill>
            <a:srgbClr val="DEEDE6"/>
          </a:solidFill>
          <a:ln cap="flat" cmpd="sng" w="12700">
            <a:solidFill>
              <a:srgbClr val="DEEDE6"/>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548640" y="3977640"/>
            <a:ext cx="2926080" cy="96012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3F8F6B"/>
              </a:buClr>
              <a:buSzPts val="1300"/>
              <a:buFont typeface="Calibri"/>
              <a:buNone/>
            </a:pPr>
            <a:r>
              <a:rPr b="1" i="0" lang="en-US" sz="1300" u="none" cap="none" strike="noStrike">
                <a:solidFill>
                  <a:srgbClr val="3F8F6B"/>
                </a:solidFill>
                <a:latin typeface="Calibri"/>
                <a:ea typeface="Calibri"/>
                <a:cs typeface="Calibri"/>
                <a:sym typeface="Calibri"/>
              </a:rPr>
              <a:t>Write lead</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One row to Supabase</a:t>
            </a:r>
            <a:endParaRPr b="0" i="0" sz="1300" u="none" cap="none" strike="noStrike">
              <a:solidFill>
                <a:schemeClr val="dk1"/>
              </a:solidFill>
              <a:latin typeface="Calibri"/>
              <a:ea typeface="Calibri"/>
              <a:cs typeface="Calibri"/>
              <a:sym typeface="Calibri"/>
            </a:endParaRPr>
          </a:p>
        </p:txBody>
      </p:sp>
      <p:cxnSp>
        <p:nvCxnSpPr>
          <p:cNvPr id="123" name="Google Shape;123;p7"/>
          <p:cNvCxnSpPr/>
          <p:nvPr/>
        </p:nvCxnSpPr>
        <p:spPr>
          <a:xfrm>
            <a:off x="2011680" y="3017520"/>
            <a:ext cx="7173468" cy="960120"/>
          </a:xfrm>
          <a:prstGeom prst="straightConnector1">
            <a:avLst/>
          </a:prstGeom>
          <a:noFill/>
          <a:ln cap="flat" cmpd="sng" w="28575">
            <a:solidFill>
              <a:srgbClr val="64748B"/>
            </a:solidFill>
            <a:prstDash val="solid"/>
            <a:round/>
            <a:headEnd len="sm" w="sm" type="none"/>
            <a:tailEnd len="med" w="med" type="triangle"/>
          </a:ln>
        </p:spPr>
      </p:cxnSp>
      <p:sp>
        <p:nvSpPr>
          <p:cNvPr id="124" name="Google Shape;124;p7"/>
          <p:cNvSpPr/>
          <p:nvPr/>
        </p:nvSpPr>
        <p:spPr>
          <a:xfrm>
            <a:off x="4617720" y="3977640"/>
            <a:ext cx="2926080" cy="960120"/>
          </a:xfrm>
          <a:prstGeom prst="roundRect">
            <a:avLst>
              <a:gd fmla="val 8571" name="adj"/>
            </a:avLst>
          </a:prstGeom>
          <a:solidFill>
            <a:srgbClr val="F7EBD5"/>
          </a:solidFill>
          <a:ln cap="flat" cmpd="sng" w="12700">
            <a:solidFill>
              <a:srgbClr val="F7EBD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4617720" y="3977640"/>
            <a:ext cx="2926080" cy="96012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9A6A14"/>
              </a:buClr>
              <a:buSzPts val="1300"/>
              <a:buFont typeface="Calibri"/>
              <a:buNone/>
            </a:pPr>
            <a:r>
              <a:rPr b="1" i="0" lang="en-US" sz="1300" u="none" cap="none" strike="noStrike">
                <a:solidFill>
                  <a:srgbClr val="9A6A14"/>
                </a:solidFill>
                <a:latin typeface="Calibri"/>
                <a:ea typeface="Calibri"/>
                <a:cs typeface="Calibri"/>
                <a:sym typeface="Calibri"/>
              </a:rPr>
              <a:t>Confirm + alert</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Resend to customer and operator</a:t>
            </a:r>
            <a:endParaRPr b="0" i="0" sz="1300" u="none" cap="none" strike="noStrike">
              <a:solidFill>
                <a:schemeClr val="dk1"/>
              </a:solidFill>
              <a:latin typeface="Calibri"/>
              <a:ea typeface="Calibri"/>
              <a:cs typeface="Calibri"/>
              <a:sym typeface="Calibri"/>
            </a:endParaRPr>
          </a:p>
        </p:txBody>
      </p:sp>
      <p:cxnSp>
        <p:nvCxnSpPr>
          <p:cNvPr id="126" name="Google Shape;126;p7"/>
          <p:cNvCxnSpPr/>
          <p:nvPr/>
        </p:nvCxnSpPr>
        <p:spPr>
          <a:xfrm>
            <a:off x="6080760" y="3017520"/>
            <a:ext cx="3104388" cy="960120"/>
          </a:xfrm>
          <a:prstGeom prst="straightConnector1">
            <a:avLst/>
          </a:prstGeom>
          <a:noFill/>
          <a:ln cap="flat" cmpd="sng" w="28575">
            <a:solidFill>
              <a:srgbClr val="64748B"/>
            </a:solidFill>
            <a:prstDash val="solid"/>
            <a:round/>
            <a:headEnd len="sm" w="sm" type="none"/>
            <a:tailEnd len="med" w="med" type="triangle"/>
          </a:ln>
        </p:spPr>
      </p:cxnSp>
      <p:sp>
        <p:nvSpPr>
          <p:cNvPr id="127" name="Google Shape;127;p7"/>
          <p:cNvSpPr/>
          <p:nvPr/>
        </p:nvSpPr>
        <p:spPr>
          <a:xfrm>
            <a:off x="8686800" y="3977640"/>
            <a:ext cx="2926080" cy="960120"/>
          </a:xfrm>
          <a:prstGeom prst="roundRect">
            <a:avLst>
              <a:gd fmla="val 8571"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8686800" y="3977640"/>
            <a:ext cx="2926080" cy="96012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2E5E8C"/>
              </a:buClr>
              <a:buSzPts val="1300"/>
              <a:buFont typeface="Calibri"/>
              <a:buNone/>
            </a:pPr>
            <a:r>
              <a:rPr b="1" i="0" lang="en-US" sz="1300" u="none" cap="none" strike="noStrike">
                <a:solidFill>
                  <a:srgbClr val="2E5E8C"/>
                </a:solidFill>
                <a:latin typeface="Calibri"/>
                <a:ea typeface="Calibri"/>
                <a:cs typeface="Calibri"/>
                <a:sym typeface="Calibri"/>
              </a:rPr>
              <a:t>Onto pipeline</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Appears on the console board</a:t>
            </a:r>
            <a:endParaRPr b="0" i="0" sz="1300" u="none" cap="none" strike="noStrike">
              <a:solidFill>
                <a:schemeClr val="dk1"/>
              </a:solidFill>
              <a:latin typeface="Calibri"/>
              <a:ea typeface="Calibri"/>
              <a:cs typeface="Calibri"/>
              <a:sym typeface="Calibri"/>
            </a:endParaRPr>
          </a:p>
        </p:txBody>
      </p:sp>
      <p:cxnSp>
        <p:nvCxnSpPr>
          <p:cNvPr id="129" name="Google Shape;129;p7"/>
          <p:cNvCxnSpPr/>
          <p:nvPr/>
        </p:nvCxnSpPr>
        <p:spPr>
          <a:xfrm>
            <a:off x="9185148" y="3017520"/>
            <a:ext cx="964692" cy="960120"/>
          </a:xfrm>
          <a:prstGeom prst="straightConnector1">
            <a:avLst/>
          </a:prstGeom>
          <a:noFill/>
          <a:ln cap="flat" cmpd="sng" w="28575">
            <a:solidFill>
              <a:srgbClr val="64748B"/>
            </a:solidFill>
            <a:prstDash val="solid"/>
            <a:round/>
            <a:headEnd len="sm" w="sm" type="none"/>
            <a:tailEnd len="med" w="med" type="triangle"/>
          </a:ln>
        </p:spPr>
      </p:cxnSp>
      <p:sp>
        <p:nvSpPr>
          <p:cNvPr id="130" name="Google Shape;130;p7"/>
          <p:cNvSpPr/>
          <p:nvPr/>
        </p:nvSpPr>
        <p:spPr>
          <a:xfrm>
            <a:off x="548640" y="5349240"/>
            <a:ext cx="11064240" cy="777240"/>
          </a:xfrm>
          <a:prstGeom prst="roundRect">
            <a:avLst>
              <a:gd fmla="val 8235"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914400" y="5440680"/>
            <a:ext cx="1033272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A140"/>
              </a:buClr>
              <a:buSzPts val="1350"/>
              <a:buFont typeface="Calibri"/>
              <a:buNone/>
            </a:pPr>
            <a:r>
              <a:rPr b="1" i="0" lang="en-US" sz="1350" u="none" cap="none" strike="noStrike">
                <a:solidFill>
                  <a:srgbClr val="E1A140"/>
                </a:solidFill>
                <a:latin typeface="Calibri"/>
                <a:ea typeface="Calibri"/>
                <a:cs typeface="Calibri"/>
                <a:sym typeface="Calibri"/>
              </a:rPr>
              <a:t>Under 3 minutes to a confirmed slot.  </a:t>
            </a:r>
            <a:r>
              <a:rPr b="0" i="0" lang="en-US" sz="1350" u="none" cap="none" strike="noStrike">
                <a:solidFill>
                  <a:srgbClr val="E2E8F0"/>
                </a:solidFill>
                <a:latin typeface="Calibri"/>
                <a:ea typeface="Calibri"/>
                <a:cs typeface="Calibri"/>
                <a:sym typeface="Calibri"/>
              </a:rPr>
              <a:t>The booking writes one lead, confirms the customer, alerts you, and drops the lead onto the same pipeline as your outbound prospects.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6" name="Shape 136"/>
        <p:cNvGrpSpPr/>
        <p:nvPr/>
      </p:nvGrpSpPr>
      <p:grpSpPr>
        <a:xfrm>
          <a:off x="0" y="0"/>
          <a:ext cx="0" cy="0"/>
          <a:chOff x="0" y="0"/>
          <a:chExt cx="0" cy="0"/>
        </a:xfrm>
      </p:grpSpPr>
      <p:sp>
        <p:nvSpPr>
          <p:cNvPr id="137" name="Google Shape;137;p8"/>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INSIDE /ATRIUM PROSPECT</a:t>
            </a:r>
            <a:endParaRPr b="0" i="0" sz="1200" u="none" cap="none" strike="noStrike">
              <a:solidFill>
                <a:schemeClr val="dk1"/>
              </a:solidFill>
              <a:latin typeface="Calibri"/>
              <a:ea typeface="Calibri"/>
              <a:cs typeface="Calibri"/>
              <a:sym typeface="Calibri"/>
            </a:endParaRPr>
          </a:p>
        </p:txBody>
      </p:sp>
      <p:sp>
        <p:nvSpPr>
          <p:cNvPr id="138" name="Google Shape;138;p8"/>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mbria"/>
              <a:buNone/>
            </a:pPr>
            <a:r>
              <a:rPr b="1" i="0" lang="en-US" sz="2800" u="none" cap="none" strike="noStrike">
                <a:solidFill>
                  <a:srgbClr val="0F172A"/>
                </a:solidFill>
                <a:latin typeface="Cambria"/>
                <a:ea typeface="Cambria"/>
                <a:cs typeface="Cambria"/>
                <a:sym typeface="Cambria"/>
              </a:rPr>
              <a:t>Discovery, five parallel agents, one score</a:t>
            </a:r>
            <a:endParaRPr b="0" i="0" sz="2800" u="none" cap="none" strike="noStrike">
              <a:solidFill>
                <a:schemeClr val="dk1"/>
              </a:solidFill>
              <a:latin typeface="Calibri"/>
              <a:ea typeface="Calibri"/>
              <a:cs typeface="Calibri"/>
              <a:sym typeface="Calibri"/>
            </a:endParaRPr>
          </a:p>
        </p:txBody>
      </p:sp>
      <p:sp>
        <p:nvSpPr>
          <p:cNvPr id="139" name="Google Shape;139;p8"/>
          <p:cNvSpPr/>
          <p:nvPr/>
        </p:nvSpPr>
        <p:spPr>
          <a:xfrm>
            <a:off x="548640" y="2788920"/>
            <a:ext cx="1920240" cy="1005840"/>
          </a:xfrm>
          <a:prstGeom prst="roundRect">
            <a:avLst>
              <a:gd fmla="val 8182" name="adj"/>
            </a:avLst>
          </a:prstGeom>
          <a:solidFill>
            <a:srgbClr val="EEF1F5"/>
          </a:solidFill>
          <a:ln cap="flat" cmpd="sng" w="12700">
            <a:solidFill>
              <a:srgbClr val="EEF1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548640" y="2788920"/>
            <a:ext cx="1920240" cy="100584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Discovery</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Fetch + brief</a:t>
            </a:r>
            <a:endParaRPr b="0" i="0" sz="1300" u="none" cap="none" strike="noStrike">
              <a:solidFill>
                <a:schemeClr val="dk1"/>
              </a:solidFill>
              <a:latin typeface="Calibri"/>
              <a:ea typeface="Calibri"/>
              <a:cs typeface="Calibri"/>
              <a:sym typeface="Calibri"/>
            </a:endParaRPr>
          </a:p>
        </p:txBody>
      </p:sp>
      <p:sp>
        <p:nvSpPr>
          <p:cNvPr id="141" name="Google Shape;141;p8"/>
          <p:cNvSpPr/>
          <p:nvPr/>
        </p:nvSpPr>
        <p:spPr>
          <a:xfrm>
            <a:off x="3063240" y="1508760"/>
            <a:ext cx="3291840" cy="749808"/>
          </a:xfrm>
          <a:prstGeom prst="roundRect">
            <a:avLst>
              <a:gd fmla="val 975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3246120" y="1508760"/>
            <a:ext cx="22860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atrium-company   </a:t>
            </a:r>
            <a:r>
              <a:rPr b="0" i="0" lang="en-US" sz="1100" u="none" cap="none" strike="noStrike">
                <a:solidFill>
                  <a:srgbClr val="64748B"/>
                </a:solidFill>
                <a:latin typeface="Calibri"/>
                <a:ea typeface="Calibri"/>
                <a:cs typeface="Calibri"/>
                <a:sym typeface="Calibri"/>
              </a:rPr>
              <a:t>Company Fit</a:t>
            </a:r>
            <a:endParaRPr b="0" i="0" sz="1250" u="none" cap="none" strike="noStrike">
              <a:solidFill>
                <a:schemeClr val="dk1"/>
              </a:solidFill>
              <a:latin typeface="Calibri"/>
              <a:ea typeface="Calibri"/>
              <a:cs typeface="Calibri"/>
              <a:sym typeface="Calibri"/>
            </a:endParaRPr>
          </a:p>
        </p:txBody>
      </p:sp>
      <p:sp>
        <p:nvSpPr>
          <p:cNvPr id="143" name="Google Shape;143;p8"/>
          <p:cNvSpPr/>
          <p:nvPr/>
        </p:nvSpPr>
        <p:spPr>
          <a:xfrm>
            <a:off x="5577840" y="1673352"/>
            <a:ext cx="640080" cy="420624"/>
          </a:xfrm>
          <a:prstGeom prst="roundRect">
            <a:avLst>
              <a:gd fmla="val 10870" name="adj"/>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5577840" y="1673352"/>
            <a:ext cx="64008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25%</a:t>
            </a:r>
            <a:endParaRPr b="0" i="0" sz="1200" u="none" cap="none" strike="noStrike">
              <a:solidFill>
                <a:schemeClr val="dk1"/>
              </a:solidFill>
              <a:latin typeface="Calibri"/>
              <a:ea typeface="Calibri"/>
              <a:cs typeface="Calibri"/>
              <a:sym typeface="Calibri"/>
            </a:endParaRPr>
          </a:p>
        </p:txBody>
      </p:sp>
      <p:cxnSp>
        <p:nvCxnSpPr>
          <p:cNvPr id="145" name="Google Shape;145;p8"/>
          <p:cNvCxnSpPr/>
          <p:nvPr/>
        </p:nvCxnSpPr>
        <p:spPr>
          <a:xfrm flipH="1" rot="10800000">
            <a:off x="2468880" y="1883664"/>
            <a:ext cx="594360" cy="1408176"/>
          </a:xfrm>
          <a:prstGeom prst="straightConnector1">
            <a:avLst/>
          </a:prstGeom>
          <a:noFill/>
          <a:ln cap="flat" cmpd="sng" w="28575">
            <a:solidFill>
              <a:srgbClr val="64748B"/>
            </a:solidFill>
            <a:prstDash val="solid"/>
            <a:round/>
            <a:headEnd len="sm" w="sm" type="none"/>
            <a:tailEnd len="med" w="med" type="triangle"/>
          </a:ln>
        </p:spPr>
      </p:cxnSp>
      <p:cxnSp>
        <p:nvCxnSpPr>
          <p:cNvPr id="146" name="Google Shape;146;p8"/>
          <p:cNvCxnSpPr/>
          <p:nvPr/>
        </p:nvCxnSpPr>
        <p:spPr>
          <a:xfrm>
            <a:off x="6355080" y="1883664"/>
            <a:ext cx="2651760" cy="1408176"/>
          </a:xfrm>
          <a:prstGeom prst="straightConnector1">
            <a:avLst/>
          </a:prstGeom>
          <a:noFill/>
          <a:ln cap="flat" cmpd="sng" w="28575">
            <a:solidFill>
              <a:srgbClr val="64748B"/>
            </a:solidFill>
            <a:prstDash val="solid"/>
            <a:round/>
            <a:headEnd len="sm" w="sm" type="none"/>
            <a:tailEnd len="med" w="med" type="triangle"/>
          </a:ln>
        </p:spPr>
      </p:cxnSp>
      <p:sp>
        <p:nvSpPr>
          <p:cNvPr id="147" name="Google Shape;147;p8"/>
          <p:cNvSpPr/>
          <p:nvPr/>
        </p:nvSpPr>
        <p:spPr>
          <a:xfrm>
            <a:off x="3063240" y="2514600"/>
            <a:ext cx="3291840" cy="749808"/>
          </a:xfrm>
          <a:prstGeom prst="roundRect">
            <a:avLst>
              <a:gd fmla="val 975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3246120" y="2514600"/>
            <a:ext cx="22860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atrium-contacts   </a:t>
            </a:r>
            <a:r>
              <a:rPr b="0" i="0" lang="en-US" sz="1100" u="none" cap="none" strike="noStrike">
                <a:solidFill>
                  <a:srgbClr val="64748B"/>
                </a:solidFill>
                <a:latin typeface="Calibri"/>
                <a:ea typeface="Calibri"/>
                <a:cs typeface="Calibri"/>
                <a:sym typeface="Calibri"/>
              </a:rPr>
              <a:t>Contact Access</a:t>
            </a:r>
            <a:endParaRPr b="0" i="0" sz="1250" u="none" cap="none" strike="noStrike">
              <a:solidFill>
                <a:schemeClr val="dk1"/>
              </a:solidFill>
              <a:latin typeface="Calibri"/>
              <a:ea typeface="Calibri"/>
              <a:cs typeface="Calibri"/>
              <a:sym typeface="Calibri"/>
            </a:endParaRPr>
          </a:p>
        </p:txBody>
      </p:sp>
      <p:sp>
        <p:nvSpPr>
          <p:cNvPr id="149" name="Google Shape;149;p8"/>
          <p:cNvSpPr/>
          <p:nvPr/>
        </p:nvSpPr>
        <p:spPr>
          <a:xfrm>
            <a:off x="5577840" y="2679192"/>
            <a:ext cx="640080" cy="420624"/>
          </a:xfrm>
          <a:prstGeom prst="roundRect">
            <a:avLst>
              <a:gd fmla="val 10870" name="adj"/>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5577840" y="2679192"/>
            <a:ext cx="64008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20%</a:t>
            </a:r>
            <a:endParaRPr b="0" i="0" sz="1200" u="none" cap="none" strike="noStrike">
              <a:solidFill>
                <a:schemeClr val="dk1"/>
              </a:solidFill>
              <a:latin typeface="Calibri"/>
              <a:ea typeface="Calibri"/>
              <a:cs typeface="Calibri"/>
              <a:sym typeface="Calibri"/>
            </a:endParaRPr>
          </a:p>
        </p:txBody>
      </p:sp>
      <p:cxnSp>
        <p:nvCxnSpPr>
          <p:cNvPr id="151" name="Google Shape;151;p8"/>
          <p:cNvCxnSpPr/>
          <p:nvPr/>
        </p:nvCxnSpPr>
        <p:spPr>
          <a:xfrm flipH="1" rot="10800000">
            <a:off x="2468880" y="2889504"/>
            <a:ext cx="594360" cy="402336"/>
          </a:xfrm>
          <a:prstGeom prst="straightConnector1">
            <a:avLst/>
          </a:prstGeom>
          <a:noFill/>
          <a:ln cap="flat" cmpd="sng" w="28575">
            <a:solidFill>
              <a:srgbClr val="64748B"/>
            </a:solidFill>
            <a:prstDash val="solid"/>
            <a:round/>
            <a:headEnd len="sm" w="sm" type="none"/>
            <a:tailEnd len="med" w="med" type="triangle"/>
          </a:ln>
        </p:spPr>
      </p:cxnSp>
      <p:cxnSp>
        <p:nvCxnSpPr>
          <p:cNvPr id="152" name="Google Shape;152;p8"/>
          <p:cNvCxnSpPr/>
          <p:nvPr/>
        </p:nvCxnSpPr>
        <p:spPr>
          <a:xfrm>
            <a:off x="6355080" y="2889504"/>
            <a:ext cx="2651760" cy="402336"/>
          </a:xfrm>
          <a:prstGeom prst="straightConnector1">
            <a:avLst/>
          </a:prstGeom>
          <a:noFill/>
          <a:ln cap="flat" cmpd="sng" w="28575">
            <a:solidFill>
              <a:srgbClr val="64748B"/>
            </a:solidFill>
            <a:prstDash val="solid"/>
            <a:round/>
            <a:headEnd len="sm" w="sm" type="none"/>
            <a:tailEnd len="med" w="med" type="triangle"/>
          </a:ln>
        </p:spPr>
      </p:cxnSp>
      <p:sp>
        <p:nvSpPr>
          <p:cNvPr id="153" name="Google Shape;153;p8"/>
          <p:cNvSpPr/>
          <p:nvPr/>
        </p:nvSpPr>
        <p:spPr>
          <a:xfrm>
            <a:off x="3063240" y="3520440"/>
            <a:ext cx="3291840" cy="749808"/>
          </a:xfrm>
          <a:prstGeom prst="roundRect">
            <a:avLst>
              <a:gd fmla="val 975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3246120" y="3520440"/>
            <a:ext cx="22860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atrium-opportunity   </a:t>
            </a:r>
            <a:r>
              <a:rPr b="0" i="0" lang="en-US" sz="1100" u="none" cap="none" strike="noStrike">
                <a:solidFill>
                  <a:srgbClr val="64748B"/>
                </a:solidFill>
                <a:latin typeface="Calibri"/>
                <a:ea typeface="Calibri"/>
                <a:cs typeface="Calibri"/>
                <a:sym typeface="Calibri"/>
              </a:rPr>
              <a:t>Opportunity Quality</a:t>
            </a:r>
            <a:endParaRPr b="0" i="0" sz="1250" u="none" cap="none" strike="noStrike">
              <a:solidFill>
                <a:schemeClr val="dk1"/>
              </a:solidFill>
              <a:latin typeface="Calibri"/>
              <a:ea typeface="Calibri"/>
              <a:cs typeface="Calibri"/>
              <a:sym typeface="Calibri"/>
            </a:endParaRPr>
          </a:p>
        </p:txBody>
      </p:sp>
      <p:sp>
        <p:nvSpPr>
          <p:cNvPr id="155" name="Google Shape;155;p8"/>
          <p:cNvSpPr/>
          <p:nvPr/>
        </p:nvSpPr>
        <p:spPr>
          <a:xfrm>
            <a:off x="5577840" y="3685032"/>
            <a:ext cx="640080" cy="420624"/>
          </a:xfrm>
          <a:prstGeom prst="roundRect">
            <a:avLst>
              <a:gd fmla="val 10870" name="adj"/>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5577840" y="3685032"/>
            <a:ext cx="64008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20%</a:t>
            </a:r>
            <a:endParaRPr b="0" i="0" sz="1200" u="none" cap="none" strike="noStrike">
              <a:solidFill>
                <a:schemeClr val="dk1"/>
              </a:solidFill>
              <a:latin typeface="Calibri"/>
              <a:ea typeface="Calibri"/>
              <a:cs typeface="Calibri"/>
              <a:sym typeface="Calibri"/>
            </a:endParaRPr>
          </a:p>
        </p:txBody>
      </p:sp>
      <p:cxnSp>
        <p:nvCxnSpPr>
          <p:cNvPr id="157" name="Google Shape;157;p8"/>
          <p:cNvCxnSpPr/>
          <p:nvPr/>
        </p:nvCxnSpPr>
        <p:spPr>
          <a:xfrm>
            <a:off x="2468880" y="3291840"/>
            <a:ext cx="594360" cy="603504"/>
          </a:xfrm>
          <a:prstGeom prst="straightConnector1">
            <a:avLst/>
          </a:prstGeom>
          <a:noFill/>
          <a:ln cap="flat" cmpd="sng" w="28575">
            <a:solidFill>
              <a:srgbClr val="64748B"/>
            </a:solidFill>
            <a:prstDash val="solid"/>
            <a:round/>
            <a:headEnd len="sm" w="sm" type="none"/>
            <a:tailEnd len="med" w="med" type="triangle"/>
          </a:ln>
        </p:spPr>
      </p:cxnSp>
      <p:cxnSp>
        <p:nvCxnSpPr>
          <p:cNvPr id="158" name="Google Shape;158;p8"/>
          <p:cNvCxnSpPr/>
          <p:nvPr/>
        </p:nvCxnSpPr>
        <p:spPr>
          <a:xfrm flipH="1" rot="10800000">
            <a:off x="6355080" y="3291840"/>
            <a:ext cx="2651760" cy="603504"/>
          </a:xfrm>
          <a:prstGeom prst="straightConnector1">
            <a:avLst/>
          </a:prstGeom>
          <a:noFill/>
          <a:ln cap="flat" cmpd="sng" w="28575">
            <a:solidFill>
              <a:srgbClr val="64748B"/>
            </a:solidFill>
            <a:prstDash val="solid"/>
            <a:round/>
            <a:headEnd len="sm" w="sm" type="none"/>
            <a:tailEnd len="med" w="med" type="triangle"/>
          </a:ln>
        </p:spPr>
      </p:cxnSp>
      <p:sp>
        <p:nvSpPr>
          <p:cNvPr id="159" name="Google Shape;159;p8"/>
          <p:cNvSpPr/>
          <p:nvPr/>
        </p:nvSpPr>
        <p:spPr>
          <a:xfrm>
            <a:off x="3063240" y="4526280"/>
            <a:ext cx="3291840" cy="749808"/>
          </a:xfrm>
          <a:prstGeom prst="roundRect">
            <a:avLst>
              <a:gd fmla="val 975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3246120" y="4526280"/>
            <a:ext cx="22860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atrium-competitive   </a:t>
            </a:r>
            <a:r>
              <a:rPr b="0" i="0" lang="en-US" sz="1100" u="none" cap="none" strike="noStrike">
                <a:solidFill>
                  <a:srgbClr val="64748B"/>
                </a:solidFill>
                <a:latin typeface="Calibri"/>
                <a:ea typeface="Calibri"/>
                <a:cs typeface="Calibri"/>
                <a:sym typeface="Calibri"/>
              </a:rPr>
              <a:t>Competitive Position</a:t>
            </a:r>
            <a:endParaRPr b="0" i="0" sz="1250" u="none" cap="none" strike="noStrike">
              <a:solidFill>
                <a:schemeClr val="dk1"/>
              </a:solidFill>
              <a:latin typeface="Calibri"/>
              <a:ea typeface="Calibri"/>
              <a:cs typeface="Calibri"/>
              <a:sym typeface="Calibri"/>
            </a:endParaRPr>
          </a:p>
        </p:txBody>
      </p:sp>
      <p:sp>
        <p:nvSpPr>
          <p:cNvPr id="161" name="Google Shape;161;p8"/>
          <p:cNvSpPr/>
          <p:nvPr/>
        </p:nvSpPr>
        <p:spPr>
          <a:xfrm>
            <a:off x="5577840" y="4690872"/>
            <a:ext cx="640080" cy="420624"/>
          </a:xfrm>
          <a:prstGeom prst="roundRect">
            <a:avLst>
              <a:gd fmla="val 10870" name="adj"/>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5577840" y="4690872"/>
            <a:ext cx="64008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15%</a:t>
            </a:r>
            <a:endParaRPr b="0" i="0" sz="1200" u="none" cap="none" strike="noStrike">
              <a:solidFill>
                <a:schemeClr val="dk1"/>
              </a:solidFill>
              <a:latin typeface="Calibri"/>
              <a:ea typeface="Calibri"/>
              <a:cs typeface="Calibri"/>
              <a:sym typeface="Calibri"/>
            </a:endParaRPr>
          </a:p>
        </p:txBody>
      </p:sp>
      <p:cxnSp>
        <p:nvCxnSpPr>
          <p:cNvPr id="163" name="Google Shape;163;p8"/>
          <p:cNvCxnSpPr/>
          <p:nvPr/>
        </p:nvCxnSpPr>
        <p:spPr>
          <a:xfrm>
            <a:off x="2468880" y="3291840"/>
            <a:ext cx="594360" cy="1609344"/>
          </a:xfrm>
          <a:prstGeom prst="straightConnector1">
            <a:avLst/>
          </a:prstGeom>
          <a:noFill/>
          <a:ln cap="flat" cmpd="sng" w="28575">
            <a:solidFill>
              <a:srgbClr val="64748B"/>
            </a:solidFill>
            <a:prstDash val="solid"/>
            <a:round/>
            <a:headEnd len="sm" w="sm" type="none"/>
            <a:tailEnd len="med" w="med" type="triangle"/>
          </a:ln>
        </p:spPr>
      </p:cxnSp>
      <p:cxnSp>
        <p:nvCxnSpPr>
          <p:cNvPr id="164" name="Google Shape;164;p8"/>
          <p:cNvCxnSpPr/>
          <p:nvPr/>
        </p:nvCxnSpPr>
        <p:spPr>
          <a:xfrm flipH="1" rot="10800000">
            <a:off x="6355080" y="3291840"/>
            <a:ext cx="2651760" cy="1609344"/>
          </a:xfrm>
          <a:prstGeom prst="straightConnector1">
            <a:avLst/>
          </a:prstGeom>
          <a:noFill/>
          <a:ln cap="flat" cmpd="sng" w="28575">
            <a:solidFill>
              <a:srgbClr val="64748B"/>
            </a:solidFill>
            <a:prstDash val="solid"/>
            <a:round/>
            <a:headEnd len="sm" w="sm" type="none"/>
            <a:tailEnd len="med" w="med" type="triangle"/>
          </a:ln>
        </p:spPr>
      </p:cxnSp>
      <p:sp>
        <p:nvSpPr>
          <p:cNvPr id="165" name="Google Shape;165;p8"/>
          <p:cNvSpPr/>
          <p:nvPr/>
        </p:nvSpPr>
        <p:spPr>
          <a:xfrm>
            <a:off x="3063240" y="5532120"/>
            <a:ext cx="3291840" cy="749808"/>
          </a:xfrm>
          <a:prstGeom prst="roundRect">
            <a:avLst>
              <a:gd fmla="val 975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3246120" y="5532120"/>
            <a:ext cx="22860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atrium-strategy   </a:t>
            </a:r>
            <a:r>
              <a:rPr b="0" i="0" lang="en-US" sz="1100" u="none" cap="none" strike="noStrike">
                <a:solidFill>
                  <a:srgbClr val="64748B"/>
                </a:solidFill>
                <a:latin typeface="Calibri"/>
                <a:ea typeface="Calibri"/>
                <a:cs typeface="Calibri"/>
                <a:sym typeface="Calibri"/>
              </a:rPr>
              <a:t>Outreach Readiness</a:t>
            </a:r>
            <a:endParaRPr b="0" i="0" sz="1250" u="none" cap="none" strike="noStrike">
              <a:solidFill>
                <a:schemeClr val="dk1"/>
              </a:solidFill>
              <a:latin typeface="Calibri"/>
              <a:ea typeface="Calibri"/>
              <a:cs typeface="Calibri"/>
              <a:sym typeface="Calibri"/>
            </a:endParaRPr>
          </a:p>
        </p:txBody>
      </p:sp>
      <p:sp>
        <p:nvSpPr>
          <p:cNvPr id="167" name="Google Shape;167;p8"/>
          <p:cNvSpPr/>
          <p:nvPr/>
        </p:nvSpPr>
        <p:spPr>
          <a:xfrm>
            <a:off x="5577840" y="5696712"/>
            <a:ext cx="640080" cy="420624"/>
          </a:xfrm>
          <a:prstGeom prst="roundRect">
            <a:avLst>
              <a:gd fmla="val 10870" name="adj"/>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5577840" y="5696712"/>
            <a:ext cx="64008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20%</a:t>
            </a:r>
            <a:endParaRPr b="0" i="0" sz="1200" u="none" cap="none" strike="noStrike">
              <a:solidFill>
                <a:schemeClr val="dk1"/>
              </a:solidFill>
              <a:latin typeface="Calibri"/>
              <a:ea typeface="Calibri"/>
              <a:cs typeface="Calibri"/>
              <a:sym typeface="Calibri"/>
            </a:endParaRPr>
          </a:p>
        </p:txBody>
      </p:sp>
      <p:cxnSp>
        <p:nvCxnSpPr>
          <p:cNvPr id="169" name="Google Shape;169;p8"/>
          <p:cNvCxnSpPr/>
          <p:nvPr/>
        </p:nvCxnSpPr>
        <p:spPr>
          <a:xfrm>
            <a:off x="2468880" y="3291840"/>
            <a:ext cx="594360" cy="2615184"/>
          </a:xfrm>
          <a:prstGeom prst="straightConnector1">
            <a:avLst/>
          </a:prstGeom>
          <a:noFill/>
          <a:ln cap="flat" cmpd="sng" w="28575">
            <a:solidFill>
              <a:srgbClr val="64748B"/>
            </a:solidFill>
            <a:prstDash val="solid"/>
            <a:round/>
            <a:headEnd len="sm" w="sm" type="none"/>
            <a:tailEnd len="med" w="med" type="triangle"/>
          </a:ln>
        </p:spPr>
      </p:cxnSp>
      <p:cxnSp>
        <p:nvCxnSpPr>
          <p:cNvPr id="170" name="Google Shape;170;p8"/>
          <p:cNvCxnSpPr/>
          <p:nvPr/>
        </p:nvCxnSpPr>
        <p:spPr>
          <a:xfrm flipH="1" rot="10800000">
            <a:off x="6355080" y="3291840"/>
            <a:ext cx="2651760" cy="2615184"/>
          </a:xfrm>
          <a:prstGeom prst="straightConnector1">
            <a:avLst/>
          </a:prstGeom>
          <a:noFill/>
          <a:ln cap="flat" cmpd="sng" w="28575">
            <a:solidFill>
              <a:srgbClr val="64748B"/>
            </a:solidFill>
            <a:prstDash val="solid"/>
            <a:round/>
            <a:headEnd len="sm" w="sm" type="none"/>
            <a:tailEnd len="med" w="med" type="triangle"/>
          </a:ln>
        </p:spPr>
      </p:cxnSp>
      <p:sp>
        <p:nvSpPr>
          <p:cNvPr id="171" name="Google Shape;171;p8"/>
          <p:cNvSpPr/>
          <p:nvPr/>
        </p:nvSpPr>
        <p:spPr>
          <a:xfrm>
            <a:off x="9006840" y="2743200"/>
            <a:ext cx="1417320" cy="1097280"/>
          </a:xfrm>
          <a:prstGeom prst="roundRect">
            <a:avLst>
              <a:gd fmla="val 7500"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9006840" y="2743200"/>
            <a:ext cx="1417320" cy="109728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2E5E8C"/>
              </a:buClr>
              <a:buSzPts val="1300"/>
              <a:buFont typeface="Calibri"/>
              <a:buNone/>
            </a:pPr>
            <a:r>
              <a:rPr b="1" i="0" lang="en-US" sz="1300" u="none" cap="none" strike="noStrike">
                <a:solidFill>
                  <a:srgbClr val="2E5E8C"/>
                </a:solidFill>
                <a:latin typeface="Calibri"/>
                <a:ea typeface="Calibri"/>
                <a:cs typeface="Calibri"/>
                <a:sym typeface="Calibri"/>
              </a:rPr>
              <a:t>Synthesis</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Weighted avg</a:t>
            </a:r>
            <a:endParaRPr b="0" i="0" sz="1300" u="none" cap="none" strike="noStrike">
              <a:solidFill>
                <a:schemeClr val="dk1"/>
              </a:solidFill>
              <a:latin typeface="Calibri"/>
              <a:ea typeface="Calibri"/>
              <a:cs typeface="Calibri"/>
              <a:sym typeface="Calibri"/>
            </a:endParaRPr>
          </a:p>
        </p:txBody>
      </p:sp>
      <p:sp>
        <p:nvSpPr>
          <p:cNvPr id="173" name="Google Shape;173;p8"/>
          <p:cNvSpPr/>
          <p:nvPr/>
        </p:nvSpPr>
        <p:spPr>
          <a:xfrm>
            <a:off x="10652760" y="2697480"/>
            <a:ext cx="1417320" cy="1188720"/>
          </a:xfrm>
          <a:prstGeom prst="roundRect">
            <a:avLst>
              <a:gd fmla="val 6923" name="adj"/>
            </a:avLst>
          </a:prstGeom>
          <a:solidFill>
            <a:srgbClr val="0F172A"/>
          </a:solidFill>
          <a:ln cap="flat" cmpd="sng" w="12700">
            <a:solidFill>
              <a:srgbClr val="0F172A"/>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10652760" y="2697480"/>
            <a:ext cx="14173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0-100</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1000"/>
              <a:buFont typeface="Calibri"/>
              <a:buNone/>
            </a:pPr>
            <a:r>
              <a:rPr b="0" i="0" lang="en-US" sz="1000" u="none" cap="none" strike="noStrike">
                <a:solidFill>
                  <a:srgbClr val="94A3B8"/>
                </a:solidFill>
                <a:latin typeface="Calibri"/>
                <a:ea typeface="Calibri"/>
                <a:cs typeface="Calibri"/>
                <a:sym typeface="Calibri"/>
              </a:rPr>
              <a:t>composite</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 grade</a:t>
            </a:r>
            <a:endParaRPr b="0" i="0" sz="1800" u="none" cap="none" strike="noStrike">
              <a:solidFill>
                <a:schemeClr val="dk1"/>
              </a:solidFill>
              <a:latin typeface="Calibri"/>
              <a:ea typeface="Calibri"/>
              <a:cs typeface="Calibri"/>
              <a:sym typeface="Calibri"/>
            </a:endParaRPr>
          </a:p>
        </p:txBody>
      </p:sp>
      <p:cxnSp>
        <p:nvCxnSpPr>
          <p:cNvPr id="175" name="Google Shape;175;p8"/>
          <p:cNvCxnSpPr/>
          <p:nvPr/>
        </p:nvCxnSpPr>
        <p:spPr>
          <a:xfrm>
            <a:off x="10424160" y="3291840"/>
            <a:ext cx="228600" cy="0"/>
          </a:xfrm>
          <a:prstGeom prst="straightConnector1">
            <a:avLst/>
          </a:prstGeom>
          <a:noFill/>
          <a:ln cap="flat" cmpd="sng" w="28575">
            <a:solidFill>
              <a:srgbClr val="2E5E8C"/>
            </a:solidFill>
            <a:prstDash val="solid"/>
            <a:round/>
            <a:headEnd len="sm" w="sm" type="none"/>
            <a:tailEnd len="med" w="med" type="triangle"/>
          </a:ln>
        </p:spPr>
      </p:cxnSp>
      <p:sp>
        <p:nvSpPr>
          <p:cNvPr id="176" name="Google Shape;176;p8"/>
          <p:cNvSpPr/>
          <p:nvPr/>
        </p:nvSpPr>
        <p:spPr>
          <a:xfrm>
            <a:off x="548640" y="5806440"/>
            <a:ext cx="11064240" cy="64008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Weights live in qualify.config.json and sum to one, so a new agent is a data change plus one file. The run writes PROSPECT-ANALYSIS.md and persists the composite, the grade, and each category score.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81" name="Shape 181"/>
        <p:cNvGrpSpPr/>
        <p:nvPr/>
      </p:nvGrpSpPr>
      <p:grpSpPr>
        <a:xfrm>
          <a:off x="0" y="0"/>
          <a:ext cx="0" cy="0"/>
          <a:chOff x="0" y="0"/>
          <a:chExt cx="0" cy="0"/>
        </a:xfrm>
      </p:grpSpPr>
      <p:sp>
        <p:nvSpPr>
          <p:cNvPr id="182" name="Google Shape;182;p9"/>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TWO SHARED SKILLS, INCORPORATED</a:t>
            </a:r>
            <a:endParaRPr b="0" i="0" sz="1200" u="none" cap="none" strike="noStrike">
              <a:solidFill>
                <a:schemeClr val="dk1"/>
              </a:solidFill>
              <a:latin typeface="Calibri"/>
              <a:ea typeface="Calibri"/>
              <a:cs typeface="Calibri"/>
              <a:sym typeface="Calibri"/>
            </a:endParaRPr>
          </a:p>
        </p:txBody>
      </p:sp>
      <p:sp>
        <p:nvSpPr>
          <p:cNvPr id="183" name="Google Shape;183;p9"/>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mbria"/>
              <a:buNone/>
            </a:pPr>
            <a:r>
              <a:rPr b="1" i="0" lang="en-US" sz="2800" u="none" cap="none" strike="noStrike">
                <a:solidFill>
                  <a:srgbClr val="0F172A"/>
                </a:solidFill>
                <a:latin typeface="Cambria"/>
                <a:ea typeface="Cambria"/>
                <a:cs typeface="Cambria"/>
                <a:sym typeface="Cambria"/>
              </a:rPr>
              <a:t>Where kajiro and elicitation sit</a:t>
            </a:r>
            <a:endParaRPr b="0" i="0" sz="2800" u="none" cap="none" strike="noStrike">
              <a:solidFill>
                <a:schemeClr val="dk1"/>
              </a:solidFill>
              <a:latin typeface="Calibri"/>
              <a:ea typeface="Calibri"/>
              <a:cs typeface="Calibri"/>
              <a:sym typeface="Calibri"/>
            </a:endParaRPr>
          </a:p>
        </p:txBody>
      </p:sp>
      <p:sp>
        <p:nvSpPr>
          <p:cNvPr id="184" name="Google Shape;184;p9"/>
          <p:cNvSpPr/>
          <p:nvPr/>
        </p:nvSpPr>
        <p:spPr>
          <a:xfrm>
            <a:off x="548640" y="137160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400"/>
              <a:buFont typeface="Calibri"/>
              <a:buNone/>
            </a:pPr>
            <a:r>
              <a:rPr b="1" i="0" lang="en-US" sz="1400" u="none" cap="none" strike="noStrike">
                <a:solidFill>
                  <a:srgbClr val="E1A140"/>
                </a:solidFill>
                <a:latin typeface="Calibri"/>
                <a:ea typeface="Calibri"/>
                <a:cs typeface="Calibri"/>
                <a:sym typeface="Calibri"/>
              </a:rPr>
              <a:t>kajiro-prompt-optimizer-pro</a:t>
            </a:r>
            <a:r>
              <a:rPr b="0" i="0" lang="en-US" sz="1400" u="none" cap="none" strike="noStrike">
                <a:solidFill>
                  <a:srgbClr val="64748B"/>
                </a:solidFill>
                <a:latin typeface="Calibri"/>
                <a:ea typeface="Calibri"/>
                <a:cs typeface="Calibri"/>
                <a:sym typeface="Calibri"/>
              </a:rPr>
              <a:t>  .  the prompt-quality layer</a:t>
            </a:r>
            <a:endParaRPr b="0" i="0" sz="1400" u="none" cap="none" strike="noStrike">
              <a:solidFill>
                <a:schemeClr val="dk1"/>
              </a:solidFill>
              <a:latin typeface="Calibri"/>
              <a:ea typeface="Calibri"/>
              <a:cs typeface="Calibri"/>
              <a:sym typeface="Calibri"/>
            </a:endParaRPr>
          </a:p>
        </p:txBody>
      </p:sp>
      <p:sp>
        <p:nvSpPr>
          <p:cNvPr id="185" name="Google Shape;185;p9"/>
          <p:cNvSpPr/>
          <p:nvPr/>
        </p:nvSpPr>
        <p:spPr>
          <a:xfrm>
            <a:off x="548640" y="1783080"/>
            <a:ext cx="2331720" cy="868680"/>
          </a:xfrm>
          <a:prstGeom prst="roundRect">
            <a:avLst>
              <a:gd fmla="val 9474"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548640" y="1783080"/>
            <a:ext cx="2331720" cy="86868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2E5E8C"/>
              </a:buClr>
              <a:buSzPts val="1300"/>
              <a:buFont typeface="Calibri"/>
              <a:buNone/>
            </a:pPr>
            <a:r>
              <a:rPr b="1" i="0" lang="en-US" sz="1300" u="none" cap="none" strike="noStrike">
                <a:solidFill>
                  <a:srgbClr val="2E5E8C"/>
                </a:solidFill>
                <a:latin typeface="Calibri"/>
                <a:ea typeface="Calibri"/>
                <a:cs typeface="Calibri"/>
                <a:sym typeface="Calibri"/>
              </a:rPr>
              <a:t>Console run</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Operator triggers</a:t>
            </a:r>
            <a:endParaRPr b="0" i="0" sz="1300" u="none" cap="none" strike="noStrike">
              <a:solidFill>
                <a:schemeClr val="dk1"/>
              </a:solidFill>
              <a:latin typeface="Calibri"/>
              <a:ea typeface="Calibri"/>
              <a:cs typeface="Calibri"/>
              <a:sym typeface="Calibri"/>
            </a:endParaRPr>
          </a:p>
        </p:txBody>
      </p:sp>
      <p:sp>
        <p:nvSpPr>
          <p:cNvPr id="187" name="Google Shape;187;p9"/>
          <p:cNvSpPr/>
          <p:nvPr/>
        </p:nvSpPr>
        <p:spPr>
          <a:xfrm>
            <a:off x="3337560" y="1783080"/>
            <a:ext cx="2331720" cy="868680"/>
          </a:xfrm>
          <a:prstGeom prst="roundRect">
            <a:avLst>
              <a:gd fmla="val 9474" name="adj"/>
            </a:avLst>
          </a:prstGeom>
          <a:solidFill>
            <a:srgbClr val="EEF1F5"/>
          </a:solidFill>
          <a:ln cap="flat" cmpd="sng" w="12700">
            <a:solidFill>
              <a:srgbClr val="EEF1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3337560" y="1783080"/>
            <a:ext cx="2331720" cy="86868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Orchestrator</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/atrium routes</a:t>
            </a:r>
            <a:endParaRPr b="0" i="0" sz="1300" u="none" cap="none" strike="noStrike">
              <a:solidFill>
                <a:schemeClr val="dk1"/>
              </a:solidFill>
              <a:latin typeface="Calibri"/>
              <a:ea typeface="Calibri"/>
              <a:cs typeface="Calibri"/>
              <a:sym typeface="Calibri"/>
            </a:endParaRPr>
          </a:p>
        </p:txBody>
      </p:sp>
      <p:sp>
        <p:nvSpPr>
          <p:cNvPr id="189" name="Google Shape;189;p9"/>
          <p:cNvSpPr/>
          <p:nvPr/>
        </p:nvSpPr>
        <p:spPr>
          <a:xfrm>
            <a:off x="6126480" y="1783080"/>
            <a:ext cx="2514600" cy="868680"/>
          </a:xfrm>
          <a:prstGeom prst="roundRect">
            <a:avLst>
              <a:gd fmla="val 9474" name="adj"/>
            </a:avLst>
          </a:prstGeom>
          <a:solidFill>
            <a:srgbClr val="F7EBD5"/>
          </a:solidFill>
          <a:ln cap="flat" cmpd="sng" w="12700">
            <a:solidFill>
              <a:srgbClr val="F7EBD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6126480" y="1783080"/>
            <a:ext cx="2514600" cy="86868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9A6A14"/>
              </a:buClr>
              <a:buSzPts val="1300"/>
              <a:buFont typeface="Calibri"/>
              <a:buNone/>
            </a:pPr>
            <a:r>
              <a:rPr b="1" i="0" lang="en-US" sz="1300" u="none" cap="none" strike="noStrike">
                <a:solidFill>
                  <a:srgbClr val="9A6A14"/>
                </a:solidFill>
                <a:latin typeface="Calibri"/>
                <a:ea typeface="Calibri"/>
                <a:cs typeface="Calibri"/>
                <a:sym typeface="Calibri"/>
              </a:rPr>
              <a:t>Kajiro optimize</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Auto mode, 14-pt rubric, silent</a:t>
            </a:r>
            <a:endParaRPr b="0" i="0" sz="1300" u="none" cap="none" strike="noStrike">
              <a:solidFill>
                <a:schemeClr val="dk1"/>
              </a:solidFill>
              <a:latin typeface="Calibri"/>
              <a:ea typeface="Calibri"/>
              <a:cs typeface="Calibri"/>
              <a:sym typeface="Calibri"/>
            </a:endParaRPr>
          </a:p>
        </p:txBody>
      </p:sp>
      <p:sp>
        <p:nvSpPr>
          <p:cNvPr id="191" name="Google Shape;191;p9"/>
          <p:cNvSpPr/>
          <p:nvPr/>
        </p:nvSpPr>
        <p:spPr>
          <a:xfrm>
            <a:off x="9098280" y="1783080"/>
            <a:ext cx="2514600" cy="868680"/>
          </a:xfrm>
          <a:prstGeom prst="roundRect">
            <a:avLst>
              <a:gd fmla="val 9474" name="adj"/>
            </a:avLst>
          </a:prstGeom>
          <a:solidFill>
            <a:srgbClr val="DEEDE6"/>
          </a:solidFill>
          <a:ln cap="flat" cmpd="sng" w="12700">
            <a:solidFill>
              <a:srgbClr val="DEEDE6"/>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9098280" y="1783080"/>
            <a:ext cx="2514600" cy="86868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3F8F6B"/>
              </a:buClr>
              <a:buSzPts val="1300"/>
              <a:buFont typeface="Calibri"/>
              <a:buNone/>
            </a:pPr>
            <a:r>
              <a:rPr b="1" i="0" lang="en-US" sz="1300" u="none" cap="none" strike="noStrike">
                <a:solidFill>
                  <a:srgbClr val="3F8F6B"/>
                </a:solidFill>
                <a:latin typeface="Calibri"/>
                <a:ea typeface="Calibri"/>
                <a:cs typeface="Calibri"/>
                <a:sym typeface="Calibri"/>
              </a:rPr>
              <a:t>Dispatch</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Skill or 5 agents run</a:t>
            </a:r>
            <a:endParaRPr b="0" i="0" sz="1300" u="none" cap="none" strike="noStrike">
              <a:solidFill>
                <a:schemeClr val="dk1"/>
              </a:solidFill>
              <a:latin typeface="Calibri"/>
              <a:ea typeface="Calibri"/>
              <a:cs typeface="Calibri"/>
              <a:sym typeface="Calibri"/>
            </a:endParaRPr>
          </a:p>
        </p:txBody>
      </p:sp>
      <p:cxnSp>
        <p:nvCxnSpPr>
          <p:cNvPr id="193" name="Google Shape;193;p9"/>
          <p:cNvCxnSpPr/>
          <p:nvPr/>
        </p:nvCxnSpPr>
        <p:spPr>
          <a:xfrm>
            <a:off x="2880360" y="2217420"/>
            <a:ext cx="457200" cy="0"/>
          </a:xfrm>
          <a:prstGeom prst="straightConnector1">
            <a:avLst/>
          </a:prstGeom>
          <a:noFill/>
          <a:ln cap="flat" cmpd="sng" w="28575">
            <a:solidFill>
              <a:srgbClr val="64748B"/>
            </a:solidFill>
            <a:prstDash val="solid"/>
            <a:round/>
            <a:headEnd len="sm" w="sm" type="none"/>
            <a:tailEnd len="med" w="med" type="triangle"/>
          </a:ln>
        </p:spPr>
      </p:cxnSp>
      <p:cxnSp>
        <p:nvCxnSpPr>
          <p:cNvPr id="194" name="Google Shape;194;p9"/>
          <p:cNvCxnSpPr/>
          <p:nvPr/>
        </p:nvCxnSpPr>
        <p:spPr>
          <a:xfrm>
            <a:off x="5669280" y="2217420"/>
            <a:ext cx="457200" cy="0"/>
          </a:xfrm>
          <a:prstGeom prst="straightConnector1">
            <a:avLst/>
          </a:prstGeom>
          <a:noFill/>
          <a:ln cap="flat" cmpd="sng" w="28575">
            <a:solidFill>
              <a:srgbClr val="E1A140"/>
            </a:solidFill>
            <a:prstDash val="solid"/>
            <a:round/>
            <a:headEnd len="sm" w="sm" type="none"/>
            <a:tailEnd len="med" w="med" type="triangle"/>
          </a:ln>
        </p:spPr>
      </p:cxnSp>
      <p:cxnSp>
        <p:nvCxnSpPr>
          <p:cNvPr id="195" name="Google Shape;195;p9"/>
          <p:cNvCxnSpPr/>
          <p:nvPr/>
        </p:nvCxnSpPr>
        <p:spPr>
          <a:xfrm>
            <a:off x="8641080" y="2217420"/>
            <a:ext cx="457200" cy="0"/>
          </a:xfrm>
          <a:prstGeom prst="straightConnector1">
            <a:avLst/>
          </a:prstGeom>
          <a:noFill/>
          <a:ln cap="flat" cmpd="sng" w="28575">
            <a:solidFill>
              <a:srgbClr val="64748B"/>
            </a:solidFill>
            <a:prstDash val="solid"/>
            <a:round/>
            <a:headEnd len="sm" w="sm" type="none"/>
            <a:tailEnd len="med" w="med" type="triangle"/>
          </a:ln>
        </p:spPr>
      </p:cxnSp>
      <p:sp>
        <p:nvSpPr>
          <p:cNvPr id="196" name="Google Shape;196;p9"/>
          <p:cNvSpPr/>
          <p:nvPr/>
        </p:nvSpPr>
        <p:spPr>
          <a:xfrm>
            <a:off x="548640" y="329184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400"/>
              <a:buFont typeface="Calibri"/>
              <a:buNone/>
            </a:pPr>
            <a:r>
              <a:rPr b="1" i="0" lang="en-US" sz="1400" u="none" cap="none" strike="noStrike">
                <a:solidFill>
                  <a:srgbClr val="2E5E8C"/>
                </a:solidFill>
                <a:latin typeface="Calibri"/>
                <a:ea typeface="Calibri"/>
                <a:cs typeface="Calibri"/>
                <a:sym typeface="Calibri"/>
              </a:rPr>
              <a:t>elicitation-widget</a:t>
            </a:r>
            <a:r>
              <a:rPr b="0" i="0" lang="en-US" sz="1400" u="none" cap="none" strike="noStrike">
                <a:solidFill>
                  <a:srgbClr val="64748B"/>
                </a:solidFill>
                <a:latin typeface="Calibri"/>
                <a:ea typeface="Calibri"/>
                <a:cs typeface="Calibri"/>
                <a:sym typeface="Calibri"/>
              </a:rPr>
              <a:t>  .  the intake layer, one engine, three surfaces</a:t>
            </a:r>
            <a:endParaRPr b="0" i="0" sz="1400" u="none" cap="none" strike="noStrike">
              <a:solidFill>
                <a:schemeClr val="dk1"/>
              </a:solidFill>
              <a:latin typeface="Calibri"/>
              <a:ea typeface="Calibri"/>
              <a:cs typeface="Calibri"/>
              <a:sym typeface="Calibri"/>
            </a:endParaRPr>
          </a:p>
        </p:txBody>
      </p:sp>
      <p:sp>
        <p:nvSpPr>
          <p:cNvPr id="197" name="Google Shape;197;p9"/>
          <p:cNvSpPr/>
          <p:nvPr/>
        </p:nvSpPr>
        <p:spPr>
          <a:xfrm>
            <a:off x="548640" y="3703320"/>
            <a:ext cx="2743200" cy="914400"/>
          </a:xfrm>
          <a:prstGeom prst="roundRect">
            <a:avLst>
              <a:gd fmla="val 9000" name="adj"/>
            </a:avLst>
          </a:prstGeom>
          <a:solidFill>
            <a:srgbClr val="EEF1F5"/>
          </a:solidFill>
          <a:ln cap="flat" cmpd="sng" w="12700">
            <a:solidFill>
              <a:srgbClr val="EEF1F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548640" y="3703320"/>
            <a:ext cx="2743200" cy="9144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Question inventory</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Declared per surface</a:t>
            </a:r>
            <a:endParaRPr b="0" i="0" sz="1300" u="none" cap="none" strike="noStrike">
              <a:solidFill>
                <a:schemeClr val="dk1"/>
              </a:solidFill>
              <a:latin typeface="Calibri"/>
              <a:ea typeface="Calibri"/>
              <a:cs typeface="Calibri"/>
              <a:sym typeface="Calibri"/>
            </a:endParaRPr>
          </a:p>
        </p:txBody>
      </p:sp>
      <p:sp>
        <p:nvSpPr>
          <p:cNvPr id="199" name="Google Shape;199;p9"/>
          <p:cNvSpPr/>
          <p:nvPr/>
        </p:nvSpPr>
        <p:spPr>
          <a:xfrm>
            <a:off x="3749040" y="3703320"/>
            <a:ext cx="2331720" cy="914400"/>
          </a:xfrm>
          <a:prstGeom prst="roundRect">
            <a:avLst>
              <a:gd fmla="val 9000"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3749040" y="3703320"/>
            <a:ext cx="2331720" cy="9144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2E5E8C"/>
              </a:buClr>
              <a:buSzPts val="1300"/>
              <a:buFont typeface="Calibri"/>
              <a:buNone/>
            </a:pPr>
            <a:r>
              <a:rPr b="1" i="0" lang="en-US" sz="1300" u="none" cap="none" strike="noStrike">
                <a:solidFill>
                  <a:srgbClr val="2E5E8C"/>
                </a:solidFill>
                <a:latin typeface="Calibri"/>
                <a:ea typeface="Calibri"/>
                <a:cs typeface="Calibri"/>
                <a:sym typeface="Calibri"/>
              </a:rPr>
              <a:t>Intake engine</a:t>
            </a:r>
            <a:endParaRPr b="0"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Batched tappable</a:t>
            </a:r>
            <a:endParaRPr b="0" i="0" sz="1300" u="none" cap="none" strike="noStrike">
              <a:solidFill>
                <a:schemeClr val="dk1"/>
              </a:solidFill>
              <a:latin typeface="Calibri"/>
              <a:ea typeface="Calibri"/>
              <a:cs typeface="Calibri"/>
              <a:sym typeface="Calibri"/>
            </a:endParaRPr>
          </a:p>
        </p:txBody>
      </p:sp>
      <p:sp>
        <p:nvSpPr>
          <p:cNvPr id="201" name="Google Shape;201;p9"/>
          <p:cNvSpPr/>
          <p:nvPr/>
        </p:nvSpPr>
        <p:spPr>
          <a:xfrm>
            <a:off x="6537960" y="3703320"/>
            <a:ext cx="1691640" cy="914400"/>
          </a:xfrm>
          <a:prstGeom prst="roundRect">
            <a:avLst>
              <a:gd fmla="val 9000"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6537960" y="3703320"/>
            <a:ext cx="1691640" cy="9144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Funnel</a:t>
            </a:r>
            <a:endParaRPr b="0" i="0" sz="1400" u="none" cap="none" strike="noStrike">
              <a:solidFill>
                <a:schemeClr val="dk1"/>
              </a:solidFill>
              <a:latin typeface="Calibri"/>
              <a:ea typeface="Calibri"/>
              <a:cs typeface="Calibri"/>
              <a:sym typeface="Calibri"/>
            </a:endParaRPr>
          </a:p>
        </p:txBody>
      </p:sp>
      <p:cxnSp>
        <p:nvCxnSpPr>
          <p:cNvPr id="203" name="Google Shape;203;p9"/>
          <p:cNvCxnSpPr/>
          <p:nvPr/>
        </p:nvCxnSpPr>
        <p:spPr>
          <a:xfrm>
            <a:off x="6080760" y="4160520"/>
            <a:ext cx="457200" cy="0"/>
          </a:xfrm>
          <a:prstGeom prst="straightConnector1">
            <a:avLst/>
          </a:prstGeom>
          <a:noFill/>
          <a:ln cap="flat" cmpd="sng" w="28575">
            <a:solidFill>
              <a:srgbClr val="2E5E8C"/>
            </a:solidFill>
            <a:prstDash val="solid"/>
            <a:round/>
            <a:headEnd len="sm" w="sm" type="none"/>
            <a:tailEnd len="med" w="med" type="triangle"/>
          </a:ln>
        </p:spPr>
      </p:cxnSp>
      <p:sp>
        <p:nvSpPr>
          <p:cNvPr id="204" name="Google Shape;204;p9"/>
          <p:cNvSpPr/>
          <p:nvPr/>
        </p:nvSpPr>
        <p:spPr>
          <a:xfrm>
            <a:off x="8366760" y="3703320"/>
            <a:ext cx="1691640" cy="914400"/>
          </a:xfrm>
          <a:prstGeom prst="roundRect">
            <a:avLst>
              <a:gd fmla="val 9000"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8366760" y="3703320"/>
            <a:ext cx="1691640" cy="9144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Target add</a:t>
            </a:r>
            <a:endParaRPr b="0" i="0" sz="1400" u="none" cap="none" strike="noStrike">
              <a:solidFill>
                <a:schemeClr val="dk1"/>
              </a:solidFill>
              <a:latin typeface="Calibri"/>
              <a:ea typeface="Calibri"/>
              <a:cs typeface="Calibri"/>
              <a:sym typeface="Calibri"/>
            </a:endParaRPr>
          </a:p>
        </p:txBody>
      </p:sp>
      <p:cxnSp>
        <p:nvCxnSpPr>
          <p:cNvPr id="206" name="Google Shape;206;p9"/>
          <p:cNvCxnSpPr/>
          <p:nvPr/>
        </p:nvCxnSpPr>
        <p:spPr>
          <a:xfrm>
            <a:off x="6080760" y="4160520"/>
            <a:ext cx="2286000" cy="0"/>
          </a:xfrm>
          <a:prstGeom prst="straightConnector1">
            <a:avLst/>
          </a:prstGeom>
          <a:noFill/>
          <a:ln cap="flat" cmpd="sng" w="28575">
            <a:solidFill>
              <a:srgbClr val="2E5E8C"/>
            </a:solidFill>
            <a:prstDash val="solid"/>
            <a:round/>
            <a:headEnd len="sm" w="sm" type="none"/>
            <a:tailEnd len="med" w="med" type="triangle"/>
          </a:ln>
        </p:spPr>
      </p:cxnSp>
      <p:sp>
        <p:nvSpPr>
          <p:cNvPr id="207" name="Google Shape;207;p9"/>
          <p:cNvSpPr/>
          <p:nvPr/>
        </p:nvSpPr>
        <p:spPr>
          <a:xfrm>
            <a:off x="10195560" y="3703320"/>
            <a:ext cx="1691640" cy="914400"/>
          </a:xfrm>
          <a:prstGeom prst="roundRect">
            <a:avLst>
              <a:gd fmla="val 9000" name="adj"/>
            </a:avLst>
          </a:prstGeom>
          <a:solidFill>
            <a:srgbClr val="FFFFFF"/>
          </a:solidFill>
          <a:ln cap="flat" cmpd="sng" w="12700">
            <a:solidFill>
              <a:srgbClr val="FFFFFF"/>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10195560" y="3703320"/>
            <a:ext cx="1691640" cy="9144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ICP editor</a:t>
            </a:r>
            <a:endParaRPr b="0" i="0" sz="1400" u="none" cap="none" strike="noStrike">
              <a:solidFill>
                <a:schemeClr val="dk1"/>
              </a:solidFill>
              <a:latin typeface="Calibri"/>
              <a:ea typeface="Calibri"/>
              <a:cs typeface="Calibri"/>
              <a:sym typeface="Calibri"/>
            </a:endParaRPr>
          </a:p>
        </p:txBody>
      </p:sp>
      <p:cxnSp>
        <p:nvCxnSpPr>
          <p:cNvPr id="209" name="Google Shape;209;p9"/>
          <p:cNvCxnSpPr/>
          <p:nvPr/>
        </p:nvCxnSpPr>
        <p:spPr>
          <a:xfrm>
            <a:off x="6080760" y="4160520"/>
            <a:ext cx="4114800" cy="0"/>
          </a:xfrm>
          <a:prstGeom prst="straightConnector1">
            <a:avLst/>
          </a:prstGeom>
          <a:noFill/>
          <a:ln cap="flat" cmpd="sng" w="28575">
            <a:solidFill>
              <a:srgbClr val="2E5E8C"/>
            </a:solidFill>
            <a:prstDash val="solid"/>
            <a:round/>
            <a:headEnd len="sm" w="sm" type="none"/>
            <a:tailEnd len="med" w="med" type="triangle"/>
          </a:ln>
        </p:spPr>
      </p:cxnSp>
      <p:cxnSp>
        <p:nvCxnSpPr>
          <p:cNvPr id="210" name="Google Shape;210;p9"/>
          <p:cNvCxnSpPr/>
          <p:nvPr/>
        </p:nvCxnSpPr>
        <p:spPr>
          <a:xfrm>
            <a:off x="3291840" y="4160520"/>
            <a:ext cx="457200" cy="0"/>
          </a:xfrm>
          <a:prstGeom prst="straightConnector1">
            <a:avLst/>
          </a:prstGeom>
          <a:noFill/>
          <a:ln cap="flat" cmpd="sng" w="28575">
            <a:solidFill>
              <a:srgbClr val="64748B"/>
            </a:solidFill>
            <a:prstDash val="solid"/>
            <a:round/>
            <a:headEnd len="sm" w="sm" type="none"/>
            <a:tailEnd len="med" w="med" type="triangle"/>
          </a:ln>
        </p:spPr>
      </p:cxnSp>
      <p:sp>
        <p:nvSpPr>
          <p:cNvPr id="211" name="Google Shape;211;p9"/>
          <p:cNvSpPr/>
          <p:nvPr/>
        </p:nvSpPr>
        <p:spPr>
          <a:xfrm>
            <a:off x="548640" y="4937760"/>
            <a:ext cx="11064240" cy="502920"/>
          </a:xfrm>
          <a:prstGeom prst="roundRect">
            <a:avLst>
              <a:gd fmla="val 10909"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548640" y="5532120"/>
            <a:ext cx="11064240" cy="868680"/>
          </a:xfrm>
          <a:prstGeom prst="roundRect">
            <a:avLst>
              <a:gd fmla="val 7368"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914400" y="5596128"/>
            <a:ext cx="10332720" cy="7315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1A140"/>
              </a:buClr>
              <a:buSzPts val="1350"/>
              <a:buFont typeface="Calibri"/>
              <a:buNone/>
            </a:pPr>
            <a:r>
              <a:rPr b="1" i="0" lang="en-US" sz="1350" u="none" cap="none" strike="noStrike">
                <a:solidFill>
                  <a:srgbClr val="E1A140"/>
                </a:solidFill>
                <a:latin typeface="Calibri"/>
                <a:ea typeface="Calibri"/>
                <a:cs typeface="Calibri"/>
                <a:sym typeface="Calibri"/>
              </a:rPr>
              <a:t>Both are configuration, not new logic.  </a:t>
            </a:r>
            <a:r>
              <a:rPr b="0" i="0" lang="en-US" sz="1350" u="none" cap="none" strike="noStrike">
                <a:solidFill>
                  <a:srgbClr val="E2E8F0"/>
                </a:solidFill>
                <a:latin typeface="Calibri"/>
                <a:ea typeface="Calibri"/>
                <a:cs typeface="Calibri"/>
                <a:sym typeface="Calibri"/>
              </a:rPr>
              <a:t>Kajiro optimization is a data-driven step before dispatch, and every operator intake reuses one engine, so the funnel, target add, and ICP editor behave identically.</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8" name="Shape 218"/>
        <p:cNvGrpSpPr/>
        <p:nvPr/>
      </p:nvGrpSpPr>
      <p:grpSpPr>
        <a:xfrm>
          <a:off x="0" y="0"/>
          <a:ext cx="0" cy="0"/>
          <a:chOff x="0" y="0"/>
          <a:chExt cx="0" cy="0"/>
        </a:xfrm>
      </p:grpSpPr>
      <p:sp>
        <p:nvSpPr>
          <p:cNvPr id="219" name="Google Shape;219;p10"/>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SCORING ENGINE</a:t>
            </a:r>
            <a:endParaRPr b="0" i="0" sz="1200" u="none" cap="none" strike="noStrike">
              <a:solidFill>
                <a:schemeClr val="dk1"/>
              </a:solidFill>
              <a:latin typeface="Calibri"/>
              <a:ea typeface="Calibri"/>
              <a:cs typeface="Calibri"/>
              <a:sym typeface="Calibri"/>
            </a:endParaRPr>
          </a:p>
        </p:txBody>
      </p:sp>
      <p:sp>
        <p:nvSpPr>
          <p:cNvPr id="220" name="Google Shape;220;p10"/>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mbria"/>
              <a:buNone/>
            </a:pPr>
            <a:r>
              <a:rPr b="1" i="0" lang="en-US" sz="2800" u="none" cap="none" strike="noStrike">
                <a:solidFill>
                  <a:srgbClr val="0F172A"/>
                </a:solidFill>
                <a:latin typeface="Cambria"/>
                <a:ea typeface="Cambria"/>
                <a:cs typeface="Cambria"/>
                <a:sym typeface="Cambria"/>
              </a:rPr>
              <a:t>A weighted score, zero to one hundred</a:t>
            </a:r>
            <a:endParaRPr b="0" i="0" sz="2800" u="none" cap="none" strike="noStrike">
              <a:solidFill>
                <a:schemeClr val="dk1"/>
              </a:solidFill>
              <a:latin typeface="Calibri"/>
              <a:ea typeface="Calibri"/>
              <a:cs typeface="Calibri"/>
              <a:sym typeface="Calibri"/>
            </a:endParaRPr>
          </a:p>
        </p:txBody>
      </p:sp>
      <p:pic>
        <p:nvPicPr>
          <p:cNvPr id="221" name="Google Shape;221;p10"/>
          <p:cNvPicPr preferRelativeResize="0"/>
          <p:nvPr/>
        </p:nvPicPr>
        <p:blipFill rotWithShape="1">
          <a:blip r:embed="rId3">
            <a:alphaModFix/>
          </a:blip>
          <a:srcRect b="0" l="0" r="0" t="0"/>
          <a:stretch/>
        </p:blipFill>
        <p:spPr>
          <a:xfrm>
            <a:off x="457200" y="1554480"/>
            <a:ext cx="4937760" cy="4206240"/>
          </a:xfrm>
          <a:prstGeom prst="rect">
            <a:avLst/>
          </a:prstGeom>
          <a:noFill/>
          <a:ln>
            <a:noFill/>
          </a:ln>
        </p:spPr>
      </p:pic>
      <p:sp>
        <p:nvSpPr>
          <p:cNvPr id="222" name="Google Shape;222;p10"/>
          <p:cNvSpPr/>
          <p:nvPr/>
        </p:nvSpPr>
        <p:spPr>
          <a:xfrm>
            <a:off x="5852160" y="1600200"/>
            <a:ext cx="5760720" cy="658368"/>
          </a:xfrm>
          <a:prstGeom prst="roundRect">
            <a:avLst>
              <a:gd fmla="val 8333"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5998464" y="1719072"/>
            <a:ext cx="822960" cy="420624"/>
          </a:xfrm>
          <a:prstGeom prst="roundRect">
            <a:avLst>
              <a:gd fmla="val 10870" name="adj"/>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5998464" y="1719072"/>
            <a:ext cx="8229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A+</a:t>
            </a:r>
            <a:endParaRPr b="0" i="0" sz="1800" u="none" cap="none" strike="noStrike">
              <a:solidFill>
                <a:schemeClr val="dk1"/>
              </a:solidFill>
              <a:latin typeface="Calibri"/>
              <a:ea typeface="Calibri"/>
              <a:cs typeface="Calibri"/>
              <a:sym typeface="Calibri"/>
            </a:endParaRPr>
          </a:p>
        </p:txBody>
      </p:sp>
      <p:sp>
        <p:nvSpPr>
          <p:cNvPr id="225" name="Google Shape;225;p10"/>
          <p:cNvSpPr/>
          <p:nvPr/>
        </p:nvSpPr>
        <p:spPr>
          <a:xfrm>
            <a:off x="6995160" y="1600200"/>
            <a:ext cx="13716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90-100</a:t>
            </a:r>
            <a:endParaRPr b="0" i="0" sz="1400" u="none" cap="none" strike="noStrike">
              <a:solidFill>
                <a:schemeClr val="dk1"/>
              </a:solidFill>
              <a:latin typeface="Calibri"/>
              <a:ea typeface="Calibri"/>
              <a:cs typeface="Calibri"/>
              <a:sym typeface="Calibri"/>
            </a:endParaRPr>
          </a:p>
        </p:txBody>
      </p:sp>
      <p:sp>
        <p:nvSpPr>
          <p:cNvPr id="226" name="Google Shape;226;p10"/>
          <p:cNvSpPr/>
          <p:nvPr/>
        </p:nvSpPr>
        <p:spPr>
          <a:xfrm>
            <a:off x="8412480" y="1600200"/>
            <a:ext cx="30175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Hot lead, prioritize now</a:t>
            </a:r>
            <a:endParaRPr b="0" i="0" sz="1250" u="none" cap="none" strike="noStrike">
              <a:solidFill>
                <a:schemeClr val="dk1"/>
              </a:solidFill>
              <a:latin typeface="Calibri"/>
              <a:ea typeface="Calibri"/>
              <a:cs typeface="Calibri"/>
              <a:sym typeface="Calibri"/>
            </a:endParaRPr>
          </a:p>
        </p:txBody>
      </p:sp>
      <p:sp>
        <p:nvSpPr>
          <p:cNvPr id="227" name="Google Shape;227;p10"/>
          <p:cNvSpPr/>
          <p:nvPr/>
        </p:nvSpPr>
        <p:spPr>
          <a:xfrm>
            <a:off x="5852160" y="2404872"/>
            <a:ext cx="5760720" cy="658368"/>
          </a:xfrm>
          <a:prstGeom prst="roundRect">
            <a:avLst>
              <a:gd fmla="val 8333"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5998464" y="2523744"/>
            <a:ext cx="822960" cy="420624"/>
          </a:xfrm>
          <a:prstGeom prst="roundRect">
            <a:avLst>
              <a:gd fmla="val 10870" name="adj"/>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5998464" y="2523744"/>
            <a:ext cx="8229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A</a:t>
            </a:r>
            <a:endParaRPr b="0" i="0" sz="1800" u="none" cap="none" strike="noStrike">
              <a:solidFill>
                <a:schemeClr val="dk1"/>
              </a:solidFill>
              <a:latin typeface="Calibri"/>
              <a:ea typeface="Calibri"/>
              <a:cs typeface="Calibri"/>
              <a:sym typeface="Calibri"/>
            </a:endParaRPr>
          </a:p>
        </p:txBody>
      </p:sp>
      <p:sp>
        <p:nvSpPr>
          <p:cNvPr id="230" name="Google Shape;230;p10"/>
          <p:cNvSpPr/>
          <p:nvPr/>
        </p:nvSpPr>
        <p:spPr>
          <a:xfrm>
            <a:off x="6995160" y="2404872"/>
            <a:ext cx="13716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75-89</a:t>
            </a:r>
            <a:endParaRPr b="0" i="0" sz="1400" u="none" cap="none" strike="noStrike">
              <a:solidFill>
                <a:schemeClr val="dk1"/>
              </a:solidFill>
              <a:latin typeface="Calibri"/>
              <a:ea typeface="Calibri"/>
              <a:cs typeface="Calibri"/>
              <a:sym typeface="Calibri"/>
            </a:endParaRPr>
          </a:p>
        </p:txBody>
      </p:sp>
      <p:sp>
        <p:nvSpPr>
          <p:cNvPr id="231" name="Google Shape;231;p10"/>
          <p:cNvSpPr/>
          <p:nvPr/>
        </p:nvSpPr>
        <p:spPr>
          <a:xfrm>
            <a:off x="8412480" y="2404872"/>
            <a:ext cx="30175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Strong, worth real effort</a:t>
            </a:r>
            <a:endParaRPr b="0" i="0" sz="1250" u="none" cap="none" strike="noStrike">
              <a:solidFill>
                <a:schemeClr val="dk1"/>
              </a:solidFill>
              <a:latin typeface="Calibri"/>
              <a:ea typeface="Calibri"/>
              <a:cs typeface="Calibri"/>
              <a:sym typeface="Calibri"/>
            </a:endParaRPr>
          </a:p>
        </p:txBody>
      </p:sp>
      <p:sp>
        <p:nvSpPr>
          <p:cNvPr id="232" name="Google Shape;232;p10"/>
          <p:cNvSpPr/>
          <p:nvPr/>
        </p:nvSpPr>
        <p:spPr>
          <a:xfrm>
            <a:off x="5852160" y="3209544"/>
            <a:ext cx="5760720" cy="658368"/>
          </a:xfrm>
          <a:prstGeom prst="roundRect">
            <a:avLst>
              <a:gd fmla="val 8333"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5998464" y="3328416"/>
            <a:ext cx="822960" cy="420624"/>
          </a:xfrm>
          <a:prstGeom prst="roundRect">
            <a:avLst>
              <a:gd fmla="val 10870" name="adj"/>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5998464" y="3328416"/>
            <a:ext cx="8229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B</a:t>
            </a:r>
            <a:endParaRPr b="0" i="0" sz="1800" u="none" cap="none" strike="noStrike">
              <a:solidFill>
                <a:schemeClr val="dk1"/>
              </a:solidFill>
              <a:latin typeface="Calibri"/>
              <a:ea typeface="Calibri"/>
              <a:cs typeface="Calibri"/>
              <a:sym typeface="Calibri"/>
            </a:endParaRPr>
          </a:p>
        </p:txBody>
      </p:sp>
      <p:sp>
        <p:nvSpPr>
          <p:cNvPr id="235" name="Google Shape;235;p10"/>
          <p:cNvSpPr/>
          <p:nvPr/>
        </p:nvSpPr>
        <p:spPr>
          <a:xfrm>
            <a:off x="6995160" y="3209544"/>
            <a:ext cx="13716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60-74</a:t>
            </a:r>
            <a:endParaRPr b="0" i="0" sz="1400" u="none" cap="none" strike="noStrike">
              <a:solidFill>
                <a:schemeClr val="dk1"/>
              </a:solidFill>
              <a:latin typeface="Calibri"/>
              <a:ea typeface="Calibri"/>
              <a:cs typeface="Calibri"/>
              <a:sym typeface="Calibri"/>
            </a:endParaRPr>
          </a:p>
        </p:txBody>
      </p:sp>
      <p:sp>
        <p:nvSpPr>
          <p:cNvPr id="236" name="Google Shape;236;p10"/>
          <p:cNvSpPr/>
          <p:nvPr/>
        </p:nvSpPr>
        <p:spPr>
          <a:xfrm>
            <a:off x="8412480" y="3209544"/>
            <a:ext cx="30175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Qualified, standard approach</a:t>
            </a:r>
            <a:endParaRPr b="0" i="0" sz="1250" u="none" cap="none" strike="noStrike">
              <a:solidFill>
                <a:schemeClr val="dk1"/>
              </a:solidFill>
              <a:latin typeface="Calibri"/>
              <a:ea typeface="Calibri"/>
              <a:cs typeface="Calibri"/>
              <a:sym typeface="Calibri"/>
            </a:endParaRPr>
          </a:p>
        </p:txBody>
      </p:sp>
      <p:sp>
        <p:nvSpPr>
          <p:cNvPr id="237" name="Google Shape;237;p10"/>
          <p:cNvSpPr/>
          <p:nvPr/>
        </p:nvSpPr>
        <p:spPr>
          <a:xfrm>
            <a:off x="5852160" y="4014216"/>
            <a:ext cx="5760720" cy="658368"/>
          </a:xfrm>
          <a:prstGeom prst="roundRect">
            <a:avLst>
              <a:gd fmla="val 8333"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5998464" y="4133088"/>
            <a:ext cx="822960" cy="420624"/>
          </a:xfrm>
          <a:prstGeom prst="roundRect">
            <a:avLst>
              <a:gd fmla="val 10870" name="adj"/>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5998464" y="4133088"/>
            <a:ext cx="8229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C</a:t>
            </a:r>
            <a:endParaRPr b="0" i="0" sz="1800" u="none" cap="none" strike="noStrike">
              <a:solidFill>
                <a:schemeClr val="dk1"/>
              </a:solidFill>
              <a:latin typeface="Calibri"/>
              <a:ea typeface="Calibri"/>
              <a:cs typeface="Calibri"/>
              <a:sym typeface="Calibri"/>
            </a:endParaRPr>
          </a:p>
        </p:txBody>
      </p:sp>
      <p:sp>
        <p:nvSpPr>
          <p:cNvPr id="240" name="Google Shape;240;p10"/>
          <p:cNvSpPr/>
          <p:nvPr/>
        </p:nvSpPr>
        <p:spPr>
          <a:xfrm>
            <a:off x="6995160" y="4014216"/>
            <a:ext cx="13716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40-59</a:t>
            </a:r>
            <a:endParaRPr b="0" i="0" sz="1400" u="none" cap="none" strike="noStrike">
              <a:solidFill>
                <a:schemeClr val="dk1"/>
              </a:solidFill>
              <a:latin typeface="Calibri"/>
              <a:ea typeface="Calibri"/>
              <a:cs typeface="Calibri"/>
              <a:sym typeface="Calibri"/>
            </a:endParaRPr>
          </a:p>
        </p:txBody>
      </p:sp>
      <p:sp>
        <p:nvSpPr>
          <p:cNvPr id="241" name="Google Shape;241;p10"/>
          <p:cNvSpPr/>
          <p:nvPr/>
        </p:nvSpPr>
        <p:spPr>
          <a:xfrm>
            <a:off x="8412480" y="4014216"/>
            <a:ext cx="30175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Nurture, do not hard sell</a:t>
            </a:r>
            <a:endParaRPr b="0" i="0" sz="1250" u="none" cap="none" strike="noStrike">
              <a:solidFill>
                <a:schemeClr val="dk1"/>
              </a:solidFill>
              <a:latin typeface="Calibri"/>
              <a:ea typeface="Calibri"/>
              <a:cs typeface="Calibri"/>
              <a:sym typeface="Calibri"/>
            </a:endParaRPr>
          </a:p>
        </p:txBody>
      </p:sp>
      <p:sp>
        <p:nvSpPr>
          <p:cNvPr id="242" name="Google Shape;242;p10"/>
          <p:cNvSpPr/>
          <p:nvPr/>
        </p:nvSpPr>
        <p:spPr>
          <a:xfrm>
            <a:off x="5852160" y="4818888"/>
            <a:ext cx="5760720" cy="658368"/>
          </a:xfrm>
          <a:prstGeom prst="roundRect">
            <a:avLst>
              <a:gd fmla="val 8333"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
          <p:cNvSpPr/>
          <p:nvPr/>
        </p:nvSpPr>
        <p:spPr>
          <a:xfrm>
            <a:off x="5998464" y="4937760"/>
            <a:ext cx="822960" cy="420624"/>
          </a:xfrm>
          <a:prstGeom prst="roundRect">
            <a:avLst>
              <a:gd fmla="val 10870" name="adj"/>
            </a:avLst>
          </a:prstGeom>
          <a:solidFill>
            <a:srgbClr val="B4564B"/>
          </a:solidFill>
          <a:ln cap="flat" cmpd="sng" w="12700">
            <a:solidFill>
              <a:srgbClr val="B456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
          <p:cNvSpPr/>
          <p:nvPr/>
        </p:nvSpPr>
        <p:spPr>
          <a:xfrm>
            <a:off x="5998464" y="4937760"/>
            <a:ext cx="8229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D</a:t>
            </a:r>
            <a:endParaRPr b="0" i="0" sz="1800" u="none" cap="none" strike="noStrike">
              <a:solidFill>
                <a:schemeClr val="dk1"/>
              </a:solidFill>
              <a:latin typeface="Calibri"/>
              <a:ea typeface="Calibri"/>
              <a:cs typeface="Calibri"/>
              <a:sym typeface="Calibri"/>
            </a:endParaRPr>
          </a:p>
        </p:txBody>
      </p:sp>
      <p:sp>
        <p:nvSpPr>
          <p:cNvPr id="245" name="Google Shape;245;p10"/>
          <p:cNvSpPr/>
          <p:nvPr/>
        </p:nvSpPr>
        <p:spPr>
          <a:xfrm>
            <a:off x="6995160" y="4818888"/>
            <a:ext cx="13716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0-39</a:t>
            </a:r>
            <a:endParaRPr b="0" i="0" sz="1400" u="none" cap="none" strike="noStrike">
              <a:solidFill>
                <a:schemeClr val="dk1"/>
              </a:solidFill>
              <a:latin typeface="Calibri"/>
              <a:ea typeface="Calibri"/>
              <a:cs typeface="Calibri"/>
              <a:sym typeface="Calibri"/>
            </a:endParaRPr>
          </a:p>
        </p:txBody>
      </p:sp>
      <p:sp>
        <p:nvSpPr>
          <p:cNvPr id="246" name="Google Shape;246;p10"/>
          <p:cNvSpPr/>
          <p:nvPr/>
        </p:nvSpPr>
        <p:spPr>
          <a:xfrm>
            <a:off x="8412480" y="4818888"/>
            <a:ext cx="301752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Poor fit, deprioritize</a:t>
            </a:r>
            <a:endParaRPr b="0" i="0" sz="1250" u="none" cap="none" strike="noStrike">
              <a:solidFill>
                <a:schemeClr val="dk1"/>
              </a:solidFill>
              <a:latin typeface="Calibri"/>
              <a:ea typeface="Calibri"/>
              <a:cs typeface="Calibri"/>
              <a:sym typeface="Calibri"/>
            </a:endParaRPr>
          </a:p>
        </p:txBody>
      </p:sp>
      <p:sp>
        <p:nvSpPr>
          <p:cNvPr id="247" name="Google Shape;247;p10"/>
          <p:cNvSpPr/>
          <p:nvPr/>
        </p:nvSpPr>
        <p:spPr>
          <a:xfrm>
            <a:off x="548640" y="5989320"/>
            <a:ext cx="110642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50"/>
              <a:buFont typeface="Calibri"/>
              <a:buNone/>
            </a:pPr>
            <a:r>
              <a:rPr b="0" i="1" lang="en-US" sz="1250" u="none" cap="none" strike="noStrike">
                <a:solidFill>
                  <a:srgbClr val="64748B"/>
                </a:solidFill>
                <a:latin typeface="Calibri"/>
                <a:ea typeface="Calibri"/>
                <a:cs typeface="Calibri"/>
                <a:sym typeface="Calibri"/>
              </a:rPr>
              <a:t>The five categories compose into one number. Qualification feeds Opportunity Quality through BANT and MEDDIC, each dimension scored zero to twenty five with recorded evidence.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52" name="Shape 252"/>
        <p:cNvGrpSpPr/>
        <p:nvPr/>
      </p:nvGrpSpPr>
      <p:grpSpPr>
        <a:xfrm>
          <a:off x="0" y="0"/>
          <a:ext cx="0" cy="0"/>
          <a:chOff x="0" y="0"/>
          <a:chExt cx="0" cy="0"/>
        </a:xfrm>
      </p:grpSpPr>
      <p:sp>
        <p:nvSpPr>
          <p:cNvPr id="253" name="Google Shape;253;p11"/>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WALKTHROUGH</a:t>
            </a:r>
            <a:endParaRPr b="0" i="0" sz="1200" u="none" cap="none" strike="noStrike">
              <a:solidFill>
                <a:schemeClr val="dk1"/>
              </a:solidFill>
              <a:latin typeface="Calibri"/>
              <a:ea typeface="Calibri"/>
              <a:cs typeface="Calibri"/>
              <a:sym typeface="Calibri"/>
            </a:endParaRPr>
          </a:p>
        </p:txBody>
      </p:sp>
      <p:sp>
        <p:nvSpPr>
          <p:cNvPr id="254" name="Google Shape;254;p11"/>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mbria"/>
              <a:buNone/>
            </a:pPr>
            <a:r>
              <a:rPr b="1" i="0" lang="en-US" sz="2800" u="none" cap="none" strike="noStrike">
                <a:solidFill>
                  <a:srgbClr val="0F172A"/>
                </a:solidFill>
                <a:latin typeface="Cambria"/>
                <a:ea typeface="Cambria"/>
                <a:cs typeface="Cambria"/>
                <a:sym typeface="Cambria"/>
              </a:rPr>
              <a:t>Both streams, one pipeline, six steps</a:t>
            </a:r>
            <a:endParaRPr b="0" i="0" sz="2800" u="none" cap="none" strike="noStrike">
              <a:solidFill>
                <a:schemeClr val="dk1"/>
              </a:solidFill>
              <a:latin typeface="Calibri"/>
              <a:ea typeface="Calibri"/>
              <a:cs typeface="Calibri"/>
              <a:sym typeface="Calibri"/>
            </a:endParaRPr>
          </a:p>
        </p:txBody>
      </p:sp>
      <p:sp>
        <p:nvSpPr>
          <p:cNvPr id="255" name="Google Shape;255;p11"/>
          <p:cNvSpPr/>
          <p:nvPr/>
        </p:nvSpPr>
        <p:spPr>
          <a:xfrm>
            <a:off x="548640" y="1783080"/>
            <a:ext cx="347472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804672" y="2039112"/>
            <a:ext cx="566928" cy="566928"/>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804672" y="203911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1</a:t>
            </a:r>
            <a:endParaRPr b="0" i="0" sz="2200" u="none" cap="none" strike="noStrike">
              <a:solidFill>
                <a:schemeClr val="dk1"/>
              </a:solidFill>
              <a:latin typeface="Calibri"/>
              <a:ea typeface="Calibri"/>
              <a:cs typeface="Calibri"/>
              <a:sym typeface="Calibri"/>
            </a:endParaRPr>
          </a:p>
        </p:txBody>
      </p:sp>
      <p:sp>
        <p:nvSpPr>
          <p:cNvPr id="258" name="Google Shape;258;p11"/>
          <p:cNvSpPr/>
          <p:nvPr/>
        </p:nvSpPr>
        <p:spPr>
          <a:xfrm>
            <a:off x="1508760" y="205740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Enter</a:t>
            </a:r>
            <a:endParaRPr b="0" i="0" sz="1900" u="none" cap="none" strike="noStrike">
              <a:solidFill>
                <a:schemeClr val="dk1"/>
              </a:solidFill>
              <a:latin typeface="Calibri"/>
              <a:ea typeface="Calibri"/>
              <a:cs typeface="Calibri"/>
              <a:sym typeface="Calibri"/>
            </a:endParaRPr>
          </a:p>
        </p:txBody>
      </p:sp>
      <p:sp>
        <p:nvSpPr>
          <p:cNvPr id="259" name="Google Shape;259;p11"/>
          <p:cNvSpPr/>
          <p:nvPr/>
        </p:nvSpPr>
        <p:spPr>
          <a:xfrm>
            <a:off x="822960" y="2624328"/>
            <a:ext cx="292608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Inbound books, or you add an outbound target</a:t>
            </a:r>
            <a:endParaRPr b="0" i="0" sz="1250" u="none" cap="none" strike="noStrike">
              <a:solidFill>
                <a:schemeClr val="dk1"/>
              </a:solidFill>
              <a:latin typeface="Calibri"/>
              <a:ea typeface="Calibri"/>
              <a:cs typeface="Calibri"/>
              <a:sym typeface="Calibri"/>
            </a:endParaRPr>
          </a:p>
        </p:txBody>
      </p:sp>
      <p:cxnSp>
        <p:nvCxnSpPr>
          <p:cNvPr id="260" name="Google Shape;260;p11"/>
          <p:cNvCxnSpPr/>
          <p:nvPr/>
        </p:nvCxnSpPr>
        <p:spPr>
          <a:xfrm>
            <a:off x="4023360" y="2468880"/>
            <a:ext cx="411480" cy="0"/>
          </a:xfrm>
          <a:prstGeom prst="straightConnector1">
            <a:avLst/>
          </a:prstGeom>
          <a:noFill/>
          <a:ln cap="flat" cmpd="sng" w="28575">
            <a:solidFill>
              <a:srgbClr val="64748B"/>
            </a:solidFill>
            <a:prstDash val="solid"/>
            <a:round/>
            <a:headEnd len="sm" w="sm" type="none"/>
            <a:tailEnd len="med" w="med" type="triangle"/>
          </a:ln>
        </p:spPr>
      </p:cxnSp>
      <p:sp>
        <p:nvSpPr>
          <p:cNvPr id="261" name="Google Shape;261;p11"/>
          <p:cNvSpPr/>
          <p:nvPr/>
        </p:nvSpPr>
        <p:spPr>
          <a:xfrm>
            <a:off x="4434840" y="1783080"/>
            <a:ext cx="347472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4690872" y="2039112"/>
            <a:ext cx="566928" cy="566928"/>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a:off x="4690872" y="203911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2</a:t>
            </a:r>
            <a:endParaRPr b="0" i="0" sz="2200" u="none" cap="none" strike="noStrike">
              <a:solidFill>
                <a:schemeClr val="dk1"/>
              </a:solidFill>
              <a:latin typeface="Calibri"/>
              <a:ea typeface="Calibri"/>
              <a:cs typeface="Calibri"/>
              <a:sym typeface="Calibri"/>
            </a:endParaRPr>
          </a:p>
        </p:txBody>
      </p:sp>
      <p:sp>
        <p:nvSpPr>
          <p:cNvPr id="264" name="Google Shape;264;p11"/>
          <p:cNvSpPr/>
          <p:nvPr/>
        </p:nvSpPr>
        <p:spPr>
          <a:xfrm>
            <a:off x="5394960" y="205740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Prospect</a:t>
            </a:r>
            <a:endParaRPr b="0" i="0" sz="1900" u="none" cap="none" strike="noStrike">
              <a:solidFill>
                <a:schemeClr val="dk1"/>
              </a:solidFill>
              <a:latin typeface="Calibri"/>
              <a:ea typeface="Calibri"/>
              <a:cs typeface="Calibri"/>
              <a:sym typeface="Calibri"/>
            </a:endParaRPr>
          </a:p>
        </p:txBody>
      </p:sp>
      <p:sp>
        <p:nvSpPr>
          <p:cNvPr id="265" name="Google Shape;265;p11"/>
          <p:cNvSpPr/>
          <p:nvPr/>
        </p:nvSpPr>
        <p:spPr>
          <a:xfrm>
            <a:off x="4709160" y="2624328"/>
            <a:ext cx="292608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Crew runs discovery and the five agents</a:t>
            </a:r>
            <a:endParaRPr b="0" i="0" sz="1250" u="none" cap="none" strike="noStrike">
              <a:solidFill>
                <a:schemeClr val="dk1"/>
              </a:solidFill>
              <a:latin typeface="Calibri"/>
              <a:ea typeface="Calibri"/>
              <a:cs typeface="Calibri"/>
              <a:sym typeface="Calibri"/>
            </a:endParaRPr>
          </a:p>
        </p:txBody>
      </p:sp>
      <p:cxnSp>
        <p:nvCxnSpPr>
          <p:cNvPr id="266" name="Google Shape;266;p11"/>
          <p:cNvCxnSpPr/>
          <p:nvPr/>
        </p:nvCxnSpPr>
        <p:spPr>
          <a:xfrm>
            <a:off x="7909560" y="2468880"/>
            <a:ext cx="411480" cy="0"/>
          </a:xfrm>
          <a:prstGeom prst="straightConnector1">
            <a:avLst/>
          </a:prstGeom>
          <a:noFill/>
          <a:ln cap="flat" cmpd="sng" w="28575">
            <a:solidFill>
              <a:srgbClr val="64748B"/>
            </a:solidFill>
            <a:prstDash val="solid"/>
            <a:round/>
            <a:headEnd len="sm" w="sm" type="none"/>
            <a:tailEnd len="med" w="med" type="triangle"/>
          </a:ln>
        </p:spPr>
      </p:cxnSp>
      <p:sp>
        <p:nvSpPr>
          <p:cNvPr id="267" name="Google Shape;267;p11"/>
          <p:cNvSpPr/>
          <p:nvPr/>
        </p:nvSpPr>
        <p:spPr>
          <a:xfrm>
            <a:off x="8321040" y="1783080"/>
            <a:ext cx="347472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a:off x="8577072" y="2039112"/>
            <a:ext cx="566928" cy="566928"/>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1"/>
          <p:cNvSpPr/>
          <p:nvPr/>
        </p:nvSpPr>
        <p:spPr>
          <a:xfrm>
            <a:off x="8577072" y="203911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3</a:t>
            </a:r>
            <a:endParaRPr b="0" i="0" sz="2200" u="none" cap="none" strike="noStrike">
              <a:solidFill>
                <a:schemeClr val="dk1"/>
              </a:solidFill>
              <a:latin typeface="Calibri"/>
              <a:ea typeface="Calibri"/>
              <a:cs typeface="Calibri"/>
              <a:sym typeface="Calibri"/>
            </a:endParaRPr>
          </a:p>
        </p:txBody>
      </p:sp>
      <p:sp>
        <p:nvSpPr>
          <p:cNvPr id="270" name="Google Shape;270;p11"/>
          <p:cNvSpPr/>
          <p:nvPr/>
        </p:nvSpPr>
        <p:spPr>
          <a:xfrm>
            <a:off x="9281160" y="205740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Qualify</a:t>
            </a:r>
            <a:endParaRPr b="0" i="0" sz="1900" u="none" cap="none" strike="noStrike">
              <a:solidFill>
                <a:schemeClr val="dk1"/>
              </a:solidFill>
              <a:latin typeface="Calibri"/>
              <a:ea typeface="Calibri"/>
              <a:cs typeface="Calibri"/>
              <a:sym typeface="Calibri"/>
            </a:endParaRPr>
          </a:p>
        </p:txBody>
      </p:sp>
      <p:sp>
        <p:nvSpPr>
          <p:cNvPr id="271" name="Google Shape;271;p11"/>
          <p:cNvSpPr/>
          <p:nvPr/>
        </p:nvSpPr>
        <p:spPr>
          <a:xfrm>
            <a:off x="8595360" y="2624328"/>
            <a:ext cx="292608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BANT and MEDDIC set Opportunity Quality</a:t>
            </a:r>
            <a:endParaRPr b="0" i="0" sz="1250" u="none" cap="none" strike="noStrike">
              <a:solidFill>
                <a:schemeClr val="dk1"/>
              </a:solidFill>
              <a:latin typeface="Calibri"/>
              <a:ea typeface="Calibri"/>
              <a:cs typeface="Calibri"/>
              <a:sym typeface="Calibri"/>
            </a:endParaRPr>
          </a:p>
        </p:txBody>
      </p:sp>
      <p:sp>
        <p:nvSpPr>
          <p:cNvPr id="272" name="Google Shape;272;p11"/>
          <p:cNvSpPr/>
          <p:nvPr/>
        </p:nvSpPr>
        <p:spPr>
          <a:xfrm>
            <a:off x="548640" y="3794760"/>
            <a:ext cx="347472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1"/>
          <p:cNvSpPr/>
          <p:nvPr/>
        </p:nvSpPr>
        <p:spPr>
          <a:xfrm>
            <a:off x="804672" y="4050792"/>
            <a:ext cx="566928" cy="566928"/>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804672" y="405079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4</a:t>
            </a:r>
            <a:endParaRPr b="0" i="0" sz="2200" u="none" cap="none" strike="noStrike">
              <a:solidFill>
                <a:schemeClr val="dk1"/>
              </a:solidFill>
              <a:latin typeface="Calibri"/>
              <a:ea typeface="Calibri"/>
              <a:cs typeface="Calibri"/>
              <a:sym typeface="Calibri"/>
            </a:endParaRPr>
          </a:p>
        </p:txBody>
      </p:sp>
      <p:sp>
        <p:nvSpPr>
          <p:cNvPr id="275" name="Google Shape;275;p11"/>
          <p:cNvSpPr/>
          <p:nvPr/>
        </p:nvSpPr>
        <p:spPr>
          <a:xfrm>
            <a:off x="1508760" y="406908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Score</a:t>
            </a:r>
            <a:endParaRPr b="0" i="0" sz="1900" u="none" cap="none" strike="noStrike">
              <a:solidFill>
                <a:schemeClr val="dk1"/>
              </a:solidFill>
              <a:latin typeface="Calibri"/>
              <a:ea typeface="Calibri"/>
              <a:cs typeface="Calibri"/>
              <a:sym typeface="Calibri"/>
            </a:endParaRPr>
          </a:p>
        </p:txBody>
      </p:sp>
      <p:sp>
        <p:nvSpPr>
          <p:cNvPr id="276" name="Google Shape;276;p11"/>
          <p:cNvSpPr/>
          <p:nvPr/>
        </p:nvSpPr>
        <p:spPr>
          <a:xfrm>
            <a:off x="822960" y="4636008"/>
            <a:ext cx="292608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Composite 0-100 and a grade</a:t>
            </a:r>
            <a:endParaRPr b="0" i="0" sz="1250" u="none" cap="none" strike="noStrike">
              <a:solidFill>
                <a:schemeClr val="dk1"/>
              </a:solidFill>
              <a:latin typeface="Calibri"/>
              <a:ea typeface="Calibri"/>
              <a:cs typeface="Calibri"/>
              <a:sym typeface="Calibri"/>
            </a:endParaRPr>
          </a:p>
        </p:txBody>
      </p:sp>
      <p:cxnSp>
        <p:nvCxnSpPr>
          <p:cNvPr id="277" name="Google Shape;277;p11"/>
          <p:cNvCxnSpPr/>
          <p:nvPr/>
        </p:nvCxnSpPr>
        <p:spPr>
          <a:xfrm>
            <a:off x="4023360" y="4480560"/>
            <a:ext cx="411480" cy="0"/>
          </a:xfrm>
          <a:prstGeom prst="straightConnector1">
            <a:avLst/>
          </a:prstGeom>
          <a:noFill/>
          <a:ln cap="flat" cmpd="sng" w="28575">
            <a:solidFill>
              <a:srgbClr val="64748B"/>
            </a:solidFill>
            <a:prstDash val="solid"/>
            <a:round/>
            <a:headEnd len="sm" w="sm" type="none"/>
            <a:tailEnd len="med" w="med" type="triangle"/>
          </a:ln>
        </p:spPr>
      </p:cxnSp>
      <p:sp>
        <p:nvSpPr>
          <p:cNvPr id="278" name="Google Shape;278;p11"/>
          <p:cNvSpPr/>
          <p:nvPr/>
        </p:nvSpPr>
        <p:spPr>
          <a:xfrm>
            <a:off x="4434840" y="3794760"/>
            <a:ext cx="347472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p:nvPr/>
        </p:nvSpPr>
        <p:spPr>
          <a:xfrm>
            <a:off x="4690872" y="4050792"/>
            <a:ext cx="566928" cy="566928"/>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p:nvPr/>
        </p:nvSpPr>
        <p:spPr>
          <a:xfrm>
            <a:off x="4690872" y="405079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5</a:t>
            </a:r>
            <a:endParaRPr b="0" i="0" sz="2200" u="none" cap="none" strike="noStrike">
              <a:solidFill>
                <a:schemeClr val="dk1"/>
              </a:solidFill>
              <a:latin typeface="Calibri"/>
              <a:ea typeface="Calibri"/>
              <a:cs typeface="Calibri"/>
              <a:sym typeface="Calibri"/>
            </a:endParaRPr>
          </a:p>
        </p:txBody>
      </p:sp>
      <p:sp>
        <p:nvSpPr>
          <p:cNvPr id="281" name="Google Shape;281;p11"/>
          <p:cNvSpPr/>
          <p:nvPr/>
        </p:nvSpPr>
        <p:spPr>
          <a:xfrm>
            <a:off x="5394960" y="406908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Prep</a:t>
            </a:r>
            <a:endParaRPr b="0" i="0" sz="1900" u="none" cap="none" strike="noStrike">
              <a:solidFill>
                <a:schemeClr val="dk1"/>
              </a:solidFill>
              <a:latin typeface="Calibri"/>
              <a:ea typeface="Calibri"/>
              <a:cs typeface="Calibri"/>
              <a:sym typeface="Calibri"/>
            </a:endParaRPr>
          </a:p>
        </p:txBody>
      </p:sp>
      <p:sp>
        <p:nvSpPr>
          <p:cNvPr id="282" name="Google Shape;282;p11"/>
          <p:cNvSpPr/>
          <p:nvPr/>
        </p:nvSpPr>
        <p:spPr>
          <a:xfrm>
            <a:off x="4709160" y="4636008"/>
            <a:ext cx="292608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Contacts mapped, brief and outreach drafted</a:t>
            </a:r>
            <a:endParaRPr b="0" i="0" sz="1250" u="none" cap="none" strike="noStrike">
              <a:solidFill>
                <a:schemeClr val="dk1"/>
              </a:solidFill>
              <a:latin typeface="Calibri"/>
              <a:ea typeface="Calibri"/>
              <a:cs typeface="Calibri"/>
              <a:sym typeface="Calibri"/>
            </a:endParaRPr>
          </a:p>
        </p:txBody>
      </p:sp>
      <p:cxnSp>
        <p:nvCxnSpPr>
          <p:cNvPr id="283" name="Google Shape;283;p11"/>
          <p:cNvCxnSpPr/>
          <p:nvPr/>
        </p:nvCxnSpPr>
        <p:spPr>
          <a:xfrm>
            <a:off x="7909560" y="4480560"/>
            <a:ext cx="411480" cy="0"/>
          </a:xfrm>
          <a:prstGeom prst="straightConnector1">
            <a:avLst/>
          </a:prstGeom>
          <a:noFill/>
          <a:ln cap="flat" cmpd="sng" w="28575">
            <a:solidFill>
              <a:srgbClr val="64748B"/>
            </a:solidFill>
            <a:prstDash val="solid"/>
            <a:round/>
            <a:headEnd len="sm" w="sm" type="none"/>
            <a:tailEnd len="med" w="med" type="triangle"/>
          </a:ln>
        </p:spPr>
      </p:cxnSp>
      <p:sp>
        <p:nvSpPr>
          <p:cNvPr id="284" name="Google Shape;284;p11"/>
          <p:cNvSpPr/>
          <p:nvPr/>
        </p:nvSpPr>
        <p:spPr>
          <a:xfrm>
            <a:off x="8321040" y="3794760"/>
            <a:ext cx="347472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p:nvPr/>
        </p:nvSpPr>
        <p:spPr>
          <a:xfrm>
            <a:off x="8577072" y="4050792"/>
            <a:ext cx="566928" cy="566928"/>
          </a:xfrm>
          <a:prstGeom prst="ellipse">
            <a:avLst/>
          </a:prstGeom>
          <a:solidFill>
            <a:srgbClr val="3F8F6B"/>
          </a:solidFill>
          <a:ln cap="flat" cmpd="sng" w="127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8577072" y="405079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6</a:t>
            </a:r>
            <a:endParaRPr b="0" i="0" sz="2200" u="none" cap="none" strike="noStrike">
              <a:solidFill>
                <a:schemeClr val="dk1"/>
              </a:solidFill>
              <a:latin typeface="Calibri"/>
              <a:ea typeface="Calibri"/>
              <a:cs typeface="Calibri"/>
              <a:sym typeface="Calibri"/>
            </a:endParaRPr>
          </a:p>
        </p:txBody>
      </p:sp>
      <p:sp>
        <p:nvSpPr>
          <p:cNvPr id="287" name="Google Shape;287;p11"/>
          <p:cNvSpPr/>
          <p:nvPr/>
        </p:nvSpPr>
        <p:spPr>
          <a:xfrm>
            <a:off x="9281160" y="4069080"/>
            <a:ext cx="2331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Work</a:t>
            </a:r>
            <a:endParaRPr b="0" i="0" sz="1900" u="none" cap="none" strike="noStrike">
              <a:solidFill>
                <a:schemeClr val="dk1"/>
              </a:solidFill>
              <a:latin typeface="Calibri"/>
              <a:ea typeface="Calibri"/>
              <a:cs typeface="Calibri"/>
              <a:sym typeface="Calibri"/>
            </a:endParaRPr>
          </a:p>
        </p:txBody>
      </p:sp>
      <p:sp>
        <p:nvSpPr>
          <p:cNvPr id="288" name="Google Shape;288;p11"/>
          <p:cNvSpPr/>
          <p:nvPr/>
        </p:nvSpPr>
        <p:spPr>
          <a:xfrm>
            <a:off x="8595360" y="4636008"/>
            <a:ext cx="292608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You review in the console and close</a:t>
            </a:r>
            <a:endParaRPr b="0" i="0" sz="1250" u="none" cap="none" strike="noStrike">
              <a:solidFill>
                <a:schemeClr val="dk1"/>
              </a:solidFill>
              <a:latin typeface="Calibri"/>
              <a:ea typeface="Calibri"/>
              <a:cs typeface="Calibri"/>
              <a:sym typeface="Calibri"/>
            </a:endParaRPr>
          </a:p>
        </p:txBody>
      </p:sp>
      <p:cxnSp>
        <p:nvCxnSpPr>
          <p:cNvPr id="289" name="Google Shape;289;p11"/>
          <p:cNvCxnSpPr/>
          <p:nvPr/>
        </p:nvCxnSpPr>
        <p:spPr>
          <a:xfrm>
            <a:off x="2286000" y="3154680"/>
            <a:ext cx="9509760" cy="640080"/>
          </a:xfrm>
          <a:prstGeom prst="straightConnector1">
            <a:avLst/>
          </a:prstGeom>
          <a:noFill/>
          <a:ln cap="flat" cmpd="sng" w="28575">
            <a:solidFill>
              <a:srgbClr val="64748B"/>
            </a:solidFill>
            <a:prstDash val="solid"/>
            <a:round/>
            <a:headEnd len="sm" w="sm" type="none"/>
            <a:tailEnd len="med" w="med" type="triangle"/>
          </a:ln>
        </p:spPr>
      </p:cxnSp>
      <p:sp>
        <p:nvSpPr>
          <p:cNvPr id="290" name="Google Shape;290;p11"/>
          <p:cNvSpPr/>
          <p:nvPr/>
        </p:nvSpPr>
        <p:spPr>
          <a:xfrm>
            <a:off x="548640" y="5989320"/>
            <a:ext cx="110642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Steps two through five are the crew running on its own. You only join at step six.</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5" name="Shape 295"/>
        <p:cNvGrpSpPr/>
        <p:nvPr/>
      </p:nvGrpSpPr>
      <p:grpSpPr>
        <a:xfrm>
          <a:off x="0" y="0"/>
          <a:ext cx="0" cy="0"/>
          <a:chOff x="0" y="0"/>
          <a:chExt cx="0" cy="0"/>
        </a:xfrm>
      </p:grpSpPr>
      <p:sp>
        <p:nvSpPr>
          <p:cNvPr id="296" name="Google Shape;296;p12"/>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FAITHFUL INCORPORATION, VERIFIED AGAINST THE REPO</a:t>
            </a:r>
            <a:endParaRPr b="0" i="0" sz="1200" u="none" cap="none" strike="noStrike">
              <a:solidFill>
                <a:schemeClr val="dk1"/>
              </a:solidFill>
              <a:latin typeface="Calibri"/>
              <a:ea typeface="Calibri"/>
              <a:cs typeface="Calibri"/>
              <a:sym typeface="Calibri"/>
            </a:endParaRPr>
          </a:p>
        </p:txBody>
      </p:sp>
      <p:sp>
        <p:nvSpPr>
          <p:cNvPr id="297" name="Google Shape;297;p12"/>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mbria"/>
              <a:buNone/>
            </a:pPr>
            <a:r>
              <a:rPr b="1" i="0" lang="en-US" sz="2800" u="none" cap="none" strike="noStrike">
                <a:solidFill>
                  <a:srgbClr val="0F172A"/>
                </a:solidFill>
                <a:latin typeface="Cambria"/>
                <a:ea typeface="Cambria"/>
                <a:cs typeface="Cambria"/>
                <a:sym typeface="Cambria"/>
              </a:rPr>
              <a:t>What comes straight from the reference build</a:t>
            </a:r>
            <a:endParaRPr b="0" i="0" sz="2800" u="none" cap="none" strike="noStrike">
              <a:solidFill>
                <a:schemeClr val="dk1"/>
              </a:solidFill>
              <a:latin typeface="Calibri"/>
              <a:ea typeface="Calibri"/>
              <a:cs typeface="Calibri"/>
              <a:sym typeface="Calibri"/>
            </a:endParaRPr>
          </a:p>
        </p:txBody>
      </p:sp>
      <p:sp>
        <p:nvSpPr>
          <p:cNvPr id="298" name="Google Shape;298;p12"/>
          <p:cNvSpPr/>
          <p:nvPr/>
        </p:nvSpPr>
        <p:spPr>
          <a:xfrm>
            <a:off x="548640" y="1600200"/>
            <a:ext cx="5440680" cy="841248"/>
          </a:xfrm>
          <a:prstGeom prst="roundRect">
            <a:avLst>
              <a:gd fmla="val 6522"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2"/>
          <p:cNvSpPr/>
          <p:nvPr/>
        </p:nvSpPr>
        <p:spPr>
          <a:xfrm>
            <a:off x="777240" y="1709928"/>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400"/>
              <a:buFont typeface="Calibri"/>
              <a:buNone/>
            </a:pPr>
            <a:r>
              <a:rPr b="1" i="0" lang="en-US" sz="1400" u="none" cap="none" strike="noStrike">
                <a:solidFill>
                  <a:srgbClr val="2E5E8C"/>
                </a:solidFill>
                <a:latin typeface="Calibri"/>
                <a:ea typeface="Calibri"/>
                <a:cs typeface="Calibri"/>
                <a:sym typeface="Calibri"/>
              </a:rPr>
              <a:t>Orchestrator</a:t>
            </a:r>
            <a:endParaRPr b="0" i="0" sz="1400" u="none" cap="none" strike="noStrike">
              <a:solidFill>
                <a:schemeClr val="dk1"/>
              </a:solidFill>
              <a:latin typeface="Calibri"/>
              <a:ea typeface="Calibri"/>
              <a:cs typeface="Calibri"/>
              <a:sym typeface="Calibri"/>
            </a:endParaRPr>
          </a:p>
        </p:txBody>
      </p:sp>
      <p:sp>
        <p:nvSpPr>
          <p:cNvPr id="300" name="Google Shape;300;p12"/>
          <p:cNvSpPr/>
          <p:nvPr/>
        </p:nvSpPr>
        <p:spPr>
          <a:xfrm>
            <a:off x="777240" y="2020824"/>
            <a:ext cx="4983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/sales becomes /atrium, same routing</a:t>
            </a:r>
            <a:endParaRPr b="0" i="0" sz="1150" u="none" cap="none" strike="noStrike">
              <a:solidFill>
                <a:schemeClr val="dk1"/>
              </a:solidFill>
              <a:latin typeface="Calibri"/>
              <a:ea typeface="Calibri"/>
              <a:cs typeface="Calibri"/>
              <a:sym typeface="Calibri"/>
            </a:endParaRPr>
          </a:p>
        </p:txBody>
      </p:sp>
      <p:sp>
        <p:nvSpPr>
          <p:cNvPr id="301" name="Google Shape;301;p12"/>
          <p:cNvSpPr/>
          <p:nvPr/>
        </p:nvSpPr>
        <p:spPr>
          <a:xfrm>
            <a:off x="6446520" y="1600200"/>
            <a:ext cx="5440680" cy="841248"/>
          </a:xfrm>
          <a:prstGeom prst="roundRect">
            <a:avLst>
              <a:gd fmla="val 6522"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2"/>
          <p:cNvSpPr/>
          <p:nvPr/>
        </p:nvSpPr>
        <p:spPr>
          <a:xfrm>
            <a:off x="6675120" y="1709928"/>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400"/>
              <a:buFont typeface="Calibri"/>
              <a:buNone/>
            </a:pPr>
            <a:r>
              <a:rPr b="1" i="0" lang="en-US" sz="1400" u="none" cap="none" strike="noStrike">
                <a:solidFill>
                  <a:srgbClr val="2E5E8C"/>
                </a:solidFill>
                <a:latin typeface="Calibri"/>
                <a:ea typeface="Calibri"/>
                <a:cs typeface="Calibri"/>
                <a:sym typeface="Calibri"/>
              </a:rPr>
              <a:t>14 commands</a:t>
            </a:r>
            <a:endParaRPr b="0" i="0" sz="1400" u="none" cap="none" strike="noStrike">
              <a:solidFill>
                <a:schemeClr val="dk1"/>
              </a:solidFill>
              <a:latin typeface="Calibri"/>
              <a:ea typeface="Calibri"/>
              <a:cs typeface="Calibri"/>
              <a:sym typeface="Calibri"/>
            </a:endParaRPr>
          </a:p>
        </p:txBody>
      </p:sp>
      <p:sp>
        <p:nvSpPr>
          <p:cNvPr id="303" name="Google Shape;303;p12"/>
          <p:cNvSpPr/>
          <p:nvPr/>
        </p:nvSpPr>
        <p:spPr>
          <a:xfrm>
            <a:off x="6675120" y="2020824"/>
            <a:ext cx="4983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prospect, quick, research, qualify, and 10 more</a:t>
            </a:r>
            <a:endParaRPr b="0" i="0" sz="1150" u="none" cap="none" strike="noStrike">
              <a:solidFill>
                <a:schemeClr val="dk1"/>
              </a:solidFill>
              <a:latin typeface="Calibri"/>
              <a:ea typeface="Calibri"/>
              <a:cs typeface="Calibri"/>
              <a:sym typeface="Calibri"/>
            </a:endParaRPr>
          </a:p>
        </p:txBody>
      </p:sp>
      <p:sp>
        <p:nvSpPr>
          <p:cNvPr id="304" name="Google Shape;304;p12"/>
          <p:cNvSpPr/>
          <p:nvPr/>
        </p:nvSpPr>
        <p:spPr>
          <a:xfrm>
            <a:off x="548640" y="2697480"/>
            <a:ext cx="5440680" cy="841248"/>
          </a:xfrm>
          <a:prstGeom prst="roundRect">
            <a:avLst>
              <a:gd fmla="val 6522"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2"/>
          <p:cNvSpPr/>
          <p:nvPr/>
        </p:nvSpPr>
        <p:spPr>
          <a:xfrm>
            <a:off x="777240" y="2807208"/>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400"/>
              <a:buFont typeface="Calibri"/>
              <a:buNone/>
            </a:pPr>
            <a:r>
              <a:rPr b="1" i="0" lang="en-US" sz="1400" u="none" cap="none" strike="noStrike">
                <a:solidFill>
                  <a:srgbClr val="2E5E8C"/>
                </a:solidFill>
                <a:latin typeface="Calibri"/>
                <a:ea typeface="Calibri"/>
                <a:cs typeface="Calibri"/>
                <a:sym typeface="Calibri"/>
              </a:rPr>
              <a:t>5 agents</a:t>
            </a:r>
            <a:endParaRPr b="0" i="0" sz="1400" u="none" cap="none" strike="noStrike">
              <a:solidFill>
                <a:schemeClr val="dk1"/>
              </a:solidFill>
              <a:latin typeface="Calibri"/>
              <a:ea typeface="Calibri"/>
              <a:cs typeface="Calibri"/>
              <a:sym typeface="Calibri"/>
            </a:endParaRPr>
          </a:p>
        </p:txBody>
      </p:sp>
      <p:sp>
        <p:nvSpPr>
          <p:cNvPr id="306" name="Google Shape;306;p12"/>
          <p:cNvSpPr/>
          <p:nvPr/>
        </p:nvSpPr>
        <p:spPr>
          <a:xfrm>
            <a:off x="777240" y="3118104"/>
            <a:ext cx="4983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company, contacts, opportunity, competitive, strategy</a:t>
            </a:r>
            <a:endParaRPr b="0" i="0" sz="1150" u="none" cap="none" strike="noStrike">
              <a:solidFill>
                <a:schemeClr val="dk1"/>
              </a:solidFill>
              <a:latin typeface="Calibri"/>
              <a:ea typeface="Calibri"/>
              <a:cs typeface="Calibri"/>
              <a:sym typeface="Calibri"/>
            </a:endParaRPr>
          </a:p>
        </p:txBody>
      </p:sp>
      <p:sp>
        <p:nvSpPr>
          <p:cNvPr id="307" name="Google Shape;307;p12"/>
          <p:cNvSpPr/>
          <p:nvPr/>
        </p:nvSpPr>
        <p:spPr>
          <a:xfrm>
            <a:off x="6446520" y="2697480"/>
            <a:ext cx="5440680" cy="841248"/>
          </a:xfrm>
          <a:prstGeom prst="roundRect">
            <a:avLst>
              <a:gd fmla="val 6522"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2"/>
          <p:cNvSpPr/>
          <p:nvPr/>
        </p:nvSpPr>
        <p:spPr>
          <a:xfrm>
            <a:off x="6675120" y="2807208"/>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400"/>
              <a:buFont typeface="Calibri"/>
              <a:buNone/>
            </a:pPr>
            <a:r>
              <a:rPr b="1" i="0" lang="en-US" sz="1400" u="none" cap="none" strike="noStrike">
                <a:solidFill>
                  <a:srgbClr val="2E5E8C"/>
                </a:solidFill>
                <a:latin typeface="Calibri"/>
                <a:ea typeface="Calibri"/>
                <a:cs typeface="Calibri"/>
                <a:sym typeface="Calibri"/>
              </a:rPr>
              <a:t>Weights</a:t>
            </a:r>
            <a:endParaRPr b="0" i="0" sz="1400" u="none" cap="none" strike="noStrike">
              <a:solidFill>
                <a:schemeClr val="dk1"/>
              </a:solidFill>
              <a:latin typeface="Calibri"/>
              <a:ea typeface="Calibri"/>
              <a:cs typeface="Calibri"/>
              <a:sym typeface="Calibri"/>
            </a:endParaRPr>
          </a:p>
        </p:txBody>
      </p:sp>
      <p:sp>
        <p:nvSpPr>
          <p:cNvPr id="309" name="Google Shape;309;p12"/>
          <p:cNvSpPr/>
          <p:nvPr/>
        </p:nvSpPr>
        <p:spPr>
          <a:xfrm>
            <a:off x="6675120" y="3118104"/>
            <a:ext cx="4983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25 / 20 / 20 / 15 / 20, exact</a:t>
            </a:r>
            <a:endParaRPr b="0" i="0" sz="1150" u="none" cap="none" strike="noStrike">
              <a:solidFill>
                <a:schemeClr val="dk1"/>
              </a:solidFill>
              <a:latin typeface="Calibri"/>
              <a:ea typeface="Calibri"/>
              <a:cs typeface="Calibri"/>
              <a:sym typeface="Calibri"/>
            </a:endParaRPr>
          </a:p>
        </p:txBody>
      </p:sp>
      <p:sp>
        <p:nvSpPr>
          <p:cNvPr id="310" name="Google Shape;310;p12"/>
          <p:cNvSpPr/>
          <p:nvPr/>
        </p:nvSpPr>
        <p:spPr>
          <a:xfrm>
            <a:off x="548640" y="3794760"/>
            <a:ext cx="5440680" cy="841248"/>
          </a:xfrm>
          <a:prstGeom prst="roundRect">
            <a:avLst>
              <a:gd fmla="val 6522"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2"/>
          <p:cNvSpPr/>
          <p:nvPr/>
        </p:nvSpPr>
        <p:spPr>
          <a:xfrm>
            <a:off x="777240" y="3904488"/>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400"/>
              <a:buFont typeface="Calibri"/>
              <a:buNone/>
            </a:pPr>
            <a:r>
              <a:rPr b="1" i="0" lang="en-US" sz="1400" u="none" cap="none" strike="noStrike">
                <a:solidFill>
                  <a:srgbClr val="2E5E8C"/>
                </a:solidFill>
                <a:latin typeface="Calibri"/>
                <a:ea typeface="Calibri"/>
                <a:cs typeface="Calibri"/>
                <a:sym typeface="Calibri"/>
              </a:rPr>
              <a:t>4 scripts</a:t>
            </a:r>
            <a:endParaRPr b="0" i="0" sz="1400" u="none" cap="none" strike="noStrike">
              <a:solidFill>
                <a:schemeClr val="dk1"/>
              </a:solidFill>
              <a:latin typeface="Calibri"/>
              <a:ea typeface="Calibri"/>
              <a:cs typeface="Calibri"/>
              <a:sym typeface="Calibri"/>
            </a:endParaRPr>
          </a:p>
        </p:txBody>
      </p:sp>
      <p:sp>
        <p:nvSpPr>
          <p:cNvPr id="312" name="Google Shape;312;p12"/>
          <p:cNvSpPr/>
          <p:nvPr/>
        </p:nvSpPr>
        <p:spPr>
          <a:xfrm>
            <a:off x="777240" y="4215384"/>
            <a:ext cx="4983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analyze_prospect, lead_scorer, contact_finder, generate_pdf_report</a:t>
            </a:r>
            <a:endParaRPr b="0" i="0" sz="1150" u="none" cap="none" strike="noStrike">
              <a:solidFill>
                <a:schemeClr val="dk1"/>
              </a:solidFill>
              <a:latin typeface="Calibri"/>
              <a:ea typeface="Calibri"/>
              <a:cs typeface="Calibri"/>
              <a:sym typeface="Calibri"/>
            </a:endParaRPr>
          </a:p>
        </p:txBody>
      </p:sp>
      <p:sp>
        <p:nvSpPr>
          <p:cNvPr id="313" name="Google Shape;313;p12"/>
          <p:cNvSpPr/>
          <p:nvPr/>
        </p:nvSpPr>
        <p:spPr>
          <a:xfrm>
            <a:off x="6446520" y="3794760"/>
            <a:ext cx="5440680" cy="841248"/>
          </a:xfrm>
          <a:prstGeom prst="roundRect">
            <a:avLst>
              <a:gd fmla="val 6522"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6675120" y="3904488"/>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400"/>
              <a:buFont typeface="Calibri"/>
              <a:buNone/>
            </a:pPr>
            <a:r>
              <a:rPr b="1" i="0" lang="en-US" sz="1400" u="none" cap="none" strike="noStrike">
                <a:solidFill>
                  <a:srgbClr val="2E5E8C"/>
                </a:solidFill>
                <a:latin typeface="Calibri"/>
                <a:ea typeface="Calibri"/>
                <a:cs typeface="Calibri"/>
                <a:sym typeface="Calibri"/>
              </a:rPr>
              <a:t>6 templates</a:t>
            </a:r>
            <a:endParaRPr b="0" i="0" sz="1400" u="none" cap="none" strike="noStrike">
              <a:solidFill>
                <a:schemeClr val="dk1"/>
              </a:solidFill>
              <a:latin typeface="Calibri"/>
              <a:ea typeface="Calibri"/>
              <a:cs typeface="Calibri"/>
              <a:sym typeface="Calibri"/>
            </a:endParaRPr>
          </a:p>
        </p:txBody>
      </p:sp>
      <p:sp>
        <p:nvSpPr>
          <p:cNvPr id="315" name="Google Shape;315;p12"/>
          <p:cNvSpPr/>
          <p:nvPr/>
        </p:nvSpPr>
        <p:spPr>
          <a:xfrm>
            <a:off x="6675120" y="4215384"/>
            <a:ext cx="4983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cold, warm, referral, meeting-prep, proposal, objection</a:t>
            </a:r>
            <a:endParaRPr b="0" i="0" sz="1150" u="none" cap="none" strike="noStrike">
              <a:solidFill>
                <a:schemeClr val="dk1"/>
              </a:solidFill>
              <a:latin typeface="Calibri"/>
              <a:ea typeface="Calibri"/>
              <a:cs typeface="Calibri"/>
              <a:sym typeface="Calibri"/>
            </a:endParaRPr>
          </a:p>
        </p:txBody>
      </p:sp>
      <p:sp>
        <p:nvSpPr>
          <p:cNvPr id="316" name="Google Shape;316;p12"/>
          <p:cNvSpPr/>
          <p:nvPr/>
        </p:nvSpPr>
        <p:spPr>
          <a:xfrm>
            <a:off x="548640" y="4892040"/>
            <a:ext cx="5440680" cy="841248"/>
          </a:xfrm>
          <a:prstGeom prst="roundRect">
            <a:avLst>
              <a:gd fmla="val 6522"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2"/>
          <p:cNvSpPr/>
          <p:nvPr/>
        </p:nvSpPr>
        <p:spPr>
          <a:xfrm>
            <a:off x="777240" y="5001768"/>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400"/>
              <a:buFont typeface="Calibri"/>
              <a:buNone/>
            </a:pPr>
            <a:r>
              <a:rPr b="1" i="0" lang="en-US" sz="1400" u="none" cap="none" strike="noStrike">
                <a:solidFill>
                  <a:srgbClr val="2E5E8C"/>
                </a:solidFill>
                <a:latin typeface="Calibri"/>
                <a:ea typeface="Calibri"/>
                <a:cs typeface="Calibri"/>
                <a:sym typeface="Calibri"/>
              </a:rPr>
              <a:t>Scoring</a:t>
            </a:r>
            <a:endParaRPr b="0" i="0" sz="1400" u="none" cap="none" strike="noStrike">
              <a:solidFill>
                <a:schemeClr val="dk1"/>
              </a:solidFill>
              <a:latin typeface="Calibri"/>
              <a:ea typeface="Calibri"/>
              <a:cs typeface="Calibri"/>
              <a:sym typeface="Calibri"/>
            </a:endParaRPr>
          </a:p>
        </p:txBody>
      </p:sp>
      <p:sp>
        <p:nvSpPr>
          <p:cNvPr id="318" name="Google Shape;318;p12"/>
          <p:cNvSpPr/>
          <p:nvPr/>
        </p:nvSpPr>
        <p:spPr>
          <a:xfrm>
            <a:off x="777240" y="5312664"/>
            <a:ext cx="4983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0-100 composite, A+ to D grade bands</a:t>
            </a:r>
            <a:endParaRPr b="0" i="0" sz="1150" u="none" cap="none" strike="noStrike">
              <a:solidFill>
                <a:schemeClr val="dk1"/>
              </a:solidFill>
              <a:latin typeface="Calibri"/>
              <a:ea typeface="Calibri"/>
              <a:cs typeface="Calibri"/>
              <a:sym typeface="Calibri"/>
            </a:endParaRPr>
          </a:p>
        </p:txBody>
      </p:sp>
      <p:sp>
        <p:nvSpPr>
          <p:cNvPr id="319" name="Google Shape;319;p12"/>
          <p:cNvSpPr/>
          <p:nvPr/>
        </p:nvSpPr>
        <p:spPr>
          <a:xfrm>
            <a:off x="6446520" y="4892040"/>
            <a:ext cx="5440680" cy="841248"/>
          </a:xfrm>
          <a:prstGeom prst="roundRect">
            <a:avLst>
              <a:gd fmla="val 6522"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2"/>
          <p:cNvSpPr/>
          <p:nvPr/>
        </p:nvSpPr>
        <p:spPr>
          <a:xfrm>
            <a:off x="6675120" y="5001768"/>
            <a:ext cx="4983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400"/>
              <a:buFont typeface="Calibri"/>
              <a:buNone/>
            </a:pPr>
            <a:r>
              <a:rPr b="1" i="0" lang="en-US" sz="1400" u="none" cap="none" strike="noStrike">
                <a:solidFill>
                  <a:srgbClr val="2E5E8C"/>
                </a:solidFill>
                <a:latin typeface="Calibri"/>
                <a:ea typeface="Calibri"/>
                <a:cs typeface="Calibri"/>
                <a:sym typeface="Calibri"/>
              </a:rPr>
              <a:t>BANT + MEDDIC</a:t>
            </a:r>
            <a:endParaRPr b="0" i="0" sz="1400" u="none" cap="none" strike="noStrike">
              <a:solidFill>
                <a:schemeClr val="dk1"/>
              </a:solidFill>
              <a:latin typeface="Calibri"/>
              <a:ea typeface="Calibri"/>
              <a:cs typeface="Calibri"/>
              <a:sym typeface="Calibri"/>
            </a:endParaRPr>
          </a:p>
        </p:txBody>
      </p:sp>
      <p:sp>
        <p:nvSpPr>
          <p:cNvPr id="321" name="Google Shape;321;p12"/>
          <p:cNvSpPr/>
          <p:nvPr/>
        </p:nvSpPr>
        <p:spPr>
          <a:xfrm>
            <a:off x="6675120" y="5312664"/>
            <a:ext cx="4983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each dimension 0-25, with evidence and strength</a:t>
            </a:r>
            <a:endParaRPr b="0" i="0" sz="1150" u="none" cap="none" strike="noStrike">
              <a:solidFill>
                <a:schemeClr val="dk1"/>
              </a:solidFill>
              <a:latin typeface="Calibri"/>
              <a:ea typeface="Calibri"/>
              <a:cs typeface="Calibri"/>
              <a:sym typeface="Calibri"/>
            </a:endParaRPr>
          </a:p>
        </p:txBody>
      </p:sp>
      <p:sp>
        <p:nvSpPr>
          <p:cNvPr id="322" name="Google Shape;322;p12"/>
          <p:cNvSpPr/>
          <p:nvPr/>
        </p:nvSpPr>
        <p:spPr>
          <a:xfrm>
            <a:off x="548640" y="5806440"/>
            <a:ext cx="11064240" cy="777240"/>
          </a:xfrm>
          <a:prstGeom prst="roundRect">
            <a:avLst>
              <a:gd fmla="val 8235"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p:nvPr/>
        </p:nvSpPr>
        <p:spPr>
          <a:xfrm>
            <a:off x="914400" y="5806440"/>
            <a:ext cx="10332720" cy="77724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E1A140"/>
              </a:buClr>
              <a:buSzPts val="1250"/>
              <a:buFont typeface="Calibri"/>
              <a:buNone/>
            </a:pPr>
            <a:r>
              <a:rPr b="1" i="0" lang="en-US" sz="1250" u="none" cap="none" strike="noStrike">
                <a:solidFill>
                  <a:srgbClr val="E1A140"/>
                </a:solidFill>
                <a:latin typeface="Calibri"/>
                <a:ea typeface="Calibri"/>
                <a:cs typeface="Calibri"/>
                <a:sym typeface="Calibri"/>
              </a:rPr>
              <a:t>Atrium adds only what the repo lacks for this product:  </a:t>
            </a:r>
            <a:r>
              <a:rPr b="0" i="0" lang="en-US" sz="1250" u="none" cap="none" strike="noStrike">
                <a:solidFill>
                  <a:srgbClr val="E2E8F0"/>
                </a:solidFill>
                <a:latin typeface="Calibri"/>
                <a:ea typeface="Calibri"/>
                <a:cs typeface="Calibri"/>
                <a:sym typeface="Calibri"/>
              </a:rPr>
              <a:t>an inbound intake bridge, three database bridge scripts, the elicitation intake layer, the kajiro optimization layer, and the console and launcher above the crew.</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28" name="Shape 328"/>
        <p:cNvGrpSpPr/>
        <p:nvPr/>
      </p:nvGrpSpPr>
      <p:grpSpPr>
        <a:xfrm>
          <a:off x="0" y="0"/>
          <a:ext cx="0" cy="0"/>
          <a:chOff x="0" y="0"/>
          <a:chExt cx="0" cy="0"/>
        </a:xfrm>
      </p:grpSpPr>
      <p:sp>
        <p:nvSpPr>
          <p:cNvPr id="329" name="Google Shape;329;p13"/>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BUILD</a:t>
            </a:r>
            <a:endParaRPr b="0" i="0" sz="1200" u="none" cap="none" strike="noStrike">
              <a:solidFill>
                <a:schemeClr val="dk1"/>
              </a:solidFill>
              <a:latin typeface="Calibri"/>
              <a:ea typeface="Calibri"/>
              <a:cs typeface="Calibri"/>
              <a:sym typeface="Calibri"/>
            </a:endParaRPr>
          </a:p>
        </p:txBody>
      </p:sp>
      <p:sp>
        <p:nvSpPr>
          <p:cNvPr id="330" name="Google Shape;330;p13"/>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mbria"/>
              <a:buNone/>
            </a:pPr>
            <a:r>
              <a:rPr b="1" i="0" lang="en-US" sz="2800" u="none" cap="none" strike="noStrike">
                <a:solidFill>
                  <a:srgbClr val="0F172A"/>
                </a:solidFill>
                <a:latin typeface="Cambria"/>
                <a:ea typeface="Cambria"/>
                <a:cs typeface="Cambria"/>
                <a:sym typeface="Cambria"/>
              </a:rPr>
              <a:t>Stack, aligned to your standard</a:t>
            </a:r>
            <a:endParaRPr b="0" i="0" sz="2800" u="none" cap="none" strike="noStrike">
              <a:solidFill>
                <a:schemeClr val="dk1"/>
              </a:solidFill>
              <a:latin typeface="Calibri"/>
              <a:ea typeface="Calibri"/>
              <a:cs typeface="Calibri"/>
              <a:sym typeface="Calibri"/>
            </a:endParaRPr>
          </a:p>
        </p:txBody>
      </p:sp>
      <p:sp>
        <p:nvSpPr>
          <p:cNvPr id="331" name="Google Shape;331;p13"/>
          <p:cNvSpPr/>
          <p:nvPr/>
        </p:nvSpPr>
        <p:spPr>
          <a:xfrm>
            <a:off x="548640" y="1691640"/>
            <a:ext cx="269748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
          <p:cNvSpPr/>
          <p:nvPr/>
        </p:nvSpPr>
        <p:spPr>
          <a:xfrm>
            <a:off x="777240" y="1920240"/>
            <a:ext cx="274320" cy="274320"/>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749808" y="2313432"/>
            <a:ext cx="2295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Next.js + TypeScript</a:t>
            </a:r>
            <a:endParaRPr b="0" i="0" sz="1350" u="none" cap="none" strike="noStrike">
              <a:solidFill>
                <a:schemeClr val="dk1"/>
              </a:solidFill>
              <a:latin typeface="Calibri"/>
              <a:ea typeface="Calibri"/>
              <a:cs typeface="Calibri"/>
              <a:sym typeface="Calibri"/>
            </a:endParaRPr>
          </a:p>
        </p:txBody>
      </p:sp>
      <p:sp>
        <p:nvSpPr>
          <p:cNvPr id="334" name="Google Shape;334;p13"/>
          <p:cNvSpPr/>
          <p:nvPr/>
        </p:nvSpPr>
        <p:spPr>
          <a:xfrm>
            <a:off x="749808" y="2660904"/>
            <a:ext cx="2295144" cy="3474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Funnel and console, strict mode</a:t>
            </a:r>
            <a:endParaRPr b="0" i="0" sz="1050" u="none" cap="none" strike="noStrike">
              <a:solidFill>
                <a:schemeClr val="dk1"/>
              </a:solidFill>
              <a:latin typeface="Calibri"/>
              <a:ea typeface="Calibri"/>
              <a:cs typeface="Calibri"/>
              <a:sym typeface="Calibri"/>
            </a:endParaRPr>
          </a:p>
        </p:txBody>
      </p:sp>
      <p:sp>
        <p:nvSpPr>
          <p:cNvPr id="335" name="Google Shape;335;p13"/>
          <p:cNvSpPr/>
          <p:nvPr/>
        </p:nvSpPr>
        <p:spPr>
          <a:xfrm>
            <a:off x="3502152" y="1691640"/>
            <a:ext cx="269748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p:nvPr/>
        </p:nvSpPr>
        <p:spPr>
          <a:xfrm>
            <a:off x="3730752" y="1920240"/>
            <a:ext cx="274320" cy="274320"/>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a:off x="3703320" y="2313432"/>
            <a:ext cx="2295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Tailwind + React 19</a:t>
            </a:r>
            <a:endParaRPr b="0" i="0" sz="1350" u="none" cap="none" strike="noStrike">
              <a:solidFill>
                <a:schemeClr val="dk1"/>
              </a:solidFill>
              <a:latin typeface="Calibri"/>
              <a:ea typeface="Calibri"/>
              <a:cs typeface="Calibri"/>
              <a:sym typeface="Calibri"/>
            </a:endParaRPr>
          </a:p>
        </p:txBody>
      </p:sp>
      <p:sp>
        <p:nvSpPr>
          <p:cNvPr id="338" name="Google Shape;338;p13"/>
          <p:cNvSpPr/>
          <p:nvPr/>
        </p:nvSpPr>
        <p:spPr>
          <a:xfrm>
            <a:off x="3703320" y="2660904"/>
            <a:ext cx="2295144" cy="3474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UI layer</a:t>
            </a:r>
            <a:endParaRPr b="0" i="0" sz="1050" u="none" cap="none" strike="noStrike">
              <a:solidFill>
                <a:schemeClr val="dk1"/>
              </a:solidFill>
              <a:latin typeface="Calibri"/>
              <a:ea typeface="Calibri"/>
              <a:cs typeface="Calibri"/>
              <a:sym typeface="Calibri"/>
            </a:endParaRPr>
          </a:p>
        </p:txBody>
      </p:sp>
      <p:sp>
        <p:nvSpPr>
          <p:cNvPr id="339" name="Google Shape;339;p13"/>
          <p:cNvSpPr/>
          <p:nvPr/>
        </p:nvSpPr>
        <p:spPr>
          <a:xfrm>
            <a:off x="6455664" y="1691640"/>
            <a:ext cx="269748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3"/>
          <p:cNvSpPr/>
          <p:nvPr/>
        </p:nvSpPr>
        <p:spPr>
          <a:xfrm>
            <a:off x="6684264" y="1920240"/>
            <a:ext cx="274320" cy="274320"/>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3"/>
          <p:cNvSpPr/>
          <p:nvPr/>
        </p:nvSpPr>
        <p:spPr>
          <a:xfrm>
            <a:off x="6656832" y="2313432"/>
            <a:ext cx="2295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Vercel</a:t>
            </a:r>
            <a:endParaRPr b="0" i="0" sz="1350" u="none" cap="none" strike="noStrike">
              <a:solidFill>
                <a:schemeClr val="dk1"/>
              </a:solidFill>
              <a:latin typeface="Calibri"/>
              <a:ea typeface="Calibri"/>
              <a:cs typeface="Calibri"/>
              <a:sym typeface="Calibri"/>
            </a:endParaRPr>
          </a:p>
        </p:txBody>
      </p:sp>
      <p:sp>
        <p:nvSpPr>
          <p:cNvPr id="342" name="Google Shape;342;p13"/>
          <p:cNvSpPr/>
          <p:nvPr/>
        </p:nvSpPr>
        <p:spPr>
          <a:xfrm>
            <a:off x="6656832" y="2660904"/>
            <a:ext cx="2295144" cy="3474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Funnel hosting</a:t>
            </a:r>
            <a:endParaRPr b="0" i="0" sz="1050" u="none" cap="none" strike="noStrike">
              <a:solidFill>
                <a:schemeClr val="dk1"/>
              </a:solidFill>
              <a:latin typeface="Calibri"/>
              <a:ea typeface="Calibri"/>
              <a:cs typeface="Calibri"/>
              <a:sym typeface="Calibri"/>
            </a:endParaRPr>
          </a:p>
        </p:txBody>
      </p:sp>
      <p:sp>
        <p:nvSpPr>
          <p:cNvPr id="343" name="Google Shape;343;p13"/>
          <p:cNvSpPr/>
          <p:nvPr/>
        </p:nvSpPr>
        <p:spPr>
          <a:xfrm>
            <a:off x="9409176" y="1691640"/>
            <a:ext cx="269748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
          <p:cNvSpPr/>
          <p:nvPr/>
        </p:nvSpPr>
        <p:spPr>
          <a:xfrm>
            <a:off x="9637776" y="1920240"/>
            <a:ext cx="274320" cy="274320"/>
          </a:xfrm>
          <a:prstGeom prst="ellipse">
            <a:avLst/>
          </a:prstGeom>
          <a:solidFill>
            <a:srgbClr val="3F8F6B"/>
          </a:solidFill>
          <a:ln cap="flat" cmpd="sng" w="127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9610344" y="2313432"/>
            <a:ext cx="2295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Supabase Postgres</a:t>
            </a:r>
            <a:endParaRPr b="0" i="0" sz="1350" u="none" cap="none" strike="noStrike">
              <a:solidFill>
                <a:schemeClr val="dk1"/>
              </a:solidFill>
              <a:latin typeface="Calibri"/>
              <a:ea typeface="Calibri"/>
              <a:cs typeface="Calibri"/>
              <a:sym typeface="Calibri"/>
            </a:endParaRPr>
          </a:p>
        </p:txBody>
      </p:sp>
      <p:sp>
        <p:nvSpPr>
          <p:cNvPr id="346" name="Google Shape;346;p13"/>
          <p:cNvSpPr/>
          <p:nvPr/>
        </p:nvSpPr>
        <p:spPr>
          <a:xfrm>
            <a:off x="9610344" y="2660904"/>
            <a:ext cx="2295144" cy="3474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Source of truth</a:t>
            </a:r>
            <a:endParaRPr b="0" i="0" sz="1050" u="none" cap="none" strike="noStrike">
              <a:solidFill>
                <a:schemeClr val="dk1"/>
              </a:solidFill>
              <a:latin typeface="Calibri"/>
              <a:ea typeface="Calibri"/>
              <a:cs typeface="Calibri"/>
              <a:sym typeface="Calibri"/>
            </a:endParaRPr>
          </a:p>
        </p:txBody>
      </p:sp>
      <p:sp>
        <p:nvSpPr>
          <p:cNvPr id="347" name="Google Shape;347;p13"/>
          <p:cNvSpPr/>
          <p:nvPr/>
        </p:nvSpPr>
        <p:spPr>
          <a:xfrm>
            <a:off x="548640" y="3383280"/>
            <a:ext cx="269748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777240" y="3611880"/>
            <a:ext cx="274320" cy="274320"/>
          </a:xfrm>
          <a:prstGeom prst="ellipse">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p:nvPr/>
        </p:nvSpPr>
        <p:spPr>
          <a:xfrm>
            <a:off x="749808" y="4005072"/>
            <a:ext cx="2295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Node 22 launcher</a:t>
            </a:r>
            <a:endParaRPr b="0" i="0" sz="1350" u="none" cap="none" strike="noStrike">
              <a:solidFill>
                <a:schemeClr val="dk1"/>
              </a:solidFill>
              <a:latin typeface="Calibri"/>
              <a:ea typeface="Calibri"/>
              <a:cs typeface="Calibri"/>
              <a:sym typeface="Calibri"/>
            </a:endParaRPr>
          </a:p>
        </p:txBody>
      </p:sp>
      <p:sp>
        <p:nvSpPr>
          <p:cNvPr id="350" name="Google Shape;350;p13"/>
          <p:cNvSpPr/>
          <p:nvPr/>
        </p:nvSpPr>
        <p:spPr>
          <a:xfrm>
            <a:off x="749808" y="4352544"/>
            <a:ext cx="2295144" cy="3474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Drives the crew</a:t>
            </a:r>
            <a:endParaRPr b="0" i="0" sz="1050" u="none" cap="none" strike="noStrike">
              <a:solidFill>
                <a:schemeClr val="dk1"/>
              </a:solidFill>
              <a:latin typeface="Calibri"/>
              <a:ea typeface="Calibri"/>
              <a:cs typeface="Calibri"/>
              <a:sym typeface="Calibri"/>
            </a:endParaRPr>
          </a:p>
        </p:txBody>
      </p:sp>
      <p:sp>
        <p:nvSpPr>
          <p:cNvPr id="351" name="Google Shape;351;p13"/>
          <p:cNvSpPr/>
          <p:nvPr/>
        </p:nvSpPr>
        <p:spPr>
          <a:xfrm>
            <a:off x="3502152" y="3383280"/>
            <a:ext cx="269748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3730752" y="3611880"/>
            <a:ext cx="274320" cy="274320"/>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3703320" y="4005072"/>
            <a:ext cx="2295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Anthropic API</a:t>
            </a:r>
            <a:endParaRPr b="0" i="0" sz="1350" u="none" cap="none" strike="noStrike">
              <a:solidFill>
                <a:schemeClr val="dk1"/>
              </a:solidFill>
              <a:latin typeface="Calibri"/>
              <a:ea typeface="Calibri"/>
              <a:cs typeface="Calibri"/>
              <a:sym typeface="Calibri"/>
            </a:endParaRPr>
          </a:p>
        </p:txBody>
      </p:sp>
      <p:sp>
        <p:nvSpPr>
          <p:cNvPr id="354" name="Google Shape;354;p13"/>
          <p:cNvSpPr/>
          <p:nvPr/>
        </p:nvSpPr>
        <p:spPr>
          <a:xfrm>
            <a:off x="3703320" y="4352544"/>
            <a:ext cx="2295144" cy="3474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Crew reasoning in Claude Code</a:t>
            </a:r>
            <a:endParaRPr b="0" i="0" sz="1050" u="none" cap="none" strike="noStrike">
              <a:solidFill>
                <a:schemeClr val="dk1"/>
              </a:solidFill>
              <a:latin typeface="Calibri"/>
              <a:ea typeface="Calibri"/>
              <a:cs typeface="Calibri"/>
              <a:sym typeface="Calibri"/>
            </a:endParaRPr>
          </a:p>
        </p:txBody>
      </p:sp>
      <p:sp>
        <p:nvSpPr>
          <p:cNvPr id="355" name="Google Shape;355;p13"/>
          <p:cNvSpPr/>
          <p:nvPr/>
        </p:nvSpPr>
        <p:spPr>
          <a:xfrm>
            <a:off x="6455664" y="3383280"/>
            <a:ext cx="269748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p:nvPr/>
        </p:nvSpPr>
        <p:spPr>
          <a:xfrm>
            <a:off x="6684264" y="3611880"/>
            <a:ext cx="274320" cy="274320"/>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a:off x="6656832" y="4005072"/>
            <a:ext cx="2295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Python scripts</a:t>
            </a:r>
            <a:endParaRPr b="0" i="0" sz="1350" u="none" cap="none" strike="noStrike">
              <a:solidFill>
                <a:schemeClr val="dk1"/>
              </a:solidFill>
              <a:latin typeface="Calibri"/>
              <a:ea typeface="Calibri"/>
              <a:cs typeface="Calibri"/>
              <a:sym typeface="Calibri"/>
            </a:endParaRPr>
          </a:p>
        </p:txBody>
      </p:sp>
      <p:sp>
        <p:nvSpPr>
          <p:cNvPr id="358" name="Google Shape;358;p13"/>
          <p:cNvSpPr/>
          <p:nvPr/>
        </p:nvSpPr>
        <p:spPr>
          <a:xfrm>
            <a:off x="6656832" y="4352544"/>
            <a:ext cx="2295144" cy="3474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reportlab, beautifulsoup4, requests</a:t>
            </a:r>
            <a:endParaRPr b="0" i="0" sz="1050" u="none" cap="none" strike="noStrike">
              <a:solidFill>
                <a:schemeClr val="dk1"/>
              </a:solidFill>
              <a:latin typeface="Calibri"/>
              <a:ea typeface="Calibri"/>
              <a:cs typeface="Calibri"/>
              <a:sym typeface="Calibri"/>
            </a:endParaRPr>
          </a:p>
        </p:txBody>
      </p:sp>
      <p:sp>
        <p:nvSpPr>
          <p:cNvPr id="359" name="Google Shape;359;p13"/>
          <p:cNvSpPr/>
          <p:nvPr/>
        </p:nvSpPr>
        <p:spPr>
          <a:xfrm>
            <a:off x="9409176" y="3383280"/>
            <a:ext cx="2697480"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3"/>
          <p:cNvSpPr/>
          <p:nvPr/>
        </p:nvSpPr>
        <p:spPr>
          <a:xfrm>
            <a:off x="9637776" y="3611880"/>
            <a:ext cx="274320" cy="274320"/>
          </a:xfrm>
          <a:prstGeom prst="ellipse">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
          <p:cNvSpPr/>
          <p:nvPr/>
        </p:nvSpPr>
        <p:spPr>
          <a:xfrm>
            <a:off x="9610344" y="4005072"/>
            <a:ext cx="229514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pnpm</a:t>
            </a:r>
            <a:endParaRPr b="0" i="0" sz="1350" u="none" cap="none" strike="noStrike">
              <a:solidFill>
                <a:schemeClr val="dk1"/>
              </a:solidFill>
              <a:latin typeface="Calibri"/>
              <a:ea typeface="Calibri"/>
              <a:cs typeface="Calibri"/>
              <a:sym typeface="Calibri"/>
            </a:endParaRPr>
          </a:p>
        </p:txBody>
      </p:sp>
      <p:sp>
        <p:nvSpPr>
          <p:cNvPr id="362" name="Google Shape;362;p13"/>
          <p:cNvSpPr/>
          <p:nvPr/>
        </p:nvSpPr>
        <p:spPr>
          <a:xfrm>
            <a:off x="9610344" y="4352544"/>
            <a:ext cx="2295144" cy="3474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Package manager, no npm or yarn</a:t>
            </a:r>
            <a:endParaRPr b="0" i="0" sz="1050" u="none" cap="none" strike="noStrike">
              <a:solidFill>
                <a:schemeClr val="dk1"/>
              </a:solidFill>
              <a:latin typeface="Calibri"/>
              <a:ea typeface="Calibri"/>
              <a:cs typeface="Calibri"/>
              <a:sym typeface="Calibri"/>
            </a:endParaRPr>
          </a:p>
        </p:txBody>
      </p:sp>
      <p:sp>
        <p:nvSpPr>
          <p:cNvPr id="363" name="Google Shape;363;p13"/>
          <p:cNvSpPr/>
          <p:nvPr/>
        </p:nvSpPr>
        <p:spPr>
          <a:xfrm>
            <a:off x="548640" y="5212080"/>
            <a:ext cx="110642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The crew and the two shared skills install under the Claude configuration directory. The funnel deploys to Vercel; the console, launcher, and crew run locally on your workstation.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8" name="Shape 368"/>
        <p:cNvGrpSpPr/>
        <p:nvPr/>
      </p:nvGrpSpPr>
      <p:grpSpPr>
        <a:xfrm>
          <a:off x="0" y="0"/>
          <a:ext cx="0" cy="0"/>
          <a:chOff x="0" y="0"/>
          <a:chExt cx="0" cy="0"/>
        </a:xfrm>
      </p:grpSpPr>
      <p:sp>
        <p:nvSpPr>
          <p:cNvPr id="369" name="Google Shape;369;p14"/>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DELIVERY</a:t>
            </a:r>
            <a:endParaRPr b="0" i="0" sz="1200" u="none" cap="none" strike="noStrike">
              <a:solidFill>
                <a:schemeClr val="dk1"/>
              </a:solidFill>
              <a:latin typeface="Calibri"/>
              <a:ea typeface="Calibri"/>
              <a:cs typeface="Calibri"/>
              <a:sym typeface="Calibri"/>
            </a:endParaRPr>
          </a:p>
        </p:txBody>
      </p:sp>
      <p:sp>
        <p:nvSpPr>
          <p:cNvPr id="370" name="Google Shape;370;p14"/>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800"/>
              <a:buFont typeface="Cambria"/>
              <a:buNone/>
            </a:pPr>
            <a:r>
              <a:rPr b="1" i="0" lang="en-US" sz="2800" u="none" cap="none" strike="noStrike">
                <a:solidFill>
                  <a:srgbClr val="0F172A"/>
                </a:solidFill>
                <a:latin typeface="Cambria"/>
                <a:ea typeface="Cambria"/>
                <a:cs typeface="Cambria"/>
                <a:sym typeface="Cambria"/>
              </a:rPr>
              <a:t>Three phases, hours favor Claude Code</a:t>
            </a:r>
            <a:endParaRPr b="0" i="0" sz="2800" u="none" cap="none" strike="noStrike">
              <a:solidFill>
                <a:schemeClr val="dk1"/>
              </a:solidFill>
              <a:latin typeface="Calibri"/>
              <a:ea typeface="Calibri"/>
              <a:cs typeface="Calibri"/>
              <a:sym typeface="Calibri"/>
            </a:endParaRPr>
          </a:p>
        </p:txBody>
      </p:sp>
      <p:sp>
        <p:nvSpPr>
          <p:cNvPr id="371" name="Google Shape;371;p14"/>
          <p:cNvSpPr/>
          <p:nvPr/>
        </p:nvSpPr>
        <p:spPr>
          <a:xfrm>
            <a:off x="548640" y="1645920"/>
            <a:ext cx="3520440" cy="2286000"/>
          </a:xfrm>
          <a:prstGeom prst="roundRect">
            <a:avLst>
              <a:gd fmla="val 28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a:off x="777240" y="1901952"/>
            <a:ext cx="457200" cy="457200"/>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4"/>
          <p:cNvSpPr/>
          <p:nvPr/>
        </p:nvSpPr>
        <p:spPr>
          <a:xfrm>
            <a:off x="777240" y="19019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374" name="Google Shape;374;p14"/>
          <p:cNvSpPr/>
          <p:nvPr/>
        </p:nvSpPr>
        <p:spPr>
          <a:xfrm>
            <a:off x="1353312" y="1920240"/>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mbria"/>
              <a:buNone/>
            </a:pPr>
            <a:r>
              <a:rPr b="1" i="0" lang="en-US" sz="1500" u="none" cap="none" strike="noStrike">
                <a:solidFill>
                  <a:srgbClr val="0F172A"/>
                </a:solidFill>
                <a:latin typeface="Cambria"/>
                <a:ea typeface="Cambria"/>
                <a:cs typeface="Cambria"/>
                <a:sym typeface="Cambria"/>
              </a:rPr>
              <a:t>Phase 1  Foundation</a:t>
            </a:r>
            <a:endParaRPr b="0" i="0" sz="1500" u="none" cap="none" strike="noStrike">
              <a:solidFill>
                <a:schemeClr val="dk1"/>
              </a:solidFill>
              <a:latin typeface="Calibri"/>
              <a:ea typeface="Calibri"/>
              <a:cs typeface="Calibri"/>
              <a:sym typeface="Calibri"/>
            </a:endParaRPr>
          </a:p>
        </p:txBody>
      </p:sp>
      <p:sp>
        <p:nvSpPr>
          <p:cNvPr id="375" name="Google Shape;375;p14"/>
          <p:cNvSpPr/>
          <p:nvPr/>
        </p:nvSpPr>
        <p:spPr>
          <a:xfrm>
            <a:off x="804672" y="2514600"/>
            <a:ext cx="3008376" cy="12801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Elicitation engine, funnel, console board, crew install, kajiro wiring, five agents, launcher, scoring, write-back</a:t>
            </a:r>
            <a:endParaRPr b="0" i="0" sz="1200" u="none" cap="none" strike="noStrike">
              <a:solidFill>
                <a:schemeClr val="dk1"/>
              </a:solidFill>
              <a:latin typeface="Calibri"/>
              <a:ea typeface="Calibri"/>
              <a:cs typeface="Calibri"/>
              <a:sym typeface="Calibri"/>
            </a:endParaRPr>
          </a:p>
        </p:txBody>
      </p:sp>
      <p:sp>
        <p:nvSpPr>
          <p:cNvPr id="376" name="Google Shape;376;p14"/>
          <p:cNvSpPr/>
          <p:nvPr/>
        </p:nvSpPr>
        <p:spPr>
          <a:xfrm>
            <a:off x="4389120" y="1645920"/>
            <a:ext cx="3520440" cy="2286000"/>
          </a:xfrm>
          <a:prstGeom prst="roundRect">
            <a:avLst>
              <a:gd fmla="val 28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4617720" y="1901952"/>
            <a:ext cx="457200" cy="457200"/>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p:nvPr/>
        </p:nvSpPr>
        <p:spPr>
          <a:xfrm>
            <a:off x="4617720" y="19019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379" name="Google Shape;379;p14"/>
          <p:cNvSpPr/>
          <p:nvPr/>
        </p:nvSpPr>
        <p:spPr>
          <a:xfrm>
            <a:off x="5193792" y="1920240"/>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mbria"/>
              <a:buNone/>
            </a:pPr>
            <a:r>
              <a:rPr b="1" i="0" lang="en-US" sz="1500" u="none" cap="none" strike="noStrike">
                <a:solidFill>
                  <a:srgbClr val="0F172A"/>
                </a:solidFill>
                <a:latin typeface="Cambria"/>
                <a:ea typeface="Cambria"/>
                <a:cs typeface="Cambria"/>
                <a:sym typeface="Cambria"/>
              </a:rPr>
              <a:t>Phase 2  Core</a:t>
            </a:r>
            <a:endParaRPr b="0" i="0" sz="1500" u="none" cap="none" strike="noStrike">
              <a:solidFill>
                <a:schemeClr val="dk1"/>
              </a:solidFill>
              <a:latin typeface="Calibri"/>
              <a:ea typeface="Calibri"/>
              <a:cs typeface="Calibri"/>
              <a:sym typeface="Calibri"/>
            </a:endParaRPr>
          </a:p>
        </p:txBody>
      </p:sp>
      <p:sp>
        <p:nvSpPr>
          <p:cNvPr id="380" name="Google Shape;380;p14"/>
          <p:cNvSpPr/>
          <p:nvPr/>
        </p:nvSpPr>
        <p:spPr>
          <a:xfrm>
            <a:off x="4645152" y="2514600"/>
            <a:ext cx="3008376" cy="12801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Outreach, follow-up, prep, proposal, reports and PDF, runs and artifact views, ICP editor</a:t>
            </a:r>
            <a:endParaRPr b="0" i="0" sz="1200" u="none" cap="none" strike="noStrike">
              <a:solidFill>
                <a:schemeClr val="dk1"/>
              </a:solidFill>
              <a:latin typeface="Calibri"/>
              <a:ea typeface="Calibri"/>
              <a:cs typeface="Calibri"/>
              <a:sym typeface="Calibri"/>
            </a:endParaRPr>
          </a:p>
        </p:txBody>
      </p:sp>
      <p:sp>
        <p:nvSpPr>
          <p:cNvPr id="381" name="Google Shape;381;p14"/>
          <p:cNvSpPr/>
          <p:nvPr/>
        </p:nvSpPr>
        <p:spPr>
          <a:xfrm>
            <a:off x="8229600" y="1645920"/>
            <a:ext cx="3520440" cy="2286000"/>
          </a:xfrm>
          <a:prstGeom prst="roundRect">
            <a:avLst>
              <a:gd fmla="val 28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4"/>
          <p:cNvSpPr/>
          <p:nvPr/>
        </p:nvSpPr>
        <p:spPr>
          <a:xfrm>
            <a:off x="8458200" y="1901952"/>
            <a:ext cx="457200" cy="457200"/>
          </a:xfrm>
          <a:prstGeom prst="ellipse">
            <a:avLst/>
          </a:prstGeom>
          <a:solidFill>
            <a:srgbClr val="3F8F6B"/>
          </a:solidFill>
          <a:ln cap="flat" cmpd="sng" w="127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8458200" y="19019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384" name="Google Shape;384;p14"/>
          <p:cNvSpPr/>
          <p:nvPr/>
        </p:nvSpPr>
        <p:spPr>
          <a:xfrm>
            <a:off x="9034272" y="1920240"/>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mbria"/>
              <a:buNone/>
            </a:pPr>
            <a:r>
              <a:rPr b="1" i="0" lang="en-US" sz="1500" u="none" cap="none" strike="noStrike">
                <a:solidFill>
                  <a:srgbClr val="0F172A"/>
                </a:solidFill>
                <a:latin typeface="Cambria"/>
                <a:ea typeface="Cambria"/>
                <a:cs typeface="Cambria"/>
                <a:sym typeface="Cambria"/>
              </a:rPr>
              <a:t>Phase 3  Polish</a:t>
            </a:r>
            <a:endParaRPr b="0" i="0" sz="1500" u="none" cap="none" strike="noStrike">
              <a:solidFill>
                <a:schemeClr val="dk1"/>
              </a:solidFill>
              <a:latin typeface="Calibri"/>
              <a:ea typeface="Calibri"/>
              <a:cs typeface="Calibri"/>
              <a:sym typeface="Calibri"/>
            </a:endParaRPr>
          </a:p>
        </p:txBody>
      </p:sp>
      <p:sp>
        <p:nvSpPr>
          <p:cNvPr id="385" name="Google Shape;385;p14"/>
          <p:cNvSpPr/>
          <p:nvPr/>
        </p:nvSpPr>
        <p:spPr>
          <a:xfrm>
            <a:off x="8485632" y="2514600"/>
            <a:ext cx="3008376" cy="12801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Objections, ICP, competitors, quick snapshot, accessibility, error hardening, deployment lockdown</a:t>
            </a:r>
            <a:endParaRPr b="0" i="0" sz="1200" u="none" cap="none" strike="noStrike">
              <a:solidFill>
                <a:schemeClr val="dk1"/>
              </a:solidFill>
              <a:latin typeface="Calibri"/>
              <a:ea typeface="Calibri"/>
              <a:cs typeface="Calibri"/>
              <a:sym typeface="Calibri"/>
            </a:endParaRPr>
          </a:p>
        </p:txBody>
      </p:sp>
      <p:sp>
        <p:nvSpPr>
          <p:cNvPr id="386" name="Google Shape;386;p14"/>
          <p:cNvSpPr/>
          <p:nvPr/>
        </p:nvSpPr>
        <p:spPr>
          <a:xfrm>
            <a:off x="548640" y="4251960"/>
            <a:ext cx="3520440" cy="1371600"/>
          </a:xfrm>
          <a:prstGeom prst="roundRect">
            <a:avLst>
              <a:gd fmla="val 4667" name="adj"/>
            </a:avLst>
          </a:prstGeom>
          <a:solidFill>
            <a:srgbClr val="0F172A"/>
          </a:solidFill>
          <a:ln cap="flat" cmpd="sng" w="12700">
            <a:solidFill>
              <a:srgbClr val="0F172A"/>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a:off x="731520" y="4453128"/>
            <a:ext cx="3154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A140"/>
              </a:buClr>
              <a:buSzPts val="4400"/>
              <a:buFont typeface="Cambria"/>
              <a:buNone/>
            </a:pPr>
            <a:r>
              <a:rPr b="1" i="0" lang="en-US" sz="4400" u="none" cap="none" strike="noStrike">
                <a:solidFill>
                  <a:srgbClr val="E1A140"/>
                </a:solidFill>
                <a:latin typeface="Cambria"/>
                <a:ea typeface="Cambria"/>
                <a:cs typeface="Cambria"/>
                <a:sym typeface="Cambria"/>
              </a:rPr>
              <a:t>77</a:t>
            </a:r>
            <a:endParaRPr b="0" i="0" sz="4400" u="none" cap="none" strike="noStrike">
              <a:solidFill>
                <a:schemeClr val="dk1"/>
              </a:solidFill>
              <a:latin typeface="Calibri"/>
              <a:ea typeface="Calibri"/>
              <a:cs typeface="Calibri"/>
              <a:sym typeface="Calibri"/>
            </a:endParaRPr>
          </a:p>
        </p:txBody>
      </p:sp>
      <p:sp>
        <p:nvSpPr>
          <p:cNvPr id="388" name="Google Shape;388;p14"/>
          <p:cNvSpPr/>
          <p:nvPr/>
        </p:nvSpPr>
        <p:spPr>
          <a:xfrm>
            <a:off x="731520" y="5184648"/>
            <a:ext cx="31546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Claude Code hours</a:t>
            </a:r>
            <a:endParaRPr b="0" i="0" sz="1250" u="none" cap="none" strike="noStrike">
              <a:solidFill>
                <a:schemeClr val="dk1"/>
              </a:solidFill>
              <a:latin typeface="Calibri"/>
              <a:ea typeface="Calibri"/>
              <a:cs typeface="Calibri"/>
              <a:sym typeface="Calibri"/>
            </a:endParaRPr>
          </a:p>
        </p:txBody>
      </p:sp>
      <p:sp>
        <p:nvSpPr>
          <p:cNvPr id="389" name="Google Shape;389;p14"/>
          <p:cNvSpPr/>
          <p:nvPr/>
        </p:nvSpPr>
        <p:spPr>
          <a:xfrm>
            <a:off x="4389120" y="4251960"/>
            <a:ext cx="3520440" cy="1371600"/>
          </a:xfrm>
          <a:prstGeom prst="roundRect">
            <a:avLst>
              <a:gd fmla="val 4667" name="adj"/>
            </a:avLst>
          </a:prstGeom>
          <a:solidFill>
            <a:srgbClr val="0F172A"/>
          </a:solidFill>
          <a:ln cap="flat" cmpd="sng" w="12700">
            <a:solidFill>
              <a:srgbClr val="0F172A"/>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p:nvPr/>
        </p:nvSpPr>
        <p:spPr>
          <a:xfrm>
            <a:off x="4572000" y="4453128"/>
            <a:ext cx="3154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4400"/>
              <a:buFont typeface="Cambria"/>
              <a:buNone/>
            </a:pPr>
            <a:r>
              <a:rPr b="1" i="0" lang="en-US" sz="4400" u="none" cap="none" strike="noStrike">
                <a:solidFill>
                  <a:srgbClr val="64748B"/>
                </a:solidFill>
                <a:latin typeface="Cambria"/>
                <a:ea typeface="Cambria"/>
                <a:cs typeface="Cambria"/>
                <a:sym typeface="Cambria"/>
              </a:rPr>
              <a:t>219</a:t>
            </a:r>
            <a:endParaRPr b="0" i="0" sz="4400" u="none" cap="none" strike="noStrike">
              <a:solidFill>
                <a:schemeClr val="dk1"/>
              </a:solidFill>
              <a:latin typeface="Calibri"/>
              <a:ea typeface="Calibri"/>
              <a:cs typeface="Calibri"/>
              <a:sym typeface="Calibri"/>
            </a:endParaRPr>
          </a:p>
        </p:txBody>
      </p:sp>
      <p:sp>
        <p:nvSpPr>
          <p:cNvPr id="391" name="Google Shape;391;p14"/>
          <p:cNvSpPr/>
          <p:nvPr/>
        </p:nvSpPr>
        <p:spPr>
          <a:xfrm>
            <a:off x="4572000" y="5184648"/>
            <a:ext cx="31546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Solo dev hours</a:t>
            </a:r>
            <a:endParaRPr b="0" i="0" sz="1250" u="none" cap="none" strike="noStrike">
              <a:solidFill>
                <a:schemeClr val="dk1"/>
              </a:solidFill>
              <a:latin typeface="Calibri"/>
              <a:ea typeface="Calibri"/>
              <a:cs typeface="Calibri"/>
              <a:sym typeface="Calibri"/>
            </a:endParaRPr>
          </a:p>
        </p:txBody>
      </p:sp>
      <p:sp>
        <p:nvSpPr>
          <p:cNvPr id="392" name="Google Shape;392;p14"/>
          <p:cNvSpPr/>
          <p:nvPr/>
        </p:nvSpPr>
        <p:spPr>
          <a:xfrm>
            <a:off x="8229600" y="4251960"/>
            <a:ext cx="3520440" cy="1371600"/>
          </a:xfrm>
          <a:prstGeom prst="roundRect">
            <a:avLst>
              <a:gd fmla="val 4667" name="adj"/>
            </a:avLst>
          </a:prstGeom>
          <a:solidFill>
            <a:srgbClr val="0F172A"/>
          </a:solidFill>
          <a:ln cap="flat" cmpd="sng" w="12700">
            <a:solidFill>
              <a:srgbClr val="0F172A"/>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8412480" y="4453128"/>
            <a:ext cx="31546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8F6B"/>
              </a:buClr>
              <a:buSzPts val="4400"/>
              <a:buFont typeface="Cambria"/>
              <a:buNone/>
            </a:pPr>
            <a:r>
              <a:rPr b="1" i="0" lang="en-US" sz="4400" u="none" cap="none" strike="noStrike">
                <a:solidFill>
                  <a:srgbClr val="3F8F6B"/>
                </a:solidFill>
                <a:latin typeface="Cambria"/>
                <a:ea typeface="Cambria"/>
                <a:cs typeface="Cambria"/>
                <a:sym typeface="Cambria"/>
              </a:rPr>
              <a:t>142</a:t>
            </a:r>
            <a:endParaRPr b="0" i="0" sz="4400" u="none" cap="none" strike="noStrike">
              <a:solidFill>
                <a:schemeClr val="dk1"/>
              </a:solidFill>
              <a:latin typeface="Calibri"/>
              <a:ea typeface="Calibri"/>
              <a:cs typeface="Calibri"/>
              <a:sym typeface="Calibri"/>
            </a:endParaRPr>
          </a:p>
        </p:txBody>
      </p:sp>
      <p:sp>
        <p:nvSpPr>
          <p:cNvPr id="394" name="Google Shape;394;p14"/>
          <p:cNvSpPr/>
          <p:nvPr/>
        </p:nvSpPr>
        <p:spPr>
          <a:xfrm>
            <a:off x="8412480" y="5184648"/>
            <a:ext cx="31546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Hour delta saved</a:t>
            </a:r>
            <a:endParaRPr b="0" i="0" sz="1250" u="none" cap="none" strike="noStrike">
              <a:solidFill>
                <a:schemeClr val="dk1"/>
              </a:solidFill>
              <a:latin typeface="Calibri"/>
              <a:ea typeface="Calibri"/>
              <a:cs typeface="Calibri"/>
              <a:sym typeface="Calibri"/>
            </a:endParaRPr>
          </a:p>
        </p:txBody>
      </p:sp>
      <p:sp>
        <p:nvSpPr>
          <p:cNvPr id="395" name="Google Shape;395;p14"/>
          <p:cNvSpPr/>
          <p:nvPr/>
        </p:nvSpPr>
        <p:spPr>
          <a:xfrm>
            <a:off x="548640" y="5806440"/>
            <a:ext cx="110642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Phase 1 stands up a working two-stream engine. Estimated launch, early to mid September 2026 at ten hours per week.</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00" name="Shape 400"/>
        <p:cNvGrpSpPr/>
        <p:nvPr/>
      </p:nvGrpSpPr>
      <p:grpSpPr>
        <a:xfrm>
          <a:off x="0" y="0"/>
          <a:ext cx="0" cy="0"/>
          <a:chOff x="0" y="0"/>
          <a:chExt cx="0" cy="0"/>
        </a:xfrm>
      </p:grpSpPr>
      <p:sp>
        <p:nvSpPr>
          <p:cNvPr id="401" name="Google Shape;401;p15"/>
          <p:cNvSpPr/>
          <p:nvPr/>
        </p:nvSpPr>
        <p:spPr>
          <a:xfrm>
            <a:off x="-1280160" y="4206240"/>
            <a:ext cx="3840480" cy="3840480"/>
          </a:xfrm>
          <a:prstGeom prst="ellipse">
            <a:avLst/>
          </a:prstGeom>
          <a:solidFill>
            <a:srgbClr val="2E5E8C">
              <a:alpha val="34117"/>
            </a:srgbClr>
          </a:solidFill>
          <a:ln cap="flat" cmpd="sng" w="12700">
            <a:solidFill>
              <a:srgbClr val="2E5E8C">
                <a:alpha val="3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5"/>
          <p:cNvSpPr/>
          <p:nvPr/>
        </p:nvSpPr>
        <p:spPr>
          <a:xfrm>
            <a:off x="10332720" y="-1280160"/>
            <a:ext cx="3291840" cy="3291840"/>
          </a:xfrm>
          <a:prstGeom prst="ellipse">
            <a:avLst/>
          </a:prstGeom>
          <a:solidFill>
            <a:srgbClr val="E1A140">
              <a:alpha val="30196"/>
            </a:srgbClr>
          </a:solidFill>
          <a:ln cap="flat" cmpd="sng" w="12700">
            <a:solidFill>
              <a:srgbClr val="E1A14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5"/>
          <p:cNvSpPr/>
          <p:nvPr/>
        </p:nvSpPr>
        <p:spPr>
          <a:xfrm>
            <a:off x="731520" y="137160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300"/>
              <a:buFont typeface="Calibri"/>
              <a:buNone/>
            </a:pPr>
            <a:r>
              <a:rPr b="1" i="0" lang="en-US" sz="1300" u="none" cap="none" strike="noStrike">
                <a:solidFill>
                  <a:srgbClr val="E1A140"/>
                </a:solidFill>
                <a:latin typeface="Calibri"/>
                <a:ea typeface="Calibri"/>
                <a:cs typeface="Calibri"/>
                <a:sym typeface="Calibri"/>
              </a:rPr>
              <a:t>READY TO BUILD WITH CLAUDE CODE</a:t>
            </a:r>
            <a:endParaRPr b="0" i="0" sz="1300" u="none" cap="none" strike="noStrike">
              <a:solidFill>
                <a:schemeClr val="dk1"/>
              </a:solidFill>
              <a:latin typeface="Calibri"/>
              <a:ea typeface="Calibri"/>
              <a:cs typeface="Calibri"/>
              <a:sym typeface="Calibri"/>
            </a:endParaRPr>
          </a:p>
        </p:txBody>
      </p:sp>
      <p:sp>
        <p:nvSpPr>
          <p:cNvPr id="404" name="Google Shape;404;p15"/>
          <p:cNvSpPr/>
          <p:nvPr/>
        </p:nvSpPr>
        <p:spPr>
          <a:xfrm>
            <a:off x="731520" y="178308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mbria"/>
              <a:buNone/>
            </a:pPr>
            <a:r>
              <a:rPr b="1" i="0" lang="en-US" sz="3600" u="none" cap="none" strike="noStrike">
                <a:solidFill>
                  <a:srgbClr val="FFFFFF"/>
                </a:solidFill>
                <a:latin typeface="Cambria"/>
                <a:ea typeface="Cambria"/>
                <a:cs typeface="Cambria"/>
                <a:sym typeface="Cambria"/>
              </a:rPr>
              <a:t>PRD v5 is complete and Claude Code ready</a:t>
            </a:r>
            <a:endParaRPr b="0" i="0" sz="3600" u="none" cap="none" strike="noStrike">
              <a:solidFill>
                <a:schemeClr val="dk1"/>
              </a:solidFill>
              <a:latin typeface="Calibri"/>
              <a:ea typeface="Calibri"/>
              <a:cs typeface="Calibri"/>
              <a:sym typeface="Calibri"/>
            </a:endParaRPr>
          </a:p>
        </p:txBody>
      </p:sp>
      <p:sp>
        <p:nvSpPr>
          <p:cNvPr id="405" name="Google Shape;405;p15"/>
          <p:cNvSpPr/>
          <p:nvPr/>
        </p:nvSpPr>
        <p:spPr>
          <a:xfrm>
            <a:off x="749808" y="2788920"/>
            <a:ext cx="9601200" cy="640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4A3B8"/>
              </a:buClr>
              <a:buSzPts val="1500"/>
              <a:buFont typeface="Calibri"/>
              <a:buNone/>
            </a:pPr>
            <a:r>
              <a:rPr b="0" i="0" lang="en-US" sz="1500" u="none" cap="none" strike="noStrike">
                <a:solidFill>
                  <a:srgbClr val="94A3B8"/>
                </a:solidFill>
                <a:latin typeface="Calibri"/>
                <a:ea typeface="Calibri"/>
                <a:cs typeface="Calibri"/>
                <a:sym typeface="Calibri"/>
              </a:rPr>
              <a:t>Faithful to the reference crew, deepened to a build-ready spec, with the elicitation intake layer and kajiro optimization layer incorporated.</a:t>
            </a:r>
            <a:endParaRPr b="0" i="0" sz="1500" u="none" cap="none" strike="noStrike">
              <a:solidFill>
                <a:schemeClr val="dk1"/>
              </a:solidFill>
              <a:latin typeface="Calibri"/>
              <a:ea typeface="Calibri"/>
              <a:cs typeface="Calibri"/>
              <a:sym typeface="Calibri"/>
            </a:endParaRPr>
          </a:p>
        </p:txBody>
      </p:sp>
      <p:sp>
        <p:nvSpPr>
          <p:cNvPr id="406" name="Google Shape;406;p15"/>
          <p:cNvSpPr/>
          <p:nvPr/>
        </p:nvSpPr>
        <p:spPr>
          <a:xfrm>
            <a:off x="777240" y="3703320"/>
            <a:ext cx="502920" cy="502920"/>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
          <p:cNvSpPr/>
          <p:nvPr/>
        </p:nvSpPr>
        <p:spPr>
          <a:xfrm>
            <a:off x="777240" y="37033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2000"/>
              <a:buFont typeface="Cambria"/>
              <a:buNone/>
            </a:pPr>
            <a:r>
              <a:rPr b="1" i="0" lang="en-US" sz="2000" u="none" cap="none" strike="noStrike">
                <a:solidFill>
                  <a:srgbClr val="0F172A"/>
                </a:solidFill>
                <a:latin typeface="Cambria"/>
                <a:ea typeface="Cambria"/>
                <a:cs typeface="Cambria"/>
                <a:sym typeface="Cambria"/>
              </a:rPr>
              <a:t>1</a:t>
            </a:r>
            <a:endParaRPr b="0" i="0" sz="2000" u="none" cap="none" strike="noStrike">
              <a:solidFill>
                <a:schemeClr val="dk1"/>
              </a:solidFill>
              <a:latin typeface="Calibri"/>
              <a:ea typeface="Calibri"/>
              <a:cs typeface="Calibri"/>
              <a:sym typeface="Calibri"/>
            </a:endParaRPr>
          </a:p>
        </p:txBody>
      </p:sp>
      <p:sp>
        <p:nvSpPr>
          <p:cNvPr id="408" name="Google Shape;408;p15"/>
          <p:cNvSpPr/>
          <p:nvPr/>
        </p:nvSpPr>
        <p:spPr>
          <a:xfrm>
            <a:off x="1463040" y="3703320"/>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500"/>
              <a:buFont typeface="Calibri"/>
              <a:buNone/>
            </a:pPr>
            <a:r>
              <a:rPr b="0" i="0" lang="en-US" sz="1500" u="none" cap="none" strike="noStrike">
                <a:solidFill>
                  <a:srgbClr val="E2E8F0"/>
                </a:solidFill>
                <a:latin typeface="Calibri"/>
                <a:ea typeface="Calibri"/>
                <a:cs typeface="Calibri"/>
                <a:sym typeface="Calibri"/>
              </a:rPr>
              <a:t>Install and adapt the crew, wire the launcher and kajiro</a:t>
            </a:r>
            <a:endParaRPr b="0" i="0" sz="1500" u="none" cap="none" strike="noStrike">
              <a:solidFill>
                <a:schemeClr val="dk1"/>
              </a:solidFill>
              <a:latin typeface="Calibri"/>
              <a:ea typeface="Calibri"/>
              <a:cs typeface="Calibri"/>
              <a:sym typeface="Calibri"/>
            </a:endParaRPr>
          </a:p>
        </p:txBody>
      </p:sp>
      <p:sp>
        <p:nvSpPr>
          <p:cNvPr id="409" name="Google Shape;409;p15"/>
          <p:cNvSpPr/>
          <p:nvPr/>
        </p:nvSpPr>
        <p:spPr>
          <a:xfrm>
            <a:off x="777240" y="4453128"/>
            <a:ext cx="502920" cy="502920"/>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p:nvPr/>
        </p:nvSpPr>
        <p:spPr>
          <a:xfrm>
            <a:off x="777240" y="445312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2000"/>
              <a:buFont typeface="Cambria"/>
              <a:buNone/>
            </a:pPr>
            <a:r>
              <a:rPr b="1" i="0" lang="en-US" sz="2000" u="none" cap="none" strike="noStrike">
                <a:solidFill>
                  <a:srgbClr val="0F172A"/>
                </a:solidFill>
                <a:latin typeface="Cambria"/>
                <a:ea typeface="Cambria"/>
                <a:cs typeface="Cambria"/>
                <a:sym typeface="Cambria"/>
              </a:rPr>
              <a:t>2</a:t>
            </a:r>
            <a:endParaRPr b="0" i="0" sz="2000" u="none" cap="none" strike="noStrike">
              <a:solidFill>
                <a:schemeClr val="dk1"/>
              </a:solidFill>
              <a:latin typeface="Calibri"/>
              <a:ea typeface="Calibri"/>
              <a:cs typeface="Calibri"/>
              <a:sym typeface="Calibri"/>
            </a:endParaRPr>
          </a:p>
        </p:txBody>
      </p:sp>
      <p:sp>
        <p:nvSpPr>
          <p:cNvPr id="411" name="Google Shape;411;p15"/>
          <p:cNvSpPr/>
          <p:nvPr/>
        </p:nvSpPr>
        <p:spPr>
          <a:xfrm>
            <a:off x="1463040" y="4453128"/>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500"/>
              <a:buFont typeface="Calibri"/>
              <a:buNone/>
            </a:pPr>
            <a:r>
              <a:rPr b="0" i="0" lang="en-US" sz="1500" u="none" cap="none" strike="noStrike">
                <a:solidFill>
                  <a:srgbClr val="E2E8F0"/>
                </a:solidFill>
                <a:latin typeface="Calibri"/>
                <a:ea typeface="Calibri"/>
                <a:cs typeface="Calibri"/>
                <a:sym typeface="Calibri"/>
              </a:rPr>
              <a:t>Build the elicitation funnel and the console board</a:t>
            </a:r>
            <a:endParaRPr b="0" i="0" sz="1500" u="none" cap="none" strike="noStrike">
              <a:solidFill>
                <a:schemeClr val="dk1"/>
              </a:solidFill>
              <a:latin typeface="Calibri"/>
              <a:ea typeface="Calibri"/>
              <a:cs typeface="Calibri"/>
              <a:sym typeface="Calibri"/>
            </a:endParaRPr>
          </a:p>
        </p:txBody>
      </p:sp>
      <p:sp>
        <p:nvSpPr>
          <p:cNvPr id="412" name="Google Shape;412;p15"/>
          <p:cNvSpPr/>
          <p:nvPr/>
        </p:nvSpPr>
        <p:spPr>
          <a:xfrm>
            <a:off x="777240" y="5202936"/>
            <a:ext cx="502920" cy="502920"/>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p:nvPr/>
        </p:nvSpPr>
        <p:spPr>
          <a:xfrm>
            <a:off x="777240" y="520293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2000"/>
              <a:buFont typeface="Cambria"/>
              <a:buNone/>
            </a:pPr>
            <a:r>
              <a:rPr b="1" i="0" lang="en-US" sz="2000" u="none" cap="none" strike="noStrike">
                <a:solidFill>
                  <a:srgbClr val="0F172A"/>
                </a:solidFill>
                <a:latin typeface="Cambria"/>
                <a:ea typeface="Cambria"/>
                <a:cs typeface="Cambria"/>
                <a:sym typeface="Cambria"/>
              </a:rPr>
              <a:t>3</a:t>
            </a:r>
            <a:endParaRPr b="0" i="0" sz="2000" u="none" cap="none" strike="noStrike">
              <a:solidFill>
                <a:schemeClr val="dk1"/>
              </a:solidFill>
              <a:latin typeface="Calibri"/>
              <a:ea typeface="Calibri"/>
              <a:cs typeface="Calibri"/>
              <a:sym typeface="Calibri"/>
            </a:endParaRPr>
          </a:p>
        </p:txBody>
      </p:sp>
      <p:sp>
        <p:nvSpPr>
          <p:cNvPr id="414" name="Google Shape;414;p15"/>
          <p:cNvSpPr/>
          <p:nvPr/>
        </p:nvSpPr>
        <p:spPr>
          <a:xfrm>
            <a:off x="1463040" y="5202936"/>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500"/>
              <a:buFont typeface="Calibri"/>
              <a:buNone/>
            </a:pPr>
            <a:r>
              <a:rPr b="0" i="0" lang="en-US" sz="1500" u="none" cap="none" strike="noStrike">
                <a:solidFill>
                  <a:srgbClr val="E2E8F0"/>
                </a:solidFill>
                <a:latin typeface="Calibri"/>
                <a:ea typeface="Calibri"/>
                <a:cs typeface="Calibri"/>
                <a:sym typeface="Calibri"/>
              </a:rPr>
              <a:t>Add a target, run /atrium prospect, watch the score write back</a:t>
            </a:r>
            <a:endParaRPr b="0" i="0" sz="1500" u="none" cap="none" strike="noStrike">
              <a:solidFill>
                <a:schemeClr val="dk1"/>
              </a:solidFill>
              <a:latin typeface="Calibri"/>
              <a:ea typeface="Calibri"/>
              <a:cs typeface="Calibri"/>
              <a:sym typeface="Calibri"/>
            </a:endParaRPr>
          </a:p>
        </p:txBody>
      </p:sp>
      <p:cxnSp>
        <p:nvCxnSpPr>
          <p:cNvPr id="415" name="Google Shape;415;p15"/>
          <p:cNvCxnSpPr/>
          <p:nvPr/>
        </p:nvCxnSpPr>
        <p:spPr>
          <a:xfrm>
            <a:off x="777240" y="6172200"/>
            <a:ext cx="3108960" cy="0"/>
          </a:xfrm>
          <a:prstGeom prst="straightConnector1">
            <a:avLst/>
          </a:prstGeom>
          <a:noFill/>
          <a:ln cap="flat" cmpd="sng" w="25400">
            <a:solidFill>
              <a:srgbClr val="E1A140"/>
            </a:solidFill>
            <a:prstDash val="solid"/>
            <a:round/>
            <a:headEnd len="sm" w="sm" type="none"/>
            <a:tailEnd len="sm" w="sm" type="none"/>
          </a:ln>
        </p:spPr>
      </p:cxnSp>
      <p:sp>
        <p:nvSpPr>
          <p:cNvPr id="416" name="Google Shape;416;p15"/>
          <p:cNvSpPr/>
          <p:nvPr/>
        </p:nvSpPr>
        <p:spPr>
          <a:xfrm>
            <a:off x="749808" y="630936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Atrium v5     Project code ATR     Kenneth Benavides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