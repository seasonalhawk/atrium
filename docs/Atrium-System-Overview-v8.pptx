
<file path=[Content_Types].xml><?xml version="1.0" encoding="utf-8"?>
<Types xmlns="http://schemas.openxmlformats.org/package/2006/content-types">
  <Default ContentType="application/xml" Extension="xml"/>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Lst>
  <p:sldSz cy="6858000" cx="12192000"/>
  <p:notesSz cx="6858000" cy="12192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E056BAD3-CD63-4CB3-9B92-DDC12BDEFCDA}">
  <a:tblStyle styleId="{E056BAD3-CD63-4CB3-9B92-DDC12BDEFCDA}"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11" Type="http://schemas.openxmlformats.org/officeDocument/2006/relationships/slide" Target="slides/slide6.xml"/><Relationship Id="rId22" Type="http://schemas.openxmlformats.org/officeDocument/2006/relationships/slide" Target="slides/slide17.xml"/><Relationship Id="rId10" Type="http://schemas.openxmlformats.org/officeDocument/2006/relationships/slide" Target="slides/slide5.xml"/><Relationship Id="rId21" Type="http://schemas.openxmlformats.org/officeDocument/2006/relationships/slide" Target="slides/slide16.xml"/><Relationship Id="rId13" Type="http://schemas.openxmlformats.org/officeDocument/2006/relationships/slide" Target="slides/slide8.xml"/><Relationship Id="rId12" Type="http://schemas.openxmlformats.org/officeDocument/2006/relationships/slide" Target="slides/slide7.xml"/><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5" Type="http://schemas.openxmlformats.org/officeDocument/2006/relationships/notesMaster" Target="notesMasters/notesMaster1.xml"/><Relationship Id="rId19" Type="http://schemas.openxmlformats.org/officeDocument/2006/relationships/slide" Target="slides/slide14.xml"/><Relationship Id="rId6" Type="http://schemas.openxmlformats.org/officeDocument/2006/relationships/slide" Target="slides/slide1.xml"/><Relationship Id="rId18" Type="http://schemas.openxmlformats.org/officeDocument/2006/relationships/slide" Target="slides/slide13.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 name="Shape 11"/>
        <p:cNvGrpSpPr/>
        <p:nvPr/>
      </p:nvGrpSpPr>
      <p:grpSpPr>
        <a:xfrm>
          <a:off x="0" y="0"/>
          <a:ext cx="0" cy="0"/>
          <a:chOff x="0" y="0"/>
          <a:chExt cx="0" cy="0"/>
        </a:xfrm>
      </p:grpSpPr>
      <p:sp>
        <p:nvSpPr>
          <p:cNvPr id="12" name="Google Shape;12;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 name="Google Shape;13;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 name="Google Shape;14;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 name="Shape 23"/>
        <p:cNvGrpSpPr/>
        <p:nvPr/>
      </p:nvGrpSpPr>
      <p:grpSpPr>
        <a:xfrm>
          <a:off x="0" y="0"/>
          <a:ext cx="0" cy="0"/>
          <a:chOff x="0" y="0"/>
          <a:chExt cx="0" cy="0"/>
        </a:xfrm>
      </p:grpSpPr>
      <p:sp>
        <p:nvSpPr>
          <p:cNvPr id="24" name="Google Shape;24;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 name="Google Shape;25;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 name="Google Shape;26;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 name="Shape 47"/>
        <p:cNvGrpSpPr/>
        <p:nvPr/>
      </p:nvGrpSpPr>
      <p:grpSpPr>
        <a:xfrm>
          <a:off x="0" y="0"/>
          <a:ext cx="0" cy="0"/>
          <a:chOff x="0" y="0"/>
          <a:chExt cx="0" cy="0"/>
        </a:xfrm>
      </p:grpSpPr>
      <p:sp>
        <p:nvSpPr>
          <p:cNvPr id="48" name="Google Shape;48;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9" name="Google Shape;49;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0" name="Google Shape;50;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 name="Shape 71"/>
        <p:cNvGrpSpPr/>
        <p:nvPr/>
      </p:nvGrpSpPr>
      <p:grpSpPr>
        <a:xfrm>
          <a:off x="0" y="0"/>
          <a:ext cx="0" cy="0"/>
          <a:chOff x="0" y="0"/>
          <a:chExt cx="0" cy="0"/>
        </a:xfrm>
      </p:grpSpPr>
      <p:sp>
        <p:nvSpPr>
          <p:cNvPr id="72" name="Google Shape;72;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3" name="Google Shape;73;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4" name="Google Shape;74;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1" name="Google Shape;91;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2" name="Google Shape;92;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9" name="Google Shape;119;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0" name="Google Shape;120;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9" name="Google Shape;149;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0" name="Google Shape;150;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7" name="Google Shape;187;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8" name="Google Shape;188;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3" name="Shape 223"/>
        <p:cNvGrpSpPr/>
        <p:nvPr/>
      </p:nvGrpSpPr>
      <p:grpSpPr>
        <a:xfrm>
          <a:off x="0" y="0"/>
          <a:ext cx="0" cy="0"/>
          <a:chOff x="0" y="0"/>
          <a:chExt cx="0" cy="0"/>
        </a:xfrm>
      </p:grpSpPr>
      <p:sp>
        <p:nvSpPr>
          <p:cNvPr id="224" name="Google Shape;224;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5" name="Google Shape;225;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6" name="Google Shape;226;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4" name="Shape 254"/>
        <p:cNvGrpSpPr/>
        <p:nvPr/>
      </p:nvGrpSpPr>
      <p:grpSpPr>
        <a:xfrm>
          <a:off x="0" y="0"/>
          <a:ext cx="0" cy="0"/>
          <a:chOff x="0" y="0"/>
          <a:chExt cx="0" cy="0"/>
        </a:xfrm>
      </p:grpSpPr>
      <p:sp>
        <p:nvSpPr>
          <p:cNvPr id="255" name="Google Shape;255;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6" name="Google Shape;256;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7" name="Google Shape;257;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6" name="Shape 276"/>
        <p:cNvGrpSpPr/>
        <p:nvPr/>
      </p:nvGrpSpPr>
      <p:grpSpPr>
        <a:xfrm>
          <a:off x="0" y="0"/>
          <a:ext cx="0" cy="0"/>
          <a:chOff x="0" y="0"/>
          <a:chExt cx="0" cy="0"/>
        </a:xfrm>
      </p:grpSpPr>
      <p:sp>
        <p:nvSpPr>
          <p:cNvPr id="277" name="Google Shape;277;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8" name="Google Shape;278;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9" name="Google Shape;279;p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6" name="Shape 286"/>
        <p:cNvGrpSpPr/>
        <p:nvPr/>
      </p:nvGrpSpPr>
      <p:grpSpPr>
        <a:xfrm>
          <a:off x="0" y="0"/>
          <a:ext cx="0" cy="0"/>
          <a:chOff x="0" y="0"/>
          <a:chExt cx="0" cy="0"/>
        </a:xfrm>
      </p:grpSpPr>
      <p:sp>
        <p:nvSpPr>
          <p:cNvPr id="287" name="Google Shape;287;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8" name="Google Shape;288;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9" name="Google Shape;289;p1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9" name="Shape 319"/>
        <p:cNvGrpSpPr/>
        <p:nvPr/>
      </p:nvGrpSpPr>
      <p:grpSpPr>
        <a:xfrm>
          <a:off x="0" y="0"/>
          <a:ext cx="0" cy="0"/>
          <a:chOff x="0" y="0"/>
          <a:chExt cx="0" cy="0"/>
        </a:xfrm>
      </p:grpSpPr>
      <p:sp>
        <p:nvSpPr>
          <p:cNvPr id="320" name="Google Shape;320;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21" name="Google Shape;321;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22" name="Google Shape;322;p1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9" name="Shape 339"/>
        <p:cNvGrpSpPr/>
        <p:nvPr/>
      </p:nvGrpSpPr>
      <p:grpSpPr>
        <a:xfrm>
          <a:off x="0" y="0"/>
          <a:ext cx="0" cy="0"/>
          <a:chOff x="0" y="0"/>
          <a:chExt cx="0" cy="0"/>
        </a:xfrm>
      </p:grpSpPr>
      <p:sp>
        <p:nvSpPr>
          <p:cNvPr id="340" name="Google Shape;340;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41" name="Google Shape;341;p1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42" name="Google Shape;342;p1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1" name="Shape 361"/>
        <p:cNvGrpSpPr/>
        <p:nvPr/>
      </p:nvGrpSpPr>
      <p:grpSpPr>
        <a:xfrm>
          <a:off x="0" y="0"/>
          <a:ext cx="0" cy="0"/>
          <a:chOff x="0" y="0"/>
          <a:chExt cx="0" cy="0"/>
        </a:xfrm>
      </p:grpSpPr>
      <p:sp>
        <p:nvSpPr>
          <p:cNvPr id="362" name="Google Shape;362;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63" name="Google Shape;363;p1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64" name="Google Shape;364;p1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2" name="Shape 402"/>
        <p:cNvGrpSpPr/>
        <p:nvPr/>
      </p:nvGrpSpPr>
      <p:grpSpPr>
        <a:xfrm>
          <a:off x="0" y="0"/>
          <a:ext cx="0" cy="0"/>
          <a:chOff x="0" y="0"/>
          <a:chExt cx="0" cy="0"/>
        </a:xfrm>
      </p:grpSpPr>
      <p:sp>
        <p:nvSpPr>
          <p:cNvPr id="403" name="Google Shape;403;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04" name="Google Shape;404;p1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05" name="Google Shape;405;p1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3" name="Shape 433"/>
        <p:cNvGrpSpPr/>
        <p:nvPr/>
      </p:nvGrpSpPr>
      <p:grpSpPr>
        <a:xfrm>
          <a:off x="0" y="0"/>
          <a:ext cx="0" cy="0"/>
          <a:chOff x="0" y="0"/>
          <a:chExt cx="0" cy="0"/>
        </a:xfrm>
      </p:grpSpPr>
      <p:sp>
        <p:nvSpPr>
          <p:cNvPr id="434" name="Google Shape;434;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35" name="Google Shape;435;p1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36" name="Google Shape;436;p1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6" name="Shape 466"/>
        <p:cNvGrpSpPr/>
        <p:nvPr/>
      </p:nvGrpSpPr>
      <p:grpSpPr>
        <a:xfrm>
          <a:off x="0" y="0"/>
          <a:ext cx="0" cy="0"/>
          <a:chOff x="0" y="0"/>
          <a:chExt cx="0" cy="0"/>
        </a:xfrm>
      </p:grpSpPr>
      <p:sp>
        <p:nvSpPr>
          <p:cNvPr id="467" name="Google Shape;467;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68" name="Google Shape;468;p1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69" name="Google Shape;469;p1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0" name="Shape 1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8"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D2536"/>
        </a:solidFill>
      </p:bgPr>
    </p:bg>
    <p:spTree>
      <p:nvGrpSpPr>
        <p:cNvPr id="15" name="Shape 15"/>
        <p:cNvGrpSpPr/>
        <p:nvPr/>
      </p:nvGrpSpPr>
      <p:grpSpPr>
        <a:xfrm>
          <a:off x="0" y="0"/>
          <a:ext cx="0" cy="0"/>
          <a:chOff x="0" y="0"/>
          <a:chExt cx="0" cy="0"/>
        </a:xfrm>
      </p:grpSpPr>
      <p:sp>
        <p:nvSpPr>
          <p:cNvPr id="16" name="Google Shape;16;p3"/>
          <p:cNvSpPr/>
          <p:nvPr/>
        </p:nvSpPr>
        <p:spPr>
          <a:xfrm>
            <a:off x="9692640" y="-1554480"/>
            <a:ext cx="4389120" cy="4389120"/>
          </a:xfrm>
          <a:prstGeom prst="ellipse">
            <a:avLst/>
          </a:prstGeom>
          <a:solidFill>
            <a:srgbClr val="4682B4">
              <a:alpha val="38039"/>
            </a:srgbClr>
          </a:solidFill>
          <a:ln cap="flat" cmpd="sng" w="12700">
            <a:solidFill>
              <a:srgbClr val="4682B4">
                <a:alpha val="38039"/>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 name="Google Shape;17;p3"/>
          <p:cNvSpPr/>
          <p:nvPr/>
        </p:nvSpPr>
        <p:spPr>
          <a:xfrm>
            <a:off x="10789920" y="4206240"/>
            <a:ext cx="3108960" cy="3108960"/>
          </a:xfrm>
          <a:prstGeom prst="ellipse">
            <a:avLst/>
          </a:prstGeom>
          <a:solidFill>
            <a:srgbClr val="4682B4">
              <a:alpha val="30196"/>
            </a:srgbClr>
          </a:solidFill>
          <a:ln cap="flat" cmpd="sng" w="12700">
            <a:solidFill>
              <a:srgbClr val="4682B4">
                <a:alpha val="30196"/>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 name="Google Shape;18;p3"/>
          <p:cNvSpPr/>
          <p:nvPr/>
        </p:nvSpPr>
        <p:spPr>
          <a:xfrm>
            <a:off x="731520" y="1554480"/>
            <a:ext cx="100584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DC3E6"/>
              </a:buClr>
              <a:buSzPts val="1400"/>
              <a:buFont typeface="Calibri"/>
              <a:buNone/>
            </a:pPr>
            <a:r>
              <a:rPr b="1" i="0" lang="en-US" sz="1400" u="none" cap="none" strike="noStrike">
                <a:solidFill>
                  <a:srgbClr val="9DC3E6"/>
                </a:solidFill>
                <a:latin typeface="Calibri"/>
                <a:ea typeface="Calibri"/>
                <a:cs typeface="Calibri"/>
                <a:sym typeface="Calibri"/>
              </a:rPr>
              <a:t>ATRIUM SYSTEM, VERSION 8</a:t>
            </a:r>
            <a:endParaRPr b="0" i="0" sz="1400" u="none" cap="none" strike="noStrike">
              <a:solidFill>
                <a:schemeClr val="dk1"/>
              </a:solidFill>
              <a:latin typeface="Calibri"/>
              <a:ea typeface="Calibri"/>
              <a:cs typeface="Calibri"/>
              <a:sym typeface="Calibri"/>
            </a:endParaRPr>
          </a:p>
        </p:txBody>
      </p:sp>
      <p:sp>
        <p:nvSpPr>
          <p:cNvPr id="19" name="Google Shape;19;p3"/>
          <p:cNvSpPr/>
          <p:nvPr/>
        </p:nvSpPr>
        <p:spPr>
          <a:xfrm>
            <a:off x="731520" y="1965960"/>
            <a:ext cx="10607040" cy="914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4400"/>
              <a:buFont typeface="Calibri"/>
              <a:buNone/>
            </a:pPr>
            <a:r>
              <a:rPr b="1" i="0" lang="en-US" sz="4400" u="none" cap="none" strike="noStrike">
                <a:solidFill>
                  <a:srgbClr val="FFFFFF"/>
                </a:solidFill>
                <a:latin typeface="Calibri"/>
                <a:ea typeface="Calibri"/>
                <a:cs typeface="Calibri"/>
                <a:sym typeface="Calibri"/>
              </a:rPr>
              <a:t>What we are building</a:t>
            </a:r>
            <a:endParaRPr b="0" i="0" sz="4400" u="none" cap="none" strike="noStrike">
              <a:solidFill>
                <a:schemeClr val="dk1"/>
              </a:solidFill>
              <a:latin typeface="Calibri"/>
              <a:ea typeface="Calibri"/>
              <a:cs typeface="Calibri"/>
              <a:sym typeface="Calibri"/>
            </a:endParaRPr>
          </a:p>
        </p:txBody>
      </p:sp>
      <p:sp>
        <p:nvSpPr>
          <p:cNvPr id="20" name="Google Shape;20;p3"/>
          <p:cNvSpPr/>
          <p:nvPr/>
        </p:nvSpPr>
        <p:spPr>
          <a:xfrm>
            <a:off x="749808" y="3017520"/>
            <a:ext cx="9692640" cy="100584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Clr>
                <a:srgbClr val="A9B4C4"/>
              </a:buClr>
              <a:buSzPts val="1500"/>
              <a:buFont typeface="Calibri"/>
              <a:buNone/>
            </a:pPr>
            <a:r>
              <a:rPr b="0" i="0" lang="en-US" sz="1500" u="none" cap="none" strike="noStrike">
                <a:solidFill>
                  <a:srgbClr val="A9B4C4"/>
                </a:solidFill>
                <a:latin typeface="Calibri"/>
                <a:ea typeface="Calibri"/>
                <a:cs typeface="Calibri"/>
                <a:sym typeface="Calibri"/>
              </a:rPr>
              <a:t>The complete overview: a machine that finds leads, works them with an AI crew, and asks you for one thing only, to review the data before an email reaches a real person. Sourcing, the crew, the console, the profiles, the automation, the costs, and the build plan.</a:t>
            </a:r>
            <a:endParaRPr b="0" i="0" sz="1500" u="none" cap="none" strike="noStrike">
              <a:solidFill>
                <a:schemeClr val="dk1"/>
              </a:solidFill>
              <a:latin typeface="Calibri"/>
              <a:ea typeface="Calibri"/>
              <a:cs typeface="Calibri"/>
              <a:sym typeface="Calibri"/>
            </a:endParaRPr>
          </a:p>
        </p:txBody>
      </p:sp>
      <p:cxnSp>
        <p:nvCxnSpPr>
          <p:cNvPr id="21" name="Google Shape;21;p3"/>
          <p:cNvCxnSpPr/>
          <p:nvPr/>
        </p:nvCxnSpPr>
        <p:spPr>
          <a:xfrm>
            <a:off x="777240" y="4709160"/>
            <a:ext cx="3108960" cy="0"/>
          </a:xfrm>
          <a:prstGeom prst="straightConnector1">
            <a:avLst/>
          </a:prstGeom>
          <a:noFill/>
          <a:ln cap="flat" cmpd="sng" w="25400">
            <a:solidFill>
              <a:srgbClr val="9DC3E6"/>
            </a:solidFill>
            <a:prstDash val="solid"/>
            <a:round/>
            <a:headEnd len="sm" w="sm" type="none"/>
            <a:tailEnd len="sm" w="sm" type="none"/>
          </a:ln>
        </p:spPr>
      </p:cxnSp>
      <p:sp>
        <p:nvSpPr>
          <p:cNvPr id="22" name="Google Shape;22;p3"/>
          <p:cNvSpPr/>
          <p:nvPr/>
        </p:nvSpPr>
        <p:spPr>
          <a:xfrm>
            <a:off x="749808" y="4873752"/>
            <a:ext cx="100584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Alto</a:t>
            </a:r>
            <a:r>
              <a:rPr b="1" i="0" lang="en-US" sz="1300" u="none" cap="none" strike="noStrike">
                <a:solidFill>
                  <a:srgbClr val="9DC3E6"/>
                </a:solidFill>
                <a:latin typeface="Calibri"/>
                <a:ea typeface="Calibri"/>
                <a:cs typeface="Calibri"/>
                <a:sym typeface="Calibri"/>
              </a:rPr>
              <a:t>Lumo</a:t>
            </a:r>
            <a:r>
              <a:rPr b="1" i="0" lang="en-US" sz="1300" u="none" cap="none" strike="noStrike">
                <a:solidFill>
                  <a:srgbClr val="A9B4C4"/>
                </a:solidFill>
                <a:latin typeface="Calibri"/>
                <a:ea typeface="Calibri"/>
                <a:cs typeface="Calibri"/>
                <a:sym typeface="Calibri"/>
              </a:rPr>
              <a:t> Sales Leads</a:t>
            </a:r>
            <a:r>
              <a:rPr b="0" i="0" lang="en-US" sz="1300" u="none" cap="none" strike="noStrike">
                <a:solidFill>
                  <a:srgbClr val="A9B4C4"/>
                </a:solidFill>
                <a:latin typeface="Calibri"/>
                <a:ea typeface="Calibri"/>
                <a:cs typeface="Calibri"/>
                <a:sym typeface="Calibri"/>
              </a:rPr>
              <a:t>     Complete system overview     Kenneth Benavides     July 5, 2026</a:t>
            </a:r>
            <a:endParaRPr b="0" i="0" sz="1300" u="none" cap="none" strike="noStrike">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7F1"/>
        </a:solidFill>
      </p:bgPr>
    </p:bg>
    <p:spTree>
      <p:nvGrpSpPr>
        <p:cNvPr id="27" name="Shape 27"/>
        <p:cNvGrpSpPr/>
        <p:nvPr/>
      </p:nvGrpSpPr>
      <p:grpSpPr>
        <a:xfrm>
          <a:off x="0" y="0"/>
          <a:ext cx="0" cy="0"/>
          <a:chOff x="0" y="0"/>
          <a:chExt cx="0" cy="0"/>
        </a:xfrm>
      </p:grpSpPr>
      <p:sp>
        <p:nvSpPr>
          <p:cNvPr id="28" name="Google Shape;28;p4"/>
          <p:cNvSpPr/>
          <p:nvPr/>
        </p:nvSpPr>
        <p:spPr>
          <a:xfrm>
            <a:off x="548640" y="384048"/>
            <a:ext cx="1106424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682B4"/>
              </a:buClr>
              <a:buSzPts val="1200"/>
              <a:buFont typeface="Calibri"/>
              <a:buNone/>
            </a:pPr>
            <a:r>
              <a:rPr b="1" i="0" lang="en-US" sz="1200" u="none" cap="none" strike="noStrike">
                <a:solidFill>
                  <a:srgbClr val="4682B4"/>
                </a:solidFill>
                <a:latin typeface="Calibri"/>
                <a:ea typeface="Calibri"/>
                <a:cs typeface="Calibri"/>
                <a:sym typeface="Calibri"/>
              </a:rPr>
              <a:t>THE WHOLE IDEA IN ONE LINE</a:t>
            </a:r>
            <a:endParaRPr b="0" i="0" sz="1200" u="none" cap="none" strike="noStrike">
              <a:solidFill>
                <a:schemeClr val="dk1"/>
              </a:solidFill>
              <a:latin typeface="Calibri"/>
              <a:ea typeface="Calibri"/>
              <a:cs typeface="Calibri"/>
              <a:sym typeface="Calibri"/>
            </a:endParaRPr>
          </a:p>
        </p:txBody>
      </p:sp>
      <p:sp>
        <p:nvSpPr>
          <p:cNvPr id="29" name="Google Shape;29;p4"/>
          <p:cNvSpPr/>
          <p:nvPr/>
        </p:nvSpPr>
        <p:spPr>
          <a:xfrm>
            <a:off x="548640" y="658368"/>
            <a:ext cx="11064240"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2536"/>
              </a:buClr>
              <a:buSzPts val="2700"/>
              <a:buFont typeface="Calibri"/>
              <a:buNone/>
            </a:pPr>
            <a:r>
              <a:rPr b="1" i="0" lang="en-US" sz="2700" u="none" cap="none" strike="noStrike">
                <a:solidFill>
                  <a:srgbClr val="1D2536"/>
                </a:solidFill>
                <a:latin typeface="Calibri"/>
                <a:ea typeface="Calibri"/>
                <a:cs typeface="Calibri"/>
                <a:sym typeface="Calibri"/>
              </a:rPr>
              <a:t>Find, work, review, send</a:t>
            </a:r>
            <a:endParaRPr b="0" i="0" sz="2700" u="none" cap="none" strike="noStrike">
              <a:solidFill>
                <a:schemeClr val="dk1"/>
              </a:solidFill>
              <a:latin typeface="Calibri"/>
              <a:ea typeface="Calibri"/>
              <a:cs typeface="Calibri"/>
              <a:sym typeface="Calibri"/>
            </a:endParaRPr>
          </a:p>
        </p:txBody>
      </p:sp>
      <p:sp>
        <p:nvSpPr>
          <p:cNvPr id="30" name="Google Shape;30;p4"/>
          <p:cNvSpPr/>
          <p:nvPr/>
        </p:nvSpPr>
        <p:spPr>
          <a:xfrm>
            <a:off x="548640" y="1463040"/>
            <a:ext cx="11064240" cy="822960"/>
          </a:xfrm>
          <a:prstGeom prst="rect">
            <a:avLst/>
          </a:prstGeom>
          <a:noFill/>
          <a:ln>
            <a:noFill/>
          </a:ln>
        </p:spPr>
        <p:txBody>
          <a:bodyPr anchorCtr="0" anchor="ctr" bIns="0" lIns="0" spcFirstLastPara="1" rIns="0" wrap="square" tIns="0">
            <a:noAutofit/>
          </a:bodyPr>
          <a:lstStyle/>
          <a:p>
            <a:pPr indent="0" lvl="0" marL="0" marR="0" rtl="0" algn="l">
              <a:lnSpc>
                <a:spcPct val="130000"/>
              </a:lnSpc>
              <a:spcBef>
                <a:spcPts val="0"/>
              </a:spcBef>
              <a:spcAft>
                <a:spcPts val="0"/>
              </a:spcAft>
              <a:buClr>
                <a:srgbClr val="1D2536"/>
              </a:buClr>
              <a:buSzPts val="1600"/>
              <a:buFont typeface="Calibri"/>
              <a:buNone/>
            </a:pPr>
            <a:r>
              <a:rPr b="0" i="0" lang="en-US" sz="1600" u="none" cap="none" strike="noStrike">
                <a:solidFill>
                  <a:srgbClr val="1D2536"/>
                </a:solidFill>
                <a:latin typeface="Calibri"/>
                <a:ea typeface="Calibri"/>
                <a:cs typeface="Calibri"/>
                <a:sym typeface="Calibri"/>
              </a:rPr>
              <a:t>The system runs the entire motion from finding a company to a ready-to-send draft, and stops at one human checkpoint, before a real person is contacted. Everything to the left of you is automated.</a:t>
            </a:r>
            <a:endParaRPr b="0" i="0" sz="1600" u="none" cap="none" strike="noStrike">
              <a:solidFill>
                <a:schemeClr val="dk1"/>
              </a:solidFill>
              <a:latin typeface="Calibri"/>
              <a:ea typeface="Calibri"/>
              <a:cs typeface="Calibri"/>
              <a:sym typeface="Calibri"/>
            </a:endParaRPr>
          </a:p>
        </p:txBody>
      </p:sp>
      <p:sp>
        <p:nvSpPr>
          <p:cNvPr id="31" name="Google Shape;31;p4"/>
          <p:cNvSpPr/>
          <p:nvPr/>
        </p:nvSpPr>
        <p:spPr>
          <a:xfrm>
            <a:off x="548640" y="3017520"/>
            <a:ext cx="2514600" cy="1417320"/>
          </a:xfrm>
          <a:prstGeom prst="roundRect">
            <a:avLst>
              <a:gd fmla="val 5161" name="adj"/>
            </a:avLst>
          </a:prstGeom>
          <a:solidFill>
            <a:srgbClr val="E7EEF5"/>
          </a:solidFill>
          <a:ln cap="flat" cmpd="sng" w="12700">
            <a:solidFill>
              <a:srgbClr val="E7EEF5"/>
            </a:solidFill>
            <a:prstDash val="solid"/>
            <a:round/>
            <a:headEnd len="sm" w="sm" type="none"/>
            <a:tailEnd len="sm" w="sm" type="none"/>
          </a:ln>
          <a:effectLst>
            <a:outerShdw blurRad="88900" rotWithShape="0" algn="bl" dir="5400000" dist="38100">
              <a:srgbClr val="000000">
                <a:alpha val="1294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 name="Google Shape;32;p4"/>
          <p:cNvSpPr/>
          <p:nvPr/>
        </p:nvSpPr>
        <p:spPr>
          <a:xfrm>
            <a:off x="731520" y="3310128"/>
            <a:ext cx="2148840" cy="5486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D2536"/>
              </a:buClr>
              <a:buSzPts val="1700"/>
              <a:buFont typeface="Calibri"/>
              <a:buNone/>
            </a:pPr>
            <a:r>
              <a:rPr b="1" i="0" lang="en-US" sz="1700" u="none" cap="none" strike="noStrike">
                <a:solidFill>
                  <a:srgbClr val="1D2536"/>
                </a:solidFill>
                <a:latin typeface="Calibri"/>
                <a:ea typeface="Calibri"/>
                <a:cs typeface="Calibri"/>
                <a:sym typeface="Calibri"/>
              </a:rPr>
              <a:t>Find leads</a:t>
            </a:r>
            <a:endParaRPr b="0" i="0" sz="1700" u="none" cap="none" strike="noStrike">
              <a:solidFill>
                <a:schemeClr val="dk1"/>
              </a:solidFill>
              <a:latin typeface="Calibri"/>
              <a:ea typeface="Calibri"/>
              <a:cs typeface="Calibri"/>
              <a:sym typeface="Calibri"/>
            </a:endParaRPr>
          </a:p>
        </p:txBody>
      </p:sp>
      <p:sp>
        <p:nvSpPr>
          <p:cNvPr id="33" name="Google Shape;33;p4"/>
          <p:cNvSpPr/>
          <p:nvPr/>
        </p:nvSpPr>
        <p:spPr>
          <a:xfrm>
            <a:off x="731520" y="3886200"/>
            <a:ext cx="2148840"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E7686"/>
              </a:buClr>
              <a:buSzPts val="1200"/>
              <a:buFont typeface="Calibri"/>
              <a:buNone/>
            </a:pPr>
            <a:r>
              <a:rPr b="0" i="0" lang="en-US" sz="1200" u="none" cap="none" strike="noStrike">
                <a:solidFill>
                  <a:srgbClr val="6E7686"/>
                </a:solidFill>
                <a:latin typeface="Calibri"/>
                <a:ea typeface="Calibri"/>
                <a:cs typeface="Calibri"/>
                <a:sym typeface="Calibri"/>
              </a:rPr>
              <a:t>and verify emails</a:t>
            </a:r>
            <a:endParaRPr b="0" i="0" sz="1200" u="none" cap="none" strike="noStrike">
              <a:solidFill>
                <a:schemeClr val="dk1"/>
              </a:solidFill>
              <a:latin typeface="Calibri"/>
              <a:ea typeface="Calibri"/>
              <a:cs typeface="Calibri"/>
              <a:sym typeface="Calibri"/>
            </a:endParaRPr>
          </a:p>
        </p:txBody>
      </p:sp>
      <p:cxnSp>
        <p:nvCxnSpPr>
          <p:cNvPr id="34" name="Google Shape;34;p4"/>
          <p:cNvCxnSpPr/>
          <p:nvPr/>
        </p:nvCxnSpPr>
        <p:spPr>
          <a:xfrm>
            <a:off x="3063240" y="3726180"/>
            <a:ext cx="365760" cy="0"/>
          </a:xfrm>
          <a:prstGeom prst="straightConnector1">
            <a:avLst/>
          </a:prstGeom>
          <a:noFill/>
          <a:ln cap="flat" cmpd="sng" w="28575">
            <a:solidFill>
              <a:srgbClr val="6E7686"/>
            </a:solidFill>
            <a:prstDash val="solid"/>
            <a:round/>
            <a:headEnd len="sm" w="sm" type="none"/>
            <a:tailEnd len="med" w="med" type="triangle"/>
          </a:ln>
        </p:spPr>
      </p:cxnSp>
      <p:sp>
        <p:nvSpPr>
          <p:cNvPr id="35" name="Google Shape;35;p4"/>
          <p:cNvSpPr/>
          <p:nvPr/>
        </p:nvSpPr>
        <p:spPr>
          <a:xfrm>
            <a:off x="3429000" y="3017520"/>
            <a:ext cx="2514600" cy="1417320"/>
          </a:xfrm>
          <a:prstGeom prst="roundRect">
            <a:avLst>
              <a:gd fmla="val 5161" name="adj"/>
            </a:avLst>
          </a:prstGeom>
          <a:solidFill>
            <a:srgbClr val="F2EDE3"/>
          </a:solidFill>
          <a:ln cap="flat" cmpd="sng" w="12700">
            <a:solidFill>
              <a:srgbClr val="F2EDE3"/>
            </a:solidFill>
            <a:prstDash val="solid"/>
            <a:round/>
            <a:headEnd len="sm" w="sm" type="none"/>
            <a:tailEnd len="sm" w="sm" type="none"/>
          </a:ln>
          <a:effectLst>
            <a:outerShdw blurRad="88900" rotWithShape="0" algn="bl" dir="5400000" dist="38100">
              <a:srgbClr val="000000">
                <a:alpha val="1294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 name="Google Shape;36;p4"/>
          <p:cNvSpPr/>
          <p:nvPr/>
        </p:nvSpPr>
        <p:spPr>
          <a:xfrm>
            <a:off x="3611880" y="3310128"/>
            <a:ext cx="2148840" cy="5486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D2536"/>
              </a:buClr>
              <a:buSzPts val="1700"/>
              <a:buFont typeface="Calibri"/>
              <a:buNone/>
            </a:pPr>
            <a:r>
              <a:rPr b="1" i="0" lang="en-US" sz="1700" u="none" cap="none" strike="noStrike">
                <a:solidFill>
                  <a:srgbClr val="1D2536"/>
                </a:solidFill>
                <a:latin typeface="Calibri"/>
                <a:ea typeface="Calibri"/>
                <a:cs typeface="Calibri"/>
                <a:sym typeface="Calibri"/>
              </a:rPr>
              <a:t>The crew works them</a:t>
            </a:r>
            <a:endParaRPr b="0" i="0" sz="1700" u="none" cap="none" strike="noStrike">
              <a:solidFill>
                <a:schemeClr val="dk1"/>
              </a:solidFill>
              <a:latin typeface="Calibri"/>
              <a:ea typeface="Calibri"/>
              <a:cs typeface="Calibri"/>
              <a:sym typeface="Calibri"/>
            </a:endParaRPr>
          </a:p>
        </p:txBody>
      </p:sp>
      <p:sp>
        <p:nvSpPr>
          <p:cNvPr id="37" name="Google Shape;37;p4"/>
          <p:cNvSpPr/>
          <p:nvPr/>
        </p:nvSpPr>
        <p:spPr>
          <a:xfrm>
            <a:off x="3611880" y="3886200"/>
            <a:ext cx="2148840"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E7686"/>
              </a:buClr>
              <a:buSzPts val="1200"/>
              <a:buFont typeface="Calibri"/>
              <a:buNone/>
            </a:pPr>
            <a:r>
              <a:rPr b="0" i="0" lang="en-US" sz="1200" u="none" cap="none" strike="noStrike">
                <a:solidFill>
                  <a:srgbClr val="6E7686"/>
                </a:solidFill>
                <a:latin typeface="Calibri"/>
                <a:ea typeface="Calibri"/>
                <a:cs typeface="Calibri"/>
                <a:sym typeface="Calibri"/>
              </a:rPr>
              <a:t>researches and drafts</a:t>
            </a:r>
            <a:endParaRPr b="0" i="0" sz="1200" u="none" cap="none" strike="noStrike">
              <a:solidFill>
                <a:schemeClr val="dk1"/>
              </a:solidFill>
              <a:latin typeface="Calibri"/>
              <a:ea typeface="Calibri"/>
              <a:cs typeface="Calibri"/>
              <a:sym typeface="Calibri"/>
            </a:endParaRPr>
          </a:p>
        </p:txBody>
      </p:sp>
      <p:cxnSp>
        <p:nvCxnSpPr>
          <p:cNvPr id="38" name="Google Shape;38;p4"/>
          <p:cNvCxnSpPr/>
          <p:nvPr/>
        </p:nvCxnSpPr>
        <p:spPr>
          <a:xfrm>
            <a:off x="5943600" y="3726180"/>
            <a:ext cx="365760" cy="0"/>
          </a:xfrm>
          <a:prstGeom prst="straightConnector1">
            <a:avLst/>
          </a:prstGeom>
          <a:noFill/>
          <a:ln cap="flat" cmpd="sng" w="28575">
            <a:solidFill>
              <a:srgbClr val="6E7686"/>
            </a:solidFill>
            <a:prstDash val="solid"/>
            <a:round/>
            <a:headEnd len="sm" w="sm" type="none"/>
            <a:tailEnd len="med" w="med" type="triangle"/>
          </a:ln>
        </p:spPr>
      </p:cxnSp>
      <p:sp>
        <p:nvSpPr>
          <p:cNvPr id="39" name="Google Shape;39;p4"/>
          <p:cNvSpPr/>
          <p:nvPr/>
        </p:nvSpPr>
        <p:spPr>
          <a:xfrm>
            <a:off x="6309360" y="3017520"/>
            <a:ext cx="2514600" cy="1417320"/>
          </a:xfrm>
          <a:prstGeom prst="roundRect">
            <a:avLst>
              <a:gd fmla="val 5161" name="adj"/>
            </a:avLst>
          </a:prstGeom>
          <a:solidFill>
            <a:srgbClr val="E7EEF5"/>
          </a:solidFill>
          <a:ln cap="flat" cmpd="sng" w="12700">
            <a:solidFill>
              <a:srgbClr val="E7EEF5"/>
            </a:solidFill>
            <a:prstDash val="solid"/>
            <a:round/>
            <a:headEnd len="sm" w="sm" type="none"/>
            <a:tailEnd len="sm" w="sm" type="none"/>
          </a:ln>
          <a:effectLst>
            <a:outerShdw blurRad="88900" rotWithShape="0" algn="bl" dir="5400000" dist="38100">
              <a:srgbClr val="000000">
                <a:alpha val="1294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 name="Google Shape;40;p4"/>
          <p:cNvSpPr/>
          <p:nvPr/>
        </p:nvSpPr>
        <p:spPr>
          <a:xfrm>
            <a:off x="6492240" y="3310128"/>
            <a:ext cx="2148840" cy="5486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D2536"/>
              </a:buClr>
              <a:buSzPts val="1700"/>
              <a:buFont typeface="Calibri"/>
              <a:buNone/>
            </a:pPr>
            <a:r>
              <a:rPr b="1" i="0" lang="en-US" sz="1700" u="none" cap="none" strike="noStrike">
                <a:solidFill>
                  <a:srgbClr val="1D2536"/>
                </a:solidFill>
                <a:latin typeface="Calibri"/>
                <a:ea typeface="Calibri"/>
                <a:cs typeface="Calibri"/>
                <a:sym typeface="Calibri"/>
              </a:rPr>
              <a:t>You review</a:t>
            </a:r>
            <a:endParaRPr b="0" i="0" sz="1700" u="none" cap="none" strike="noStrike">
              <a:solidFill>
                <a:schemeClr val="dk1"/>
              </a:solidFill>
              <a:latin typeface="Calibri"/>
              <a:ea typeface="Calibri"/>
              <a:cs typeface="Calibri"/>
              <a:sym typeface="Calibri"/>
            </a:endParaRPr>
          </a:p>
        </p:txBody>
      </p:sp>
      <p:sp>
        <p:nvSpPr>
          <p:cNvPr id="41" name="Google Shape;41;p4"/>
          <p:cNvSpPr/>
          <p:nvPr/>
        </p:nvSpPr>
        <p:spPr>
          <a:xfrm>
            <a:off x="6492240" y="3886200"/>
            <a:ext cx="2148840"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E7686"/>
              </a:buClr>
              <a:buSzPts val="1200"/>
              <a:buFont typeface="Calibri"/>
              <a:buNone/>
            </a:pPr>
            <a:r>
              <a:rPr b="0" i="0" lang="en-US" sz="1200" u="none" cap="none" strike="noStrike">
                <a:solidFill>
                  <a:srgbClr val="6E7686"/>
                </a:solidFill>
                <a:latin typeface="Calibri"/>
                <a:ea typeface="Calibri"/>
                <a:cs typeface="Calibri"/>
                <a:sym typeface="Calibri"/>
              </a:rPr>
              <a:t>approve before send</a:t>
            </a:r>
            <a:endParaRPr b="0" i="0" sz="1200" u="none" cap="none" strike="noStrike">
              <a:solidFill>
                <a:schemeClr val="dk1"/>
              </a:solidFill>
              <a:latin typeface="Calibri"/>
              <a:ea typeface="Calibri"/>
              <a:cs typeface="Calibri"/>
              <a:sym typeface="Calibri"/>
            </a:endParaRPr>
          </a:p>
        </p:txBody>
      </p:sp>
      <p:cxnSp>
        <p:nvCxnSpPr>
          <p:cNvPr id="42" name="Google Shape;42;p4"/>
          <p:cNvCxnSpPr/>
          <p:nvPr/>
        </p:nvCxnSpPr>
        <p:spPr>
          <a:xfrm>
            <a:off x="8823960" y="3726180"/>
            <a:ext cx="365760" cy="0"/>
          </a:xfrm>
          <a:prstGeom prst="straightConnector1">
            <a:avLst/>
          </a:prstGeom>
          <a:noFill/>
          <a:ln cap="flat" cmpd="sng" w="28575">
            <a:solidFill>
              <a:srgbClr val="6E7686"/>
            </a:solidFill>
            <a:prstDash val="solid"/>
            <a:round/>
            <a:headEnd len="sm" w="sm" type="none"/>
            <a:tailEnd len="med" w="med" type="triangle"/>
          </a:ln>
        </p:spPr>
      </p:cxnSp>
      <p:sp>
        <p:nvSpPr>
          <p:cNvPr id="43" name="Google Shape;43;p4"/>
          <p:cNvSpPr/>
          <p:nvPr/>
        </p:nvSpPr>
        <p:spPr>
          <a:xfrm>
            <a:off x="9189720" y="3017520"/>
            <a:ext cx="2514600" cy="1417320"/>
          </a:xfrm>
          <a:prstGeom prst="roundRect">
            <a:avLst>
              <a:gd fmla="val 5161" name="adj"/>
            </a:avLst>
          </a:prstGeom>
          <a:solidFill>
            <a:srgbClr val="1D2536"/>
          </a:solidFill>
          <a:ln cap="flat" cmpd="sng" w="12700">
            <a:solidFill>
              <a:srgbClr val="1D2536"/>
            </a:solidFill>
            <a:prstDash val="solid"/>
            <a:round/>
            <a:headEnd len="sm" w="sm" type="none"/>
            <a:tailEnd len="sm" w="sm" type="none"/>
          </a:ln>
          <a:effectLst>
            <a:outerShdw blurRad="88900" rotWithShape="0" algn="bl" dir="5400000" dist="38100">
              <a:srgbClr val="000000">
                <a:alpha val="1294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4"/>
          <p:cNvSpPr/>
          <p:nvPr/>
        </p:nvSpPr>
        <p:spPr>
          <a:xfrm>
            <a:off x="9372600" y="3310128"/>
            <a:ext cx="2148840" cy="5486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700"/>
              <a:buFont typeface="Calibri"/>
              <a:buNone/>
            </a:pPr>
            <a:r>
              <a:rPr b="1" i="0" lang="en-US" sz="1700" u="none" cap="none" strike="noStrike">
                <a:solidFill>
                  <a:srgbClr val="FFFFFF"/>
                </a:solidFill>
                <a:latin typeface="Calibri"/>
                <a:ea typeface="Calibri"/>
                <a:cs typeface="Calibri"/>
                <a:sym typeface="Calibri"/>
              </a:rPr>
              <a:t>It sends</a:t>
            </a:r>
            <a:endParaRPr b="0" i="0" sz="1700" u="none" cap="none" strike="noStrike">
              <a:solidFill>
                <a:schemeClr val="dk1"/>
              </a:solidFill>
              <a:latin typeface="Calibri"/>
              <a:ea typeface="Calibri"/>
              <a:cs typeface="Calibri"/>
              <a:sym typeface="Calibri"/>
            </a:endParaRPr>
          </a:p>
        </p:txBody>
      </p:sp>
      <p:sp>
        <p:nvSpPr>
          <p:cNvPr id="45" name="Google Shape;45;p4"/>
          <p:cNvSpPr/>
          <p:nvPr/>
        </p:nvSpPr>
        <p:spPr>
          <a:xfrm>
            <a:off x="9372600" y="3886200"/>
            <a:ext cx="2148840"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D9E2EF"/>
              </a:buClr>
              <a:buSzPts val="1200"/>
              <a:buFont typeface="Calibri"/>
              <a:buNone/>
            </a:pPr>
            <a:r>
              <a:rPr b="0" i="0" lang="en-US" sz="1200" u="none" cap="none" strike="noStrike">
                <a:solidFill>
                  <a:srgbClr val="D9E2EF"/>
                </a:solidFill>
                <a:latin typeface="Calibri"/>
                <a:ea typeface="Calibri"/>
                <a:cs typeface="Calibri"/>
                <a:sym typeface="Calibri"/>
              </a:rPr>
              <a:t>only to approved</a:t>
            </a:r>
            <a:endParaRPr b="0" i="0" sz="1200" u="none" cap="none" strike="noStrike">
              <a:solidFill>
                <a:schemeClr val="dk1"/>
              </a:solidFill>
              <a:latin typeface="Calibri"/>
              <a:ea typeface="Calibri"/>
              <a:cs typeface="Calibri"/>
              <a:sym typeface="Calibri"/>
            </a:endParaRPr>
          </a:p>
        </p:txBody>
      </p:sp>
      <p:sp>
        <p:nvSpPr>
          <p:cNvPr id="46" name="Google Shape;46;p4"/>
          <p:cNvSpPr/>
          <p:nvPr/>
        </p:nvSpPr>
        <p:spPr>
          <a:xfrm>
            <a:off x="548640" y="4754880"/>
            <a:ext cx="1106424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E7686"/>
              </a:buClr>
              <a:buSzPts val="1400"/>
              <a:buFont typeface="Calibri"/>
              <a:buNone/>
            </a:pPr>
            <a:r>
              <a:rPr b="0" i="1" lang="en-US" sz="1400" u="none" cap="none" strike="noStrike">
                <a:solidFill>
                  <a:srgbClr val="6E7686"/>
                </a:solidFill>
                <a:latin typeface="Calibri"/>
                <a:ea typeface="Calibri"/>
                <a:cs typeface="Calibri"/>
                <a:sym typeface="Calibri"/>
              </a:rPr>
              <a:t>You are the single checkpoint, at the one place that matters.</a:t>
            </a:r>
            <a:endParaRPr b="0" i="0" sz="1400" u="none" cap="none" strike="noStrike">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7F1"/>
        </a:solidFill>
      </p:bgPr>
    </p:bg>
    <p:spTree>
      <p:nvGrpSpPr>
        <p:cNvPr id="51" name="Shape 51"/>
        <p:cNvGrpSpPr/>
        <p:nvPr/>
      </p:nvGrpSpPr>
      <p:grpSpPr>
        <a:xfrm>
          <a:off x="0" y="0"/>
          <a:ext cx="0" cy="0"/>
          <a:chOff x="0" y="0"/>
          <a:chExt cx="0" cy="0"/>
        </a:xfrm>
      </p:grpSpPr>
      <p:sp>
        <p:nvSpPr>
          <p:cNvPr id="52" name="Google Shape;52;p5"/>
          <p:cNvSpPr/>
          <p:nvPr/>
        </p:nvSpPr>
        <p:spPr>
          <a:xfrm>
            <a:off x="548640" y="384048"/>
            <a:ext cx="1106424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682B4"/>
              </a:buClr>
              <a:buSzPts val="1200"/>
              <a:buFont typeface="Calibri"/>
              <a:buNone/>
            </a:pPr>
            <a:r>
              <a:rPr b="1" i="0" lang="en-US" sz="1200" u="none" cap="none" strike="noStrike">
                <a:solidFill>
                  <a:srgbClr val="4682B4"/>
                </a:solidFill>
                <a:latin typeface="Calibri"/>
                <a:ea typeface="Calibri"/>
                <a:cs typeface="Calibri"/>
                <a:sym typeface="Calibri"/>
              </a:rPr>
              <a:t>THE SYSTEM</a:t>
            </a:r>
            <a:endParaRPr b="0" i="0" sz="1200" u="none" cap="none" strike="noStrike">
              <a:solidFill>
                <a:schemeClr val="dk1"/>
              </a:solidFill>
              <a:latin typeface="Calibri"/>
              <a:ea typeface="Calibri"/>
              <a:cs typeface="Calibri"/>
              <a:sym typeface="Calibri"/>
            </a:endParaRPr>
          </a:p>
        </p:txBody>
      </p:sp>
      <p:sp>
        <p:nvSpPr>
          <p:cNvPr id="53" name="Google Shape;53;p5"/>
          <p:cNvSpPr/>
          <p:nvPr/>
        </p:nvSpPr>
        <p:spPr>
          <a:xfrm>
            <a:off x="548640" y="658368"/>
            <a:ext cx="11064240"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2536"/>
              </a:buClr>
              <a:buSzPts val="2700"/>
              <a:buFont typeface="Calibri"/>
              <a:buNone/>
            </a:pPr>
            <a:r>
              <a:rPr b="1" i="0" lang="en-US" sz="2700" u="none" cap="none" strike="noStrike">
                <a:solidFill>
                  <a:srgbClr val="1D2536"/>
                </a:solidFill>
                <a:latin typeface="Calibri"/>
                <a:ea typeface="Calibri"/>
                <a:cs typeface="Calibri"/>
                <a:sym typeface="Calibri"/>
              </a:rPr>
              <a:t>Four parts over one shared database</a:t>
            </a:r>
            <a:endParaRPr b="0" i="0" sz="2700" u="none" cap="none" strike="noStrike">
              <a:solidFill>
                <a:schemeClr val="dk1"/>
              </a:solidFill>
              <a:latin typeface="Calibri"/>
              <a:ea typeface="Calibri"/>
              <a:cs typeface="Calibri"/>
              <a:sym typeface="Calibri"/>
            </a:endParaRPr>
          </a:p>
        </p:txBody>
      </p:sp>
      <p:sp>
        <p:nvSpPr>
          <p:cNvPr id="54" name="Google Shape;54;p5"/>
          <p:cNvSpPr/>
          <p:nvPr/>
        </p:nvSpPr>
        <p:spPr>
          <a:xfrm>
            <a:off x="548640" y="1828800"/>
            <a:ext cx="2286000" cy="1005840"/>
          </a:xfrm>
          <a:prstGeom prst="roundRect">
            <a:avLst>
              <a:gd fmla="val 8182" name="adj"/>
            </a:avLst>
          </a:prstGeom>
          <a:solidFill>
            <a:srgbClr val="E7EEF5"/>
          </a:solidFill>
          <a:ln cap="flat" cmpd="sng" w="12700">
            <a:solidFill>
              <a:srgbClr val="E7EEF5"/>
            </a:solidFill>
            <a:prstDash val="solid"/>
            <a:round/>
            <a:headEnd len="sm" w="sm" type="none"/>
            <a:tailEnd len="sm" w="sm" type="none"/>
          </a:ln>
          <a:effectLst>
            <a:outerShdw blurRad="88900" rotWithShape="0" algn="bl" dir="5400000" dist="38100">
              <a:srgbClr val="000000">
                <a:alpha val="1294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 name="Google Shape;55;p5"/>
          <p:cNvSpPr/>
          <p:nvPr/>
        </p:nvSpPr>
        <p:spPr>
          <a:xfrm>
            <a:off x="548640" y="1828800"/>
            <a:ext cx="2286000" cy="1005840"/>
          </a:xfrm>
          <a:prstGeom prst="rect">
            <a:avLst/>
          </a:prstGeom>
          <a:noFill/>
          <a:ln>
            <a:noFill/>
          </a:ln>
        </p:spPr>
        <p:txBody>
          <a:bodyPr anchorCtr="0" anchor="ctr" bIns="50800" lIns="50800" spcFirstLastPara="1" rIns="50800" wrap="square" tIns="50800">
            <a:noAutofit/>
          </a:bodyPr>
          <a:lstStyle/>
          <a:p>
            <a:pPr indent="0" lvl="0" marL="0" marR="0" rtl="0" algn="ctr">
              <a:spcBef>
                <a:spcPts val="0"/>
              </a:spcBef>
              <a:spcAft>
                <a:spcPts val="0"/>
              </a:spcAft>
              <a:buClr>
                <a:srgbClr val="4682B4"/>
              </a:buClr>
              <a:buSzPts val="1250"/>
              <a:buFont typeface="Calibri"/>
              <a:buNone/>
            </a:pPr>
            <a:r>
              <a:rPr b="1" i="0" lang="en-US" sz="1250" u="none" cap="none" strike="noStrike">
                <a:solidFill>
                  <a:srgbClr val="4682B4"/>
                </a:solidFill>
                <a:latin typeface="Calibri"/>
                <a:ea typeface="Calibri"/>
                <a:cs typeface="Calibri"/>
                <a:sym typeface="Calibri"/>
              </a:rPr>
              <a:t>Lead Engine</a:t>
            </a:r>
            <a:endParaRPr b="0" i="0" sz="125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6E7686"/>
              </a:buClr>
              <a:buSzPts val="1000"/>
              <a:buFont typeface="Calibri"/>
              <a:buNone/>
            </a:pPr>
            <a:r>
              <a:rPr b="0" i="0" lang="en-US" sz="1000" u="none" cap="none" strike="noStrike">
                <a:solidFill>
                  <a:srgbClr val="6E7686"/>
                </a:solidFill>
                <a:latin typeface="Calibri"/>
                <a:ea typeface="Calibri"/>
                <a:cs typeface="Calibri"/>
                <a:sym typeface="Calibri"/>
              </a:rPr>
              <a:t>finds and verifies</a:t>
            </a:r>
            <a:endParaRPr b="0" i="0" sz="1250" u="none" cap="none" strike="noStrike">
              <a:solidFill>
                <a:schemeClr val="dk1"/>
              </a:solidFill>
              <a:latin typeface="Calibri"/>
              <a:ea typeface="Calibri"/>
              <a:cs typeface="Calibri"/>
              <a:sym typeface="Calibri"/>
            </a:endParaRPr>
          </a:p>
        </p:txBody>
      </p:sp>
      <p:sp>
        <p:nvSpPr>
          <p:cNvPr id="56" name="Google Shape;56;p5"/>
          <p:cNvSpPr/>
          <p:nvPr/>
        </p:nvSpPr>
        <p:spPr>
          <a:xfrm>
            <a:off x="3200400" y="1828800"/>
            <a:ext cx="2286000" cy="1005840"/>
          </a:xfrm>
          <a:prstGeom prst="roundRect">
            <a:avLst>
              <a:gd fmla="val 8182" name="adj"/>
            </a:avLst>
          </a:prstGeom>
          <a:solidFill>
            <a:srgbClr val="F2EDE3"/>
          </a:solidFill>
          <a:ln cap="flat" cmpd="sng" w="12700">
            <a:solidFill>
              <a:srgbClr val="F2EDE3"/>
            </a:solidFill>
            <a:prstDash val="solid"/>
            <a:round/>
            <a:headEnd len="sm" w="sm" type="none"/>
            <a:tailEnd len="sm" w="sm" type="none"/>
          </a:ln>
          <a:effectLst>
            <a:outerShdw blurRad="88900" rotWithShape="0" algn="bl" dir="5400000" dist="38100">
              <a:srgbClr val="000000">
                <a:alpha val="1294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 name="Google Shape;57;p5"/>
          <p:cNvSpPr/>
          <p:nvPr/>
        </p:nvSpPr>
        <p:spPr>
          <a:xfrm>
            <a:off x="3200400" y="1828800"/>
            <a:ext cx="2286000" cy="1005840"/>
          </a:xfrm>
          <a:prstGeom prst="rect">
            <a:avLst/>
          </a:prstGeom>
          <a:noFill/>
          <a:ln>
            <a:noFill/>
          </a:ln>
        </p:spPr>
        <p:txBody>
          <a:bodyPr anchorCtr="0" anchor="ctr" bIns="50800" lIns="50800" spcFirstLastPara="1" rIns="50800" wrap="square" tIns="50800">
            <a:noAutofit/>
          </a:bodyPr>
          <a:lstStyle/>
          <a:p>
            <a:pPr indent="0" lvl="0" marL="0" marR="0" rtl="0" algn="ctr">
              <a:spcBef>
                <a:spcPts val="0"/>
              </a:spcBef>
              <a:spcAft>
                <a:spcPts val="0"/>
              </a:spcAft>
              <a:buClr>
                <a:srgbClr val="1F4E79"/>
              </a:buClr>
              <a:buSzPts val="1250"/>
              <a:buFont typeface="Calibri"/>
              <a:buNone/>
            </a:pPr>
            <a:r>
              <a:rPr b="1" i="0" lang="en-US" sz="1250" u="none" cap="none" strike="noStrike">
                <a:solidFill>
                  <a:srgbClr val="1F4E79"/>
                </a:solidFill>
                <a:latin typeface="Calibri"/>
                <a:ea typeface="Calibri"/>
                <a:cs typeface="Calibri"/>
                <a:sym typeface="Calibri"/>
              </a:rPr>
              <a:t>The Crew</a:t>
            </a:r>
            <a:endParaRPr b="0" i="0" sz="125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6E7686"/>
              </a:buClr>
              <a:buSzPts val="1000"/>
              <a:buFont typeface="Calibri"/>
              <a:buNone/>
            </a:pPr>
            <a:r>
              <a:rPr b="0" i="0" lang="en-US" sz="1000" u="none" cap="none" strike="noStrike">
                <a:solidFill>
                  <a:srgbClr val="6E7686"/>
                </a:solidFill>
                <a:latin typeface="Calibri"/>
                <a:ea typeface="Calibri"/>
                <a:cs typeface="Calibri"/>
                <a:sym typeface="Calibri"/>
              </a:rPr>
              <a:t>researches and drafts</a:t>
            </a:r>
            <a:endParaRPr b="0" i="0" sz="1250" u="none" cap="none" strike="noStrike">
              <a:solidFill>
                <a:schemeClr val="dk1"/>
              </a:solidFill>
              <a:latin typeface="Calibri"/>
              <a:ea typeface="Calibri"/>
              <a:cs typeface="Calibri"/>
              <a:sym typeface="Calibri"/>
            </a:endParaRPr>
          </a:p>
        </p:txBody>
      </p:sp>
      <p:sp>
        <p:nvSpPr>
          <p:cNvPr id="58" name="Google Shape;58;p5"/>
          <p:cNvSpPr/>
          <p:nvPr/>
        </p:nvSpPr>
        <p:spPr>
          <a:xfrm>
            <a:off x="5852160" y="1828800"/>
            <a:ext cx="2286000" cy="1005840"/>
          </a:xfrm>
          <a:prstGeom prst="roundRect">
            <a:avLst>
              <a:gd fmla="val 8182" name="adj"/>
            </a:avLst>
          </a:prstGeom>
          <a:solidFill>
            <a:srgbClr val="E7EEF5"/>
          </a:solidFill>
          <a:ln cap="flat" cmpd="sng" w="12700">
            <a:solidFill>
              <a:srgbClr val="E7EEF5"/>
            </a:solidFill>
            <a:prstDash val="solid"/>
            <a:round/>
            <a:headEnd len="sm" w="sm" type="none"/>
            <a:tailEnd len="sm" w="sm" type="none"/>
          </a:ln>
          <a:effectLst>
            <a:outerShdw blurRad="88900" rotWithShape="0" algn="bl" dir="5400000" dist="38100">
              <a:srgbClr val="000000">
                <a:alpha val="1294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 name="Google Shape;59;p5"/>
          <p:cNvSpPr/>
          <p:nvPr/>
        </p:nvSpPr>
        <p:spPr>
          <a:xfrm>
            <a:off x="5852160" y="1828800"/>
            <a:ext cx="2286000" cy="1005840"/>
          </a:xfrm>
          <a:prstGeom prst="rect">
            <a:avLst/>
          </a:prstGeom>
          <a:noFill/>
          <a:ln>
            <a:noFill/>
          </a:ln>
        </p:spPr>
        <p:txBody>
          <a:bodyPr anchorCtr="0" anchor="ctr" bIns="50800" lIns="50800" spcFirstLastPara="1" rIns="50800" wrap="square" tIns="50800">
            <a:noAutofit/>
          </a:bodyPr>
          <a:lstStyle/>
          <a:p>
            <a:pPr indent="0" lvl="0" marL="0" marR="0" rtl="0" algn="ctr">
              <a:spcBef>
                <a:spcPts val="0"/>
              </a:spcBef>
              <a:spcAft>
                <a:spcPts val="0"/>
              </a:spcAft>
              <a:buClr>
                <a:srgbClr val="4682B4"/>
              </a:buClr>
              <a:buSzPts val="1250"/>
              <a:buFont typeface="Calibri"/>
              <a:buNone/>
            </a:pPr>
            <a:r>
              <a:rPr b="1" i="0" lang="en-US" sz="1250" u="none" cap="none" strike="noStrike">
                <a:solidFill>
                  <a:srgbClr val="4682B4"/>
                </a:solidFill>
                <a:latin typeface="Calibri"/>
                <a:ea typeface="Calibri"/>
                <a:cs typeface="Calibri"/>
                <a:sym typeface="Calibri"/>
              </a:rPr>
              <a:t>Console + Funnel</a:t>
            </a:r>
            <a:endParaRPr b="0" i="0" sz="125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6E7686"/>
              </a:buClr>
              <a:buSzPts val="1000"/>
              <a:buFont typeface="Calibri"/>
              <a:buNone/>
            </a:pPr>
            <a:r>
              <a:rPr b="0" i="0" lang="en-US" sz="1000" u="none" cap="none" strike="noStrike">
                <a:solidFill>
                  <a:srgbClr val="6E7686"/>
                </a:solidFill>
                <a:latin typeface="Calibri"/>
                <a:ea typeface="Calibri"/>
                <a:cs typeface="Calibri"/>
                <a:sym typeface="Calibri"/>
              </a:rPr>
              <a:t>watch and review</a:t>
            </a:r>
            <a:endParaRPr b="0" i="0" sz="1250" u="none" cap="none" strike="noStrike">
              <a:solidFill>
                <a:schemeClr val="dk1"/>
              </a:solidFill>
              <a:latin typeface="Calibri"/>
              <a:ea typeface="Calibri"/>
              <a:cs typeface="Calibri"/>
              <a:sym typeface="Calibri"/>
            </a:endParaRPr>
          </a:p>
        </p:txBody>
      </p:sp>
      <p:sp>
        <p:nvSpPr>
          <p:cNvPr id="60" name="Google Shape;60;p5"/>
          <p:cNvSpPr/>
          <p:nvPr/>
        </p:nvSpPr>
        <p:spPr>
          <a:xfrm>
            <a:off x="8503920" y="1828800"/>
            <a:ext cx="3108960" cy="1005840"/>
          </a:xfrm>
          <a:prstGeom prst="roundRect">
            <a:avLst>
              <a:gd fmla="val 8182" name="adj"/>
            </a:avLst>
          </a:prstGeom>
          <a:solidFill>
            <a:srgbClr val="F2EDE3"/>
          </a:solidFill>
          <a:ln cap="flat" cmpd="sng" w="12700">
            <a:solidFill>
              <a:srgbClr val="F2EDE3"/>
            </a:solidFill>
            <a:prstDash val="solid"/>
            <a:round/>
            <a:headEnd len="sm" w="sm" type="none"/>
            <a:tailEnd len="sm" w="sm" type="none"/>
          </a:ln>
          <a:effectLst>
            <a:outerShdw blurRad="88900" rotWithShape="0" algn="bl" dir="5400000" dist="38100">
              <a:srgbClr val="000000">
                <a:alpha val="1294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 name="Google Shape;61;p5"/>
          <p:cNvSpPr/>
          <p:nvPr/>
        </p:nvSpPr>
        <p:spPr>
          <a:xfrm>
            <a:off x="8503920" y="1828800"/>
            <a:ext cx="3108960" cy="1005840"/>
          </a:xfrm>
          <a:prstGeom prst="rect">
            <a:avLst/>
          </a:prstGeom>
          <a:noFill/>
          <a:ln>
            <a:noFill/>
          </a:ln>
        </p:spPr>
        <p:txBody>
          <a:bodyPr anchorCtr="0" anchor="ctr" bIns="50800" lIns="50800" spcFirstLastPara="1" rIns="50800" wrap="square" tIns="50800">
            <a:noAutofit/>
          </a:bodyPr>
          <a:lstStyle/>
          <a:p>
            <a:pPr indent="0" lvl="0" marL="0" marR="0" rtl="0" algn="ctr">
              <a:spcBef>
                <a:spcPts val="0"/>
              </a:spcBef>
              <a:spcAft>
                <a:spcPts val="0"/>
              </a:spcAft>
              <a:buClr>
                <a:srgbClr val="1F4E79"/>
              </a:buClr>
              <a:buSzPts val="1250"/>
              <a:buFont typeface="Calibri"/>
              <a:buNone/>
            </a:pPr>
            <a:r>
              <a:rPr b="1" i="0" lang="en-US" sz="1250" u="none" cap="none" strike="noStrike">
                <a:solidFill>
                  <a:srgbClr val="1F4E79"/>
                </a:solidFill>
                <a:latin typeface="Calibri"/>
                <a:ea typeface="Calibri"/>
                <a:cs typeface="Calibri"/>
                <a:sym typeface="Calibri"/>
              </a:rPr>
              <a:t>MCP automation</a:t>
            </a:r>
            <a:endParaRPr b="0" i="0" sz="125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6E7686"/>
              </a:buClr>
              <a:buSzPts val="1000"/>
              <a:buFont typeface="Calibri"/>
              <a:buNone/>
            </a:pPr>
            <a:r>
              <a:rPr b="0" i="0" lang="en-US" sz="1000" u="none" cap="none" strike="noStrike">
                <a:solidFill>
                  <a:srgbClr val="6E7686"/>
                </a:solidFill>
                <a:latin typeface="Calibri"/>
                <a:ea typeface="Calibri"/>
                <a:cs typeface="Calibri"/>
                <a:sym typeface="Calibri"/>
              </a:rPr>
              <a:t>Claude runs the tools</a:t>
            </a:r>
            <a:endParaRPr b="0" i="0" sz="1250" u="none" cap="none" strike="noStrike">
              <a:solidFill>
                <a:schemeClr val="dk1"/>
              </a:solidFill>
              <a:latin typeface="Calibri"/>
              <a:ea typeface="Calibri"/>
              <a:cs typeface="Calibri"/>
              <a:sym typeface="Calibri"/>
            </a:endParaRPr>
          </a:p>
        </p:txBody>
      </p:sp>
      <p:sp>
        <p:nvSpPr>
          <p:cNvPr id="62" name="Google Shape;62;p5"/>
          <p:cNvSpPr/>
          <p:nvPr/>
        </p:nvSpPr>
        <p:spPr>
          <a:xfrm>
            <a:off x="2194560" y="3429000"/>
            <a:ext cx="7498080" cy="914400"/>
          </a:xfrm>
          <a:prstGeom prst="roundRect">
            <a:avLst>
              <a:gd fmla="val 9000" name="adj"/>
            </a:avLst>
          </a:prstGeom>
          <a:solidFill>
            <a:srgbClr val="E7EEF5"/>
          </a:solidFill>
          <a:ln cap="flat" cmpd="sng" w="12700">
            <a:solidFill>
              <a:srgbClr val="E7EEF5"/>
            </a:solidFill>
            <a:prstDash val="solid"/>
            <a:round/>
            <a:headEnd len="sm" w="sm" type="none"/>
            <a:tailEnd len="sm" w="sm" type="none"/>
          </a:ln>
          <a:effectLst>
            <a:outerShdw blurRad="88900" rotWithShape="0" algn="bl" dir="5400000" dist="38100">
              <a:srgbClr val="000000">
                <a:alpha val="1294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 name="Google Shape;63;p5"/>
          <p:cNvSpPr/>
          <p:nvPr/>
        </p:nvSpPr>
        <p:spPr>
          <a:xfrm>
            <a:off x="2194560" y="3429000"/>
            <a:ext cx="7498080" cy="914400"/>
          </a:xfrm>
          <a:prstGeom prst="rect">
            <a:avLst/>
          </a:prstGeom>
          <a:noFill/>
          <a:ln>
            <a:noFill/>
          </a:ln>
        </p:spPr>
        <p:txBody>
          <a:bodyPr anchorCtr="0" anchor="ctr" bIns="50800" lIns="50800" spcFirstLastPara="1" rIns="50800" wrap="square" tIns="50800">
            <a:noAutofit/>
          </a:bodyPr>
          <a:lstStyle/>
          <a:p>
            <a:pPr indent="0" lvl="0" marL="0" marR="0" rtl="0" algn="ctr">
              <a:spcBef>
                <a:spcPts val="0"/>
              </a:spcBef>
              <a:spcAft>
                <a:spcPts val="0"/>
              </a:spcAft>
              <a:buClr>
                <a:srgbClr val="1F4E79"/>
              </a:buClr>
              <a:buSzPts val="1250"/>
              <a:buFont typeface="Calibri"/>
              <a:buNone/>
            </a:pPr>
            <a:r>
              <a:rPr b="1" i="0" lang="en-US" sz="1250" u="none" cap="none" strike="noStrike">
                <a:solidFill>
                  <a:srgbClr val="1F4E79"/>
                </a:solidFill>
                <a:latin typeface="Calibri"/>
                <a:ea typeface="Calibri"/>
                <a:cs typeface="Calibri"/>
                <a:sym typeface="Calibri"/>
              </a:rPr>
              <a:t>Supabase, one source of truth</a:t>
            </a:r>
            <a:endParaRPr b="0" i="0" sz="125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1D2536"/>
              </a:buClr>
              <a:buSzPts val="1000"/>
              <a:buFont typeface="Calibri"/>
              <a:buNone/>
            </a:pPr>
            <a:r>
              <a:rPr b="0" i="0" lang="en-US" sz="1000" u="none" cap="none" strike="noStrike">
                <a:solidFill>
                  <a:srgbClr val="1D2536"/>
                </a:solidFill>
                <a:latin typeface="Calibri"/>
                <a:ea typeface="Calibri"/>
                <a:cs typeface="Calibri"/>
                <a:sym typeface="Calibri"/>
              </a:rPr>
              <a:t>leads, profiles, campaigns, runs, review state</a:t>
            </a:r>
            <a:endParaRPr b="0" i="0" sz="1250" u="none" cap="none" strike="noStrike">
              <a:solidFill>
                <a:schemeClr val="dk1"/>
              </a:solidFill>
              <a:latin typeface="Calibri"/>
              <a:ea typeface="Calibri"/>
              <a:cs typeface="Calibri"/>
              <a:sym typeface="Calibri"/>
            </a:endParaRPr>
          </a:p>
        </p:txBody>
      </p:sp>
      <p:cxnSp>
        <p:nvCxnSpPr>
          <p:cNvPr id="64" name="Google Shape;64;p5"/>
          <p:cNvCxnSpPr/>
          <p:nvPr/>
        </p:nvCxnSpPr>
        <p:spPr>
          <a:xfrm>
            <a:off x="1691640" y="2834640"/>
            <a:ext cx="1234440" cy="594360"/>
          </a:xfrm>
          <a:prstGeom prst="straightConnector1">
            <a:avLst/>
          </a:prstGeom>
          <a:noFill/>
          <a:ln cap="flat" cmpd="sng" w="28575">
            <a:solidFill>
              <a:srgbClr val="4682B4"/>
            </a:solidFill>
            <a:prstDash val="solid"/>
            <a:round/>
            <a:headEnd len="sm" w="sm" type="none"/>
            <a:tailEnd len="med" w="med" type="triangle"/>
          </a:ln>
        </p:spPr>
      </p:cxnSp>
      <p:cxnSp>
        <p:nvCxnSpPr>
          <p:cNvPr id="65" name="Google Shape;65;p5"/>
          <p:cNvCxnSpPr/>
          <p:nvPr/>
        </p:nvCxnSpPr>
        <p:spPr>
          <a:xfrm>
            <a:off x="4343400" y="2834640"/>
            <a:ext cx="850392" cy="594360"/>
          </a:xfrm>
          <a:prstGeom prst="straightConnector1">
            <a:avLst/>
          </a:prstGeom>
          <a:noFill/>
          <a:ln cap="flat" cmpd="sng" w="28575">
            <a:solidFill>
              <a:srgbClr val="4682B4"/>
            </a:solidFill>
            <a:prstDash val="solid"/>
            <a:round/>
            <a:headEnd len="sm" w="sm" type="none"/>
            <a:tailEnd len="med" w="med" type="triangle"/>
          </a:ln>
        </p:spPr>
      </p:cxnSp>
      <p:cxnSp>
        <p:nvCxnSpPr>
          <p:cNvPr id="66" name="Google Shape;66;p5"/>
          <p:cNvCxnSpPr/>
          <p:nvPr/>
        </p:nvCxnSpPr>
        <p:spPr>
          <a:xfrm>
            <a:off x="6693408" y="2834640"/>
            <a:ext cx="301752" cy="594360"/>
          </a:xfrm>
          <a:prstGeom prst="straightConnector1">
            <a:avLst/>
          </a:prstGeom>
          <a:noFill/>
          <a:ln cap="flat" cmpd="sng" w="28575">
            <a:solidFill>
              <a:srgbClr val="4682B4"/>
            </a:solidFill>
            <a:prstDash val="solid"/>
            <a:round/>
            <a:headEnd len="sm" w="sm" type="none"/>
            <a:tailEnd len="med" w="med" type="triangle"/>
          </a:ln>
        </p:spPr>
      </p:cxnSp>
      <p:cxnSp>
        <p:nvCxnSpPr>
          <p:cNvPr id="67" name="Google Shape;67;p5"/>
          <p:cNvCxnSpPr/>
          <p:nvPr/>
        </p:nvCxnSpPr>
        <p:spPr>
          <a:xfrm>
            <a:off x="9692640" y="2834640"/>
            <a:ext cx="365760" cy="1051560"/>
          </a:xfrm>
          <a:prstGeom prst="straightConnector1">
            <a:avLst/>
          </a:prstGeom>
          <a:noFill/>
          <a:ln cap="flat" cmpd="sng" w="28575">
            <a:solidFill>
              <a:srgbClr val="6E7686"/>
            </a:solidFill>
            <a:prstDash val="solid"/>
            <a:round/>
            <a:headEnd len="sm" w="sm" type="none"/>
            <a:tailEnd len="med" w="med" type="triangle"/>
          </a:ln>
        </p:spPr>
      </p:cxnSp>
      <p:sp>
        <p:nvSpPr>
          <p:cNvPr id="68" name="Google Shape;68;p5"/>
          <p:cNvSpPr/>
          <p:nvPr/>
        </p:nvSpPr>
        <p:spPr>
          <a:xfrm>
            <a:off x="548640" y="4709160"/>
            <a:ext cx="11064240" cy="685800"/>
          </a:xfrm>
          <a:prstGeom prst="roundRect">
            <a:avLst>
              <a:gd fmla="val 9333" name="adj"/>
            </a:avLst>
          </a:prstGeom>
          <a:solidFill>
            <a:srgbClr val="E7EEF5"/>
          </a:solidFill>
          <a:ln cap="flat" cmpd="sng" w="19050">
            <a:solidFill>
              <a:srgbClr val="1F4E7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 name="Google Shape;69;p5"/>
          <p:cNvSpPr/>
          <p:nvPr/>
        </p:nvSpPr>
        <p:spPr>
          <a:xfrm>
            <a:off x="914400" y="4709160"/>
            <a:ext cx="10332720" cy="68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4E79"/>
              </a:buClr>
              <a:buSzPts val="1500"/>
              <a:buFont typeface="Calibri"/>
              <a:buNone/>
            </a:pPr>
            <a:r>
              <a:rPr b="1" i="0" lang="en-US" sz="1500" u="none" cap="none" strike="noStrike">
                <a:solidFill>
                  <a:srgbClr val="1F4E79"/>
                </a:solidFill>
                <a:latin typeface="Calibri"/>
                <a:ea typeface="Calibri"/>
                <a:cs typeface="Calibri"/>
                <a:sym typeface="Calibri"/>
              </a:rPr>
              <a:t>Then you: </a:t>
            </a:r>
            <a:r>
              <a:rPr b="0" i="0" lang="en-US" sz="1400" u="none" cap="none" strike="noStrike">
                <a:solidFill>
                  <a:srgbClr val="1D2536"/>
                </a:solidFill>
                <a:latin typeface="Calibri"/>
                <a:ea typeface="Calibri"/>
                <a:cs typeface="Calibri"/>
                <a:sym typeface="Calibri"/>
              </a:rPr>
              <a:t>the review queue holds every drafted message until you approve it. Nothing sends without your sign-off.</a:t>
            </a:r>
            <a:endParaRPr b="0" i="0" sz="1500" u="none" cap="none" strike="noStrike">
              <a:solidFill>
                <a:schemeClr val="dk1"/>
              </a:solidFill>
              <a:latin typeface="Calibri"/>
              <a:ea typeface="Calibri"/>
              <a:cs typeface="Calibri"/>
              <a:sym typeface="Calibri"/>
            </a:endParaRPr>
          </a:p>
        </p:txBody>
      </p:sp>
      <p:sp>
        <p:nvSpPr>
          <p:cNvPr id="70" name="Google Shape;70;p5"/>
          <p:cNvSpPr/>
          <p:nvPr/>
        </p:nvSpPr>
        <p:spPr>
          <a:xfrm>
            <a:off x="548640" y="5532120"/>
            <a:ext cx="11064240" cy="4114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E7686"/>
              </a:buClr>
              <a:buSzPts val="1200"/>
              <a:buFont typeface="Calibri"/>
              <a:buNone/>
            </a:pPr>
            <a:r>
              <a:rPr b="0" i="1" lang="en-US" sz="1200" u="none" cap="none" strike="noStrike">
                <a:solidFill>
                  <a:srgbClr val="6E7686"/>
                </a:solidFill>
                <a:latin typeface="Calibri"/>
                <a:ea typeface="Calibri"/>
                <a:cs typeface="Calibri"/>
                <a:sym typeface="Calibri"/>
              </a:rPr>
              <a:t>Two standing skills wrap it all: Kajiro sharpens every crew prompt, Elicitation powers every intake.</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7F1"/>
        </a:solidFill>
      </p:bgPr>
    </p:bg>
    <p:spTree>
      <p:nvGrpSpPr>
        <p:cNvPr id="75" name="Shape 75"/>
        <p:cNvGrpSpPr/>
        <p:nvPr/>
      </p:nvGrpSpPr>
      <p:grpSpPr>
        <a:xfrm>
          <a:off x="0" y="0"/>
          <a:ext cx="0" cy="0"/>
          <a:chOff x="0" y="0"/>
          <a:chExt cx="0" cy="0"/>
        </a:xfrm>
      </p:grpSpPr>
      <p:sp>
        <p:nvSpPr>
          <p:cNvPr id="76" name="Google Shape;76;p6"/>
          <p:cNvSpPr/>
          <p:nvPr/>
        </p:nvSpPr>
        <p:spPr>
          <a:xfrm>
            <a:off x="548640" y="384048"/>
            <a:ext cx="1106424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682B4"/>
              </a:buClr>
              <a:buSzPts val="1200"/>
              <a:buFont typeface="Calibri"/>
              <a:buNone/>
            </a:pPr>
            <a:r>
              <a:rPr b="1" i="0" lang="en-US" sz="1200" u="none" cap="none" strike="noStrike">
                <a:solidFill>
                  <a:srgbClr val="4682B4"/>
                </a:solidFill>
                <a:latin typeface="Calibri"/>
                <a:ea typeface="Calibri"/>
                <a:cs typeface="Calibri"/>
                <a:sym typeface="Calibri"/>
              </a:rPr>
              <a:t>WHAT FEEDS THE MACHINE</a:t>
            </a:r>
            <a:endParaRPr b="0" i="0" sz="1200" u="none" cap="none" strike="noStrike">
              <a:solidFill>
                <a:schemeClr val="dk1"/>
              </a:solidFill>
              <a:latin typeface="Calibri"/>
              <a:ea typeface="Calibri"/>
              <a:cs typeface="Calibri"/>
              <a:sym typeface="Calibri"/>
            </a:endParaRPr>
          </a:p>
        </p:txBody>
      </p:sp>
      <p:sp>
        <p:nvSpPr>
          <p:cNvPr id="77" name="Google Shape;77;p6"/>
          <p:cNvSpPr/>
          <p:nvPr/>
        </p:nvSpPr>
        <p:spPr>
          <a:xfrm>
            <a:off x="548640" y="658368"/>
            <a:ext cx="11064240"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2536"/>
              </a:buClr>
              <a:buSzPts val="2700"/>
              <a:buFont typeface="Calibri"/>
              <a:buNone/>
            </a:pPr>
            <a:r>
              <a:rPr b="1" i="0" lang="en-US" sz="2700" u="none" cap="none" strike="noStrike">
                <a:solidFill>
                  <a:srgbClr val="1D2536"/>
                </a:solidFill>
                <a:latin typeface="Calibri"/>
                <a:ea typeface="Calibri"/>
                <a:cs typeface="Calibri"/>
                <a:sym typeface="Calibri"/>
              </a:rPr>
              <a:t>Two ways leads come in</a:t>
            </a:r>
            <a:endParaRPr b="0" i="0" sz="2700" u="none" cap="none" strike="noStrike">
              <a:solidFill>
                <a:schemeClr val="dk1"/>
              </a:solidFill>
              <a:latin typeface="Calibri"/>
              <a:ea typeface="Calibri"/>
              <a:cs typeface="Calibri"/>
              <a:sym typeface="Calibri"/>
            </a:endParaRPr>
          </a:p>
        </p:txBody>
      </p:sp>
      <p:sp>
        <p:nvSpPr>
          <p:cNvPr id="78" name="Google Shape;78;p6"/>
          <p:cNvSpPr/>
          <p:nvPr/>
        </p:nvSpPr>
        <p:spPr>
          <a:xfrm>
            <a:off x="548640" y="1600200"/>
            <a:ext cx="5440680" cy="2834640"/>
          </a:xfrm>
          <a:prstGeom prst="roundRect">
            <a:avLst>
              <a:gd fmla="val 2581" name="adj"/>
            </a:avLst>
          </a:prstGeom>
          <a:solidFill>
            <a:srgbClr val="E7EEF5"/>
          </a:solidFill>
          <a:ln cap="flat" cmpd="sng" w="12700">
            <a:solidFill>
              <a:srgbClr val="E7EEF5"/>
            </a:solidFill>
            <a:prstDash val="solid"/>
            <a:round/>
            <a:headEnd len="sm" w="sm" type="none"/>
            <a:tailEnd len="sm" w="sm" type="none"/>
          </a:ln>
          <a:effectLst>
            <a:outerShdw blurRad="88900" rotWithShape="0" algn="bl" dir="5400000" dist="38100">
              <a:srgbClr val="000000">
                <a:alpha val="1294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 name="Google Shape;79;p6"/>
          <p:cNvSpPr/>
          <p:nvPr/>
        </p:nvSpPr>
        <p:spPr>
          <a:xfrm>
            <a:off x="822960" y="1874520"/>
            <a:ext cx="4892040" cy="548640"/>
          </a:xfrm>
          <a:prstGeom prst="roundRect">
            <a:avLst>
              <a:gd fmla="val 10000" name="adj"/>
            </a:avLst>
          </a:prstGeom>
          <a:solidFill>
            <a:srgbClr val="4682B4"/>
          </a:solidFill>
          <a:ln cap="flat" cmpd="sng" w="12700">
            <a:solidFill>
              <a:srgbClr val="4682B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 name="Google Shape;80;p6"/>
          <p:cNvSpPr/>
          <p:nvPr/>
        </p:nvSpPr>
        <p:spPr>
          <a:xfrm>
            <a:off x="822960" y="1874520"/>
            <a:ext cx="4892040" cy="5486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2000"/>
              <a:buFont typeface="Calibri"/>
              <a:buNone/>
            </a:pPr>
            <a:r>
              <a:rPr b="1" i="0" lang="en-US" sz="2000" u="none" cap="none" strike="noStrike">
                <a:solidFill>
                  <a:srgbClr val="FFFFFF"/>
                </a:solidFill>
                <a:latin typeface="Calibri"/>
                <a:ea typeface="Calibri"/>
                <a:cs typeface="Calibri"/>
                <a:sym typeface="Calibri"/>
              </a:rPr>
              <a:t>Lists you bring</a:t>
            </a:r>
            <a:endParaRPr b="0" i="0" sz="2000" u="none" cap="none" strike="noStrike">
              <a:solidFill>
                <a:schemeClr val="dk1"/>
              </a:solidFill>
              <a:latin typeface="Calibri"/>
              <a:ea typeface="Calibri"/>
              <a:cs typeface="Calibri"/>
              <a:sym typeface="Calibri"/>
            </a:endParaRPr>
          </a:p>
        </p:txBody>
      </p:sp>
      <p:sp>
        <p:nvSpPr>
          <p:cNvPr id="81" name="Google Shape;81;p6"/>
          <p:cNvSpPr/>
          <p:nvPr/>
        </p:nvSpPr>
        <p:spPr>
          <a:xfrm>
            <a:off x="868680" y="2606040"/>
            <a:ext cx="4800600" cy="1280160"/>
          </a:xfrm>
          <a:prstGeom prst="rect">
            <a:avLst/>
          </a:prstGeom>
          <a:noFill/>
          <a:ln>
            <a:noFill/>
          </a:ln>
        </p:spPr>
        <p:txBody>
          <a:bodyPr anchorCtr="0" anchor="ctr" bIns="0" lIns="0" spcFirstLastPara="1" rIns="0" wrap="square" tIns="0">
            <a:noAutofit/>
          </a:bodyPr>
          <a:lstStyle/>
          <a:p>
            <a:pPr indent="0" lvl="0" marL="0" marR="0" rtl="0" algn="l">
              <a:lnSpc>
                <a:spcPct val="125000"/>
              </a:lnSpc>
              <a:spcBef>
                <a:spcPts val="0"/>
              </a:spcBef>
              <a:spcAft>
                <a:spcPts val="0"/>
              </a:spcAft>
              <a:buClr>
                <a:srgbClr val="1D2536"/>
              </a:buClr>
              <a:buSzPts val="1400"/>
              <a:buFont typeface="Calibri"/>
              <a:buNone/>
            </a:pPr>
            <a:r>
              <a:rPr b="0" i="0" lang="en-US" sz="1400" u="none" cap="none" strike="noStrike">
                <a:solidFill>
                  <a:srgbClr val="1D2536"/>
                </a:solidFill>
                <a:latin typeface="Calibri"/>
                <a:ea typeface="Calibri"/>
                <a:cs typeface="Calibri"/>
                <a:sym typeface="Calibri"/>
              </a:rPr>
              <a:t>A conference or event export, or any list you already have. You drop it in and the engine verifies and sorts it.</a:t>
            </a:r>
            <a:endParaRPr b="0" i="0" sz="1400" u="none" cap="none" strike="noStrike">
              <a:solidFill>
                <a:schemeClr val="dk1"/>
              </a:solidFill>
              <a:latin typeface="Calibri"/>
              <a:ea typeface="Calibri"/>
              <a:cs typeface="Calibri"/>
              <a:sym typeface="Calibri"/>
            </a:endParaRPr>
          </a:p>
        </p:txBody>
      </p:sp>
      <p:sp>
        <p:nvSpPr>
          <p:cNvPr id="82" name="Google Shape;82;p6"/>
          <p:cNvSpPr/>
          <p:nvPr/>
        </p:nvSpPr>
        <p:spPr>
          <a:xfrm>
            <a:off x="868680" y="3931920"/>
            <a:ext cx="48006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682B4"/>
              </a:buClr>
              <a:buSzPts val="1200"/>
              <a:buFont typeface="Calibri"/>
              <a:buNone/>
            </a:pPr>
            <a:r>
              <a:rPr b="1" i="1" lang="en-US" sz="1200" u="none" cap="none" strike="noStrike">
                <a:solidFill>
                  <a:srgbClr val="4682B4"/>
                </a:solidFill>
                <a:latin typeface="Calibri"/>
                <a:ea typeface="Calibri"/>
                <a:cs typeface="Calibri"/>
                <a:sym typeface="Calibri"/>
              </a:rPr>
              <a:t>You do this when you have a list</a:t>
            </a:r>
            <a:endParaRPr b="0" i="0" sz="1200" u="none" cap="none" strike="noStrike">
              <a:solidFill>
                <a:schemeClr val="dk1"/>
              </a:solidFill>
              <a:latin typeface="Calibri"/>
              <a:ea typeface="Calibri"/>
              <a:cs typeface="Calibri"/>
              <a:sym typeface="Calibri"/>
            </a:endParaRPr>
          </a:p>
        </p:txBody>
      </p:sp>
      <p:sp>
        <p:nvSpPr>
          <p:cNvPr id="83" name="Google Shape;83;p6"/>
          <p:cNvSpPr/>
          <p:nvPr/>
        </p:nvSpPr>
        <p:spPr>
          <a:xfrm>
            <a:off x="6309360" y="1600200"/>
            <a:ext cx="5440680" cy="2834640"/>
          </a:xfrm>
          <a:prstGeom prst="roundRect">
            <a:avLst>
              <a:gd fmla="val 2581" name="adj"/>
            </a:avLst>
          </a:prstGeom>
          <a:solidFill>
            <a:srgbClr val="F2EDE3"/>
          </a:solidFill>
          <a:ln cap="flat" cmpd="sng" w="12700">
            <a:solidFill>
              <a:srgbClr val="F2EDE3"/>
            </a:solidFill>
            <a:prstDash val="solid"/>
            <a:round/>
            <a:headEnd len="sm" w="sm" type="none"/>
            <a:tailEnd len="sm" w="sm" type="none"/>
          </a:ln>
          <a:effectLst>
            <a:outerShdw blurRad="88900" rotWithShape="0" algn="bl" dir="5400000" dist="38100">
              <a:srgbClr val="000000">
                <a:alpha val="1294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 name="Google Shape;84;p6"/>
          <p:cNvSpPr/>
          <p:nvPr/>
        </p:nvSpPr>
        <p:spPr>
          <a:xfrm>
            <a:off x="6583680" y="1874520"/>
            <a:ext cx="4892040" cy="548640"/>
          </a:xfrm>
          <a:prstGeom prst="roundRect">
            <a:avLst>
              <a:gd fmla="val 10000" name="adj"/>
            </a:avLst>
          </a:prstGeom>
          <a:solidFill>
            <a:srgbClr val="4682B4"/>
          </a:solidFill>
          <a:ln cap="flat" cmpd="sng" w="12700">
            <a:solidFill>
              <a:srgbClr val="4682B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 name="Google Shape;85;p6"/>
          <p:cNvSpPr/>
          <p:nvPr/>
        </p:nvSpPr>
        <p:spPr>
          <a:xfrm>
            <a:off x="6583680" y="1874520"/>
            <a:ext cx="4892040" cy="5486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2000"/>
              <a:buFont typeface="Calibri"/>
              <a:buNone/>
            </a:pPr>
            <a:r>
              <a:rPr b="1" i="0" lang="en-US" sz="2000" u="none" cap="none" strike="noStrike">
                <a:solidFill>
                  <a:srgbClr val="FFFFFF"/>
                </a:solidFill>
                <a:latin typeface="Calibri"/>
                <a:ea typeface="Calibri"/>
                <a:cs typeface="Calibri"/>
                <a:sym typeface="Calibri"/>
              </a:rPr>
              <a:t>Leads it finds</a:t>
            </a:r>
            <a:endParaRPr b="0" i="0" sz="2000" u="none" cap="none" strike="noStrike">
              <a:solidFill>
                <a:schemeClr val="dk1"/>
              </a:solidFill>
              <a:latin typeface="Calibri"/>
              <a:ea typeface="Calibri"/>
              <a:cs typeface="Calibri"/>
              <a:sym typeface="Calibri"/>
            </a:endParaRPr>
          </a:p>
        </p:txBody>
      </p:sp>
      <p:sp>
        <p:nvSpPr>
          <p:cNvPr id="86" name="Google Shape;86;p6"/>
          <p:cNvSpPr/>
          <p:nvPr/>
        </p:nvSpPr>
        <p:spPr>
          <a:xfrm>
            <a:off x="6629400" y="2606040"/>
            <a:ext cx="4800600" cy="1280160"/>
          </a:xfrm>
          <a:prstGeom prst="rect">
            <a:avLst/>
          </a:prstGeom>
          <a:noFill/>
          <a:ln>
            <a:noFill/>
          </a:ln>
        </p:spPr>
        <p:txBody>
          <a:bodyPr anchorCtr="0" anchor="ctr" bIns="0" lIns="0" spcFirstLastPara="1" rIns="0" wrap="square" tIns="0">
            <a:noAutofit/>
          </a:bodyPr>
          <a:lstStyle/>
          <a:p>
            <a:pPr indent="0" lvl="0" marL="0" marR="0" rtl="0" algn="l">
              <a:lnSpc>
                <a:spcPct val="125000"/>
              </a:lnSpc>
              <a:spcBef>
                <a:spcPts val="0"/>
              </a:spcBef>
              <a:spcAft>
                <a:spcPts val="0"/>
              </a:spcAft>
              <a:buClr>
                <a:srgbClr val="1D2536"/>
              </a:buClr>
              <a:buSzPts val="1400"/>
              <a:buFont typeface="Calibri"/>
              <a:buNone/>
            </a:pPr>
            <a:r>
              <a:rPr b="0" i="0" lang="en-US" sz="1400" u="none" cap="none" strike="noStrike">
                <a:solidFill>
                  <a:srgbClr val="1D2536"/>
                </a:solidFill>
                <a:latin typeface="Calibri"/>
                <a:ea typeface="Calibri"/>
                <a:cs typeface="Calibri"/>
                <a:sym typeface="Calibri"/>
              </a:rPr>
              <a:t>The engine hunts on its own using your active profiles and brings back new companies that fit, with a verified contact.</a:t>
            </a:r>
            <a:endParaRPr b="0" i="0" sz="1400" u="none" cap="none" strike="noStrike">
              <a:solidFill>
                <a:schemeClr val="dk1"/>
              </a:solidFill>
              <a:latin typeface="Calibri"/>
              <a:ea typeface="Calibri"/>
              <a:cs typeface="Calibri"/>
              <a:sym typeface="Calibri"/>
            </a:endParaRPr>
          </a:p>
        </p:txBody>
      </p:sp>
      <p:sp>
        <p:nvSpPr>
          <p:cNvPr id="87" name="Google Shape;87;p6"/>
          <p:cNvSpPr/>
          <p:nvPr/>
        </p:nvSpPr>
        <p:spPr>
          <a:xfrm>
            <a:off x="6629400" y="3931920"/>
            <a:ext cx="48006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682B4"/>
              </a:buClr>
              <a:buSzPts val="1200"/>
              <a:buFont typeface="Calibri"/>
              <a:buNone/>
            </a:pPr>
            <a:r>
              <a:rPr b="1" i="1" lang="en-US" sz="1200" u="none" cap="none" strike="noStrike">
                <a:solidFill>
                  <a:srgbClr val="4682B4"/>
                </a:solidFill>
                <a:latin typeface="Calibri"/>
                <a:ea typeface="Calibri"/>
                <a:cs typeface="Calibri"/>
                <a:sym typeface="Calibri"/>
              </a:rPr>
              <a:t>This runs on a schedule</a:t>
            </a:r>
            <a:endParaRPr b="0" i="0" sz="1200" u="none" cap="none" strike="noStrike">
              <a:solidFill>
                <a:schemeClr val="dk1"/>
              </a:solidFill>
              <a:latin typeface="Calibri"/>
              <a:ea typeface="Calibri"/>
              <a:cs typeface="Calibri"/>
              <a:sym typeface="Calibri"/>
            </a:endParaRPr>
          </a:p>
        </p:txBody>
      </p:sp>
      <p:sp>
        <p:nvSpPr>
          <p:cNvPr id="88" name="Google Shape;88;p6"/>
          <p:cNvSpPr/>
          <p:nvPr/>
        </p:nvSpPr>
        <p:spPr>
          <a:xfrm>
            <a:off x="548640" y="4754880"/>
            <a:ext cx="1106424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E7686"/>
              </a:buClr>
              <a:buSzPts val="1300"/>
              <a:buFont typeface="Calibri"/>
              <a:buNone/>
            </a:pPr>
            <a:r>
              <a:rPr b="0" i="1" lang="en-US" sz="1300" u="none" cap="none" strike="noStrike">
                <a:solidFill>
                  <a:srgbClr val="6E7686"/>
                </a:solidFill>
                <a:latin typeface="Calibri"/>
                <a:ea typeface="Calibri"/>
                <a:cs typeface="Calibri"/>
                <a:sym typeface="Calibri"/>
              </a:rPr>
              <a:t>Both go through the same verifying, scoring, and review, then into one shared pipeline.</a:t>
            </a:r>
            <a:endParaRPr b="0" i="0" sz="1300" u="none" cap="none" strike="noStrike">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7F1"/>
        </a:solidFill>
      </p:bgPr>
    </p:bg>
    <p:spTree>
      <p:nvGrpSpPr>
        <p:cNvPr id="93" name="Shape 93"/>
        <p:cNvGrpSpPr/>
        <p:nvPr/>
      </p:nvGrpSpPr>
      <p:grpSpPr>
        <a:xfrm>
          <a:off x="0" y="0"/>
          <a:ext cx="0" cy="0"/>
          <a:chOff x="0" y="0"/>
          <a:chExt cx="0" cy="0"/>
        </a:xfrm>
      </p:grpSpPr>
      <p:sp>
        <p:nvSpPr>
          <p:cNvPr id="94" name="Google Shape;94;p7"/>
          <p:cNvSpPr/>
          <p:nvPr/>
        </p:nvSpPr>
        <p:spPr>
          <a:xfrm>
            <a:off x="548640" y="384048"/>
            <a:ext cx="1106424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682B4"/>
              </a:buClr>
              <a:buSzPts val="1200"/>
              <a:buFont typeface="Calibri"/>
              <a:buNone/>
            </a:pPr>
            <a:r>
              <a:rPr b="1" i="0" lang="en-US" sz="1200" u="none" cap="none" strike="noStrike">
                <a:solidFill>
                  <a:srgbClr val="4682B4"/>
                </a:solidFill>
                <a:latin typeface="Calibri"/>
                <a:ea typeface="Calibri"/>
                <a:cs typeface="Calibri"/>
                <a:sym typeface="Calibri"/>
              </a:rPr>
              <a:t>THE INBOUND GROWTH STACK</a:t>
            </a:r>
            <a:endParaRPr b="0" i="0" sz="1200" u="none" cap="none" strike="noStrike">
              <a:solidFill>
                <a:schemeClr val="dk1"/>
              </a:solidFill>
              <a:latin typeface="Calibri"/>
              <a:ea typeface="Calibri"/>
              <a:cs typeface="Calibri"/>
              <a:sym typeface="Calibri"/>
            </a:endParaRPr>
          </a:p>
        </p:txBody>
      </p:sp>
      <p:sp>
        <p:nvSpPr>
          <p:cNvPr id="95" name="Google Shape;95;p7"/>
          <p:cNvSpPr/>
          <p:nvPr/>
        </p:nvSpPr>
        <p:spPr>
          <a:xfrm>
            <a:off x="548640" y="658368"/>
            <a:ext cx="11064240"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2536"/>
              </a:buClr>
              <a:buSzPts val="2700"/>
              <a:buFont typeface="Calibri"/>
              <a:buNone/>
            </a:pPr>
            <a:r>
              <a:rPr b="1" i="0" lang="en-US" sz="2700" u="none" cap="none" strike="noStrike">
                <a:solidFill>
                  <a:srgbClr val="1D2536"/>
                </a:solidFill>
                <a:latin typeface="Calibri"/>
                <a:ea typeface="Calibri"/>
                <a:cs typeface="Calibri"/>
                <a:sym typeface="Calibri"/>
              </a:rPr>
              <a:t>The tools that pull leads to your site</a:t>
            </a:r>
            <a:endParaRPr b="0" i="0" sz="2700" u="none" cap="none" strike="noStrike">
              <a:solidFill>
                <a:schemeClr val="dk1"/>
              </a:solidFill>
              <a:latin typeface="Calibri"/>
              <a:ea typeface="Calibri"/>
              <a:cs typeface="Calibri"/>
              <a:sym typeface="Calibri"/>
            </a:endParaRPr>
          </a:p>
        </p:txBody>
      </p:sp>
      <p:sp>
        <p:nvSpPr>
          <p:cNvPr id="96" name="Google Shape;96;p7"/>
          <p:cNvSpPr/>
          <p:nvPr/>
        </p:nvSpPr>
        <p:spPr>
          <a:xfrm>
            <a:off x="548640" y="1371600"/>
            <a:ext cx="11064240" cy="64008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Clr>
                <a:srgbClr val="1D2536"/>
              </a:buClr>
              <a:buSzPts val="1400"/>
              <a:buFont typeface="Calibri"/>
              <a:buNone/>
            </a:pPr>
            <a:r>
              <a:rPr b="0" i="0" lang="en-US" sz="1400" u="none" cap="none" strike="noStrike">
                <a:solidFill>
                  <a:srgbClr val="1D2536"/>
                </a:solidFill>
                <a:latin typeface="Calibri"/>
                <a:ea typeface="Calibri"/>
                <a:cs typeface="Calibri"/>
                <a:sym typeface="Calibri"/>
              </a:rPr>
              <a:t>The Lead Engine pushes to leads. This lean stack pulls strangers to the AltoLumo site and captures the ones who raise a hand, into the same pipeline. Costs are verified 2026 pricing.</a:t>
            </a:r>
            <a:endParaRPr b="0" i="0" sz="1400" u="none" cap="none" strike="noStrike">
              <a:solidFill>
                <a:schemeClr val="dk1"/>
              </a:solidFill>
              <a:latin typeface="Calibri"/>
              <a:ea typeface="Calibri"/>
              <a:cs typeface="Calibri"/>
              <a:sym typeface="Calibri"/>
            </a:endParaRPr>
          </a:p>
        </p:txBody>
      </p:sp>
      <p:sp>
        <p:nvSpPr>
          <p:cNvPr id="97" name="Google Shape;97;p7"/>
          <p:cNvSpPr/>
          <p:nvPr/>
        </p:nvSpPr>
        <p:spPr>
          <a:xfrm>
            <a:off x="548640" y="2148840"/>
            <a:ext cx="3520440" cy="1234440"/>
          </a:xfrm>
          <a:prstGeom prst="roundRect">
            <a:avLst>
              <a:gd fmla="val 5185" name="adj"/>
            </a:avLst>
          </a:prstGeom>
          <a:solidFill>
            <a:srgbClr val="FFFFFF"/>
          </a:solidFill>
          <a:ln cap="flat" cmpd="sng" w="12700">
            <a:solidFill>
              <a:srgbClr val="E2DCCE"/>
            </a:solidFill>
            <a:prstDash val="solid"/>
            <a:round/>
            <a:headEnd len="sm" w="sm" type="none"/>
            <a:tailEnd len="sm" w="sm" type="none"/>
          </a:ln>
          <a:effectLst>
            <a:outerShdw blurRad="88900" rotWithShape="0" algn="bl" dir="5400000" dist="38100">
              <a:srgbClr val="000000">
                <a:alpha val="1294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 name="Google Shape;98;p7"/>
          <p:cNvSpPr/>
          <p:nvPr/>
        </p:nvSpPr>
        <p:spPr>
          <a:xfrm>
            <a:off x="777240" y="2276856"/>
            <a:ext cx="306324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2536"/>
              </a:buClr>
              <a:buSzPts val="1400"/>
              <a:buFont typeface="Calibri"/>
              <a:buNone/>
            </a:pPr>
            <a:r>
              <a:rPr b="1" i="0" lang="en-US" sz="1400" u="none" cap="none" strike="noStrike">
                <a:solidFill>
                  <a:srgbClr val="1D2536"/>
                </a:solidFill>
                <a:latin typeface="Calibri"/>
                <a:ea typeface="Calibri"/>
                <a:cs typeface="Calibri"/>
                <a:sym typeface="Calibri"/>
              </a:rPr>
              <a:t>Cloudflare   </a:t>
            </a:r>
            <a:r>
              <a:rPr b="1" i="0" lang="en-US" sz="1100" u="none" cap="none" strike="noStrike">
                <a:solidFill>
                  <a:srgbClr val="4682B4"/>
                </a:solidFill>
                <a:latin typeface="Calibri"/>
                <a:ea typeface="Calibri"/>
                <a:cs typeface="Calibri"/>
                <a:sym typeface="Calibri"/>
              </a:rPr>
              <a:t>$0 free</a:t>
            </a:r>
            <a:endParaRPr b="0" i="0" sz="1400" u="none" cap="none" strike="noStrike">
              <a:solidFill>
                <a:schemeClr val="dk1"/>
              </a:solidFill>
              <a:latin typeface="Calibri"/>
              <a:ea typeface="Calibri"/>
              <a:cs typeface="Calibri"/>
              <a:sym typeface="Calibri"/>
            </a:endParaRPr>
          </a:p>
        </p:txBody>
      </p:sp>
      <p:sp>
        <p:nvSpPr>
          <p:cNvPr id="99" name="Google Shape;99;p7"/>
          <p:cNvSpPr/>
          <p:nvPr/>
        </p:nvSpPr>
        <p:spPr>
          <a:xfrm>
            <a:off x="777240" y="2624328"/>
            <a:ext cx="3063240" cy="640080"/>
          </a:xfrm>
          <a:prstGeom prst="rect">
            <a:avLst/>
          </a:prstGeom>
          <a:noFill/>
          <a:ln>
            <a:noFill/>
          </a:ln>
        </p:spPr>
        <p:txBody>
          <a:bodyPr anchorCtr="0" anchor="ctr" bIns="0" lIns="0" spcFirstLastPara="1" rIns="0" wrap="square" tIns="0">
            <a:noAutofit/>
          </a:bodyPr>
          <a:lstStyle/>
          <a:p>
            <a:pPr indent="0" lvl="0" marL="0" marR="0" rtl="0" algn="l">
              <a:lnSpc>
                <a:spcPct val="115000"/>
              </a:lnSpc>
              <a:spcBef>
                <a:spcPts val="0"/>
              </a:spcBef>
              <a:spcAft>
                <a:spcPts val="0"/>
              </a:spcAft>
              <a:buClr>
                <a:srgbClr val="6E7686"/>
              </a:buClr>
              <a:buSzPts val="1150"/>
              <a:buFont typeface="Calibri"/>
              <a:buNone/>
            </a:pPr>
            <a:r>
              <a:rPr b="0" i="0" lang="en-US" sz="1150" u="none" cap="none" strike="noStrike">
                <a:solidFill>
                  <a:srgbClr val="6E7686"/>
                </a:solidFill>
                <a:latin typeface="Calibri"/>
                <a:ea typeface="Calibri"/>
                <a:cs typeface="Calibri"/>
                <a:sym typeface="Calibri"/>
              </a:rPr>
              <a:t>The front door: DNS, CDN, security, hosting</a:t>
            </a:r>
            <a:endParaRPr b="0" i="0" sz="1150" u="none" cap="none" strike="noStrike">
              <a:solidFill>
                <a:schemeClr val="dk1"/>
              </a:solidFill>
              <a:latin typeface="Calibri"/>
              <a:ea typeface="Calibri"/>
              <a:cs typeface="Calibri"/>
              <a:sym typeface="Calibri"/>
            </a:endParaRPr>
          </a:p>
        </p:txBody>
      </p:sp>
      <p:sp>
        <p:nvSpPr>
          <p:cNvPr id="100" name="Google Shape;100;p7"/>
          <p:cNvSpPr/>
          <p:nvPr/>
        </p:nvSpPr>
        <p:spPr>
          <a:xfrm>
            <a:off x="4480560" y="2148840"/>
            <a:ext cx="3520440" cy="1234440"/>
          </a:xfrm>
          <a:prstGeom prst="roundRect">
            <a:avLst>
              <a:gd fmla="val 5185" name="adj"/>
            </a:avLst>
          </a:prstGeom>
          <a:solidFill>
            <a:srgbClr val="FFFFFF"/>
          </a:solidFill>
          <a:ln cap="flat" cmpd="sng" w="12700">
            <a:solidFill>
              <a:srgbClr val="E2DCCE"/>
            </a:solidFill>
            <a:prstDash val="solid"/>
            <a:round/>
            <a:headEnd len="sm" w="sm" type="none"/>
            <a:tailEnd len="sm" w="sm" type="none"/>
          </a:ln>
          <a:effectLst>
            <a:outerShdw blurRad="88900" rotWithShape="0" algn="bl" dir="5400000" dist="38100">
              <a:srgbClr val="000000">
                <a:alpha val="1294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 name="Google Shape;101;p7"/>
          <p:cNvSpPr/>
          <p:nvPr/>
        </p:nvSpPr>
        <p:spPr>
          <a:xfrm>
            <a:off x="4709160" y="2276856"/>
            <a:ext cx="306324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2536"/>
              </a:buClr>
              <a:buSzPts val="1400"/>
              <a:buFont typeface="Calibri"/>
              <a:buNone/>
            </a:pPr>
            <a:r>
              <a:rPr b="1" i="0" lang="en-US" sz="1400" u="none" cap="none" strike="noStrike">
                <a:solidFill>
                  <a:srgbClr val="1D2536"/>
                </a:solidFill>
                <a:latin typeface="Calibri"/>
                <a:ea typeface="Calibri"/>
                <a:cs typeface="Calibri"/>
                <a:sym typeface="Calibri"/>
              </a:rPr>
              <a:t>Supabase   </a:t>
            </a:r>
            <a:r>
              <a:rPr b="1" i="0" lang="en-US" sz="1100" u="none" cap="none" strike="noStrike">
                <a:solidFill>
                  <a:srgbClr val="1F4E79"/>
                </a:solidFill>
                <a:latin typeface="Calibri"/>
                <a:ea typeface="Calibri"/>
                <a:cs typeface="Calibri"/>
                <a:sym typeface="Calibri"/>
              </a:rPr>
              <a:t>$0 to $25</a:t>
            </a:r>
            <a:endParaRPr b="0" i="0" sz="1400" u="none" cap="none" strike="noStrike">
              <a:solidFill>
                <a:schemeClr val="dk1"/>
              </a:solidFill>
              <a:latin typeface="Calibri"/>
              <a:ea typeface="Calibri"/>
              <a:cs typeface="Calibri"/>
              <a:sym typeface="Calibri"/>
            </a:endParaRPr>
          </a:p>
        </p:txBody>
      </p:sp>
      <p:sp>
        <p:nvSpPr>
          <p:cNvPr id="102" name="Google Shape;102;p7"/>
          <p:cNvSpPr/>
          <p:nvPr/>
        </p:nvSpPr>
        <p:spPr>
          <a:xfrm>
            <a:off x="4709160" y="2624328"/>
            <a:ext cx="3063240" cy="640080"/>
          </a:xfrm>
          <a:prstGeom prst="rect">
            <a:avLst/>
          </a:prstGeom>
          <a:noFill/>
          <a:ln>
            <a:noFill/>
          </a:ln>
        </p:spPr>
        <p:txBody>
          <a:bodyPr anchorCtr="0" anchor="ctr" bIns="0" lIns="0" spcFirstLastPara="1" rIns="0" wrap="square" tIns="0">
            <a:noAutofit/>
          </a:bodyPr>
          <a:lstStyle/>
          <a:p>
            <a:pPr indent="0" lvl="0" marL="0" marR="0" rtl="0" algn="l">
              <a:lnSpc>
                <a:spcPct val="115000"/>
              </a:lnSpc>
              <a:spcBef>
                <a:spcPts val="0"/>
              </a:spcBef>
              <a:spcAft>
                <a:spcPts val="0"/>
              </a:spcAft>
              <a:buClr>
                <a:srgbClr val="6E7686"/>
              </a:buClr>
              <a:buSzPts val="1150"/>
              <a:buFont typeface="Calibri"/>
              <a:buNone/>
            </a:pPr>
            <a:r>
              <a:rPr b="0" i="0" lang="en-US" sz="1150" u="none" cap="none" strike="noStrike">
                <a:solidFill>
                  <a:srgbClr val="6E7686"/>
                </a:solidFill>
                <a:latin typeface="Calibri"/>
                <a:ea typeface="Calibri"/>
                <a:cs typeface="Calibri"/>
                <a:sym typeface="Calibri"/>
              </a:rPr>
              <a:t>Backend and shared database, already core</a:t>
            </a:r>
            <a:endParaRPr b="0" i="0" sz="1150" u="none" cap="none" strike="noStrike">
              <a:solidFill>
                <a:schemeClr val="dk1"/>
              </a:solidFill>
              <a:latin typeface="Calibri"/>
              <a:ea typeface="Calibri"/>
              <a:cs typeface="Calibri"/>
              <a:sym typeface="Calibri"/>
            </a:endParaRPr>
          </a:p>
        </p:txBody>
      </p:sp>
      <p:sp>
        <p:nvSpPr>
          <p:cNvPr id="103" name="Google Shape;103;p7"/>
          <p:cNvSpPr/>
          <p:nvPr/>
        </p:nvSpPr>
        <p:spPr>
          <a:xfrm>
            <a:off x="8412480" y="2148840"/>
            <a:ext cx="3520440" cy="1234440"/>
          </a:xfrm>
          <a:prstGeom prst="roundRect">
            <a:avLst>
              <a:gd fmla="val 5185" name="adj"/>
            </a:avLst>
          </a:prstGeom>
          <a:solidFill>
            <a:srgbClr val="FFFFFF"/>
          </a:solidFill>
          <a:ln cap="flat" cmpd="sng" w="12700">
            <a:solidFill>
              <a:srgbClr val="E2DCCE"/>
            </a:solidFill>
            <a:prstDash val="solid"/>
            <a:round/>
            <a:headEnd len="sm" w="sm" type="none"/>
            <a:tailEnd len="sm" w="sm" type="none"/>
          </a:ln>
          <a:effectLst>
            <a:outerShdw blurRad="88900" rotWithShape="0" algn="bl" dir="5400000" dist="38100">
              <a:srgbClr val="000000">
                <a:alpha val="1294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 name="Google Shape;104;p7"/>
          <p:cNvSpPr/>
          <p:nvPr/>
        </p:nvSpPr>
        <p:spPr>
          <a:xfrm>
            <a:off x="8641080" y="2276856"/>
            <a:ext cx="306324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2536"/>
              </a:buClr>
              <a:buSzPts val="1400"/>
              <a:buFont typeface="Calibri"/>
              <a:buNone/>
            </a:pPr>
            <a:r>
              <a:rPr b="1" i="0" lang="en-US" sz="1400" u="none" cap="none" strike="noStrike">
                <a:solidFill>
                  <a:srgbClr val="1D2536"/>
                </a:solidFill>
                <a:latin typeface="Calibri"/>
                <a:ea typeface="Calibri"/>
                <a:cs typeface="Calibri"/>
                <a:sym typeface="Calibri"/>
              </a:rPr>
              <a:t>PostHog   </a:t>
            </a:r>
            <a:r>
              <a:rPr b="1" i="0" lang="en-US" sz="1100" u="none" cap="none" strike="noStrike">
                <a:solidFill>
                  <a:srgbClr val="4682B4"/>
                </a:solidFill>
                <a:latin typeface="Calibri"/>
                <a:ea typeface="Calibri"/>
                <a:cs typeface="Calibri"/>
                <a:sym typeface="Calibri"/>
              </a:rPr>
              <a:t>$0 free tier</a:t>
            </a:r>
            <a:endParaRPr b="0" i="0" sz="1400" u="none" cap="none" strike="noStrike">
              <a:solidFill>
                <a:schemeClr val="dk1"/>
              </a:solidFill>
              <a:latin typeface="Calibri"/>
              <a:ea typeface="Calibri"/>
              <a:cs typeface="Calibri"/>
              <a:sym typeface="Calibri"/>
            </a:endParaRPr>
          </a:p>
        </p:txBody>
      </p:sp>
      <p:sp>
        <p:nvSpPr>
          <p:cNvPr id="105" name="Google Shape;105;p7"/>
          <p:cNvSpPr/>
          <p:nvPr/>
        </p:nvSpPr>
        <p:spPr>
          <a:xfrm>
            <a:off x="8641080" y="2624328"/>
            <a:ext cx="3063240" cy="640080"/>
          </a:xfrm>
          <a:prstGeom prst="rect">
            <a:avLst/>
          </a:prstGeom>
          <a:noFill/>
          <a:ln>
            <a:noFill/>
          </a:ln>
        </p:spPr>
        <p:txBody>
          <a:bodyPr anchorCtr="0" anchor="ctr" bIns="0" lIns="0" spcFirstLastPara="1" rIns="0" wrap="square" tIns="0">
            <a:noAutofit/>
          </a:bodyPr>
          <a:lstStyle/>
          <a:p>
            <a:pPr indent="0" lvl="0" marL="0" marR="0" rtl="0" algn="l">
              <a:lnSpc>
                <a:spcPct val="115000"/>
              </a:lnSpc>
              <a:spcBef>
                <a:spcPts val="0"/>
              </a:spcBef>
              <a:spcAft>
                <a:spcPts val="0"/>
              </a:spcAft>
              <a:buClr>
                <a:srgbClr val="6E7686"/>
              </a:buClr>
              <a:buSzPts val="1150"/>
              <a:buFont typeface="Calibri"/>
              <a:buNone/>
            </a:pPr>
            <a:r>
              <a:rPr b="0" i="0" lang="en-US" sz="1150" u="none" cap="none" strike="noStrike">
                <a:solidFill>
                  <a:srgbClr val="6E7686"/>
                </a:solidFill>
                <a:latin typeface="Calibri"/>
                <a:ea typeface="Calibri"/>
                <a:cs typeface="Calibri"/>
                <a:sym typeface="Calibri"/>
              </a:rPr>
              <a:t>Analytics: what source and content converts</a:t>
            </a:r>
            <a:endParaRPr b="0" i="0" sz="1150" u="none" cap="none" strike="noStrike">
              <a:solidFill>
                <a:schemeClr val="dk1"/>
              </a:solidFill>
              <a:latin typeface="Calibri"/>
              <a:ea typeface="Calibri"/>
              <a:cs typeface="Calibri"/>
              <a:sym typeface="Calibri"/>
            </a:endParaRPr>
          </a:p>
        </p:txBody>
      </p:sp>
      <p:sp>
        <p:nvSpPr>
          <p:cNvPr id="106" name="Google Shape;106;p7"/>
          <p:cNvSpPr/>
          <p:nvPr/>
        </p:nvSpPr>
        <p:spPr>
          <a:xfrm>
            <a:off x="548640" y="3566160"/>
            <a:ext cx="3520440" cy="1234440"/>
          </a:xfrm>
          <a:prstGeom prst="roundRect">
            <a:avLst>
              <a:gd fmla="val 5185" name="adj"/>
            </a:avLst>
          </a:prstGeom>
          <a:solidFill>
            <a:srgbClr val="FFFFFF"/>
          </a:solidFill>
          <a:ln cap="flat" cmpd="sng" w="12700">
            <a:solidFill>
              <a:srgbClr val="E2DCCE"/>
            </a:solidFill>
            <a:prstDash val="solid"/>
            <a:round/>
            <a:headEnd len="sm" w="sm" type="none"/>
            <a:tailEnd len="sm" w="sm" type="none"/>
          </a:ln>
          <a:effectLst>
            <a:outerShdw blurRad="88900" rotWithShape="0" algn="bl" dir="5400000" dist="38100">
              <a:srgbClr val="000000">
                <a:alpha val="1294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 name="Google Shape;107;p7"/>
          <p:cNvSpPr/>
          <p:nvPr/>
        </p:nvSpPr>
        <p:spPr>
          <a:xfrm>
            <a:off x="777240" y="3694176"/>
            <a:ext cx="306324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2536"/>
              </a:buClr>
              <a:buSzPts val="1400"/>
              <a:buFont typeface="Calibri"/>
              <a:buNone/>
            </a:pPr>
            <a:r>
              <a:rPr b="1" i="0" lang="en-US" sz="1400" u="none" cap="none" strike="noStrike">
                <a:solidFill>
                  <a:srgbClr val="1D2536"/>
                </a:solidFill>
                <a:latin typeface="Calibri"/>
                <a:ea typeface="Calibri"/>
                <a:cs typeface="Calibri"/>
                <a:sym typeface="Calibri"/>
              </a:rPr>
              <a:t>Repurpose   </a:t>
            </a:r>
            <a:r>
              <a:rPr b="1" i="0" lang="en-US" sz="1100" u="none" cap="none" strike="noStrike">
                <a:solidFill>
                  <a:srgbClr val="1F4E79"/>
                </a:solidFill>
                <a:latin typeface="Calibri"/>
                <a:ea typeface="Calibri"/>
                <a:cs typeface="Calibri"/>
                <a:sym typeface="Calibri"/>
              </a:rPr>
              <a:t>about $35</a:t>
            </a:r>
            <a:endParaRPr b="0" i="0" sz="1400" u="none" cap="none" strike="noStrike">
              <a:solidFill>
                <a:schemeClr val="dk1"/>
              </a:solidFill>
              <a:latin typeface="Calibri"/>
              <a:ea typeface="Calibri"/>
              <a:cs typeface="Calibri"/>
              <a:sym typeface="Calibri"/>
            </a:endParaRPr>
          </a:p>
        </p:txBody>
      </p:sp>
      <p:sp>
        <p:nvSpPr>
          <p:cNvPr id="108" name="Google Shape;108;p7"/>
          <p:cNvSpPr/>
          <p:nvPr/>
        </p:nvSpPr>
        <p:spPr>
          <a:xfrm>
            <a:off x="777240" y="4041648"/>
            <a:ext cx="3063240" cy="640080"/>
          </a:xfrm>
          <a:prstGeom prst="rect">
            <a:avLst/>
          </a:prstGeom>
          <a:noFill/>
          <a:ln>
            <a:noFill/>
          </a:ln>
        </p:spPr>
        <p:txBody>
          <a:bodyPr anchorCtr="0" anchor="ctr" bIns="0" lIns="0" spcFirstLastPara="1" rIns="0" wrap="square" tIns="0">
            <a:noAutofit/>
          </a:bodyPr>
          <a:lstStyle/>
          <a:p>
            <a:pPr indent="0" lvl="0" marL="0" marR="0" rtl="0" algn="l">
              <a:lnSpc>
                <a:spcPct val="115000"/>
              </a:lnSpc>
              <a:spcBef>
                <a:spcPts val="0"/>
              </a:spcBef>
              <a:spcAft>
                <a:spcPts val="0"/>
              </a:spcAft>
              <a:buClr>
                <a:srgbClr val="6E7686"/>
              </a:buClr>
              <a:buSzPts val="1150"/>
              <a:buFont typeface="Calibri"/>
              <a:buNone/>
            </a:pPr>
            <a:r>
              <a:rPr b="0" i="0" lang="en-US" sz="1150" u="none" cap="none" strike="noStrike">
                <a:solidFill>
                  <a:srgbClr val="6E7686"/>
                </a:solidFill>
                <a:latin typeface="Calibri"/>
                <a:ea typeface="Calibri"/>
                <a:cs typeface="Calibri"/>
                <a:sym typeface="Calibri"/>
              </a:rPr>
              <a:t>Distributes one piece of content everywhere</a:t>
            </a:r>
            <a:endParaRPr b="0" i="0" sz="1150" u="none" cap="none" strike="noStrike">
              <a:solidFill>
                <a:schemeClr val="dk1"/>
              </a:solidFill>
              <a:latin typeface="Calibri"/>
              <a:ea typeface="Calibri"/>
              <a:cs typeface="Calibri"/>
              <a:sym typeface="Calibri"/>
            </a:endParaRPr>
          </a:p>
        </p:txBody>
      </p:sp>
      <p:sp>
        <p:nvSpPr>
          <p:cNvPr id="109" name="Google Shape;109;p7"/>
          <p:cNvSpPr/>
          <p:nvPr/>
        </p:nvSpPr>
        <p:spPr>
          <a:xfrm>
            <a:off x="4480560" y="3566160"/>
            <a:ext cx="3520440" cy="1234440"/>
          </a:xfrm>
          <a:prstGeom prst="roundRect">
            <a:avLst>
              <a:gd fmla="val 5185" name="adj"/>
            </a:avLst>
          </a:prstGeom>
          <a:solidFill>
            <a:srgbClr val="FFFFFF"/>
          </a:solidFill>
          <a:ln cap="flat" cmpd="sng" w="12700">
            <a:solidFill>
              <a:srgbClr val="E2DCCE"/>
            </a:solidFill>
            <a:prstDash val="solid"/>
            <a:round/>
            <a:headEnd len="sm" w="sm" type="none"/>
            <a:tailEnd len="sm" w="sm" type="none"/>
          </a:ln>
          <a:effectLst>
            <a:outerShdw blurRad="88900" rotWithShape="0" algn="bl" dir="5400000" dist="38100">
              <a:srgbClr val="000000">
                <a:alpha val="1294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 name="Google Shape;110;p7"/>
          <p:cNvSpPr/>
          <p:nvPr/>
        </p:nvSpPr>
        <p:spPr>
          <a:xfrm>
            <a:off x="4709160" y="3694176"/>
            <a:ext cx="306324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2536"/>
              </a:buClr>
              <a:buSzPts val="1400"/>
              <a:buFont typeface="Calibri"/>
              <a:buNone/>
            </a:pPr>
            <a:r>
              <a:rPr b="1" i="0" lang="en-US" sz="1400" u="none" cap="none" strike="noStrike">
                <a:solidFill>
                  <a:srgbClr val="1D2536"/>
                </a:solidFill>
                <a:latin typeface="Calibri"/>
                <a:ea typeface="Calibri"/>
                <a:cs typeface="Calibri"/>
                <a:sym typeface="Calibri"/>
              </a:rPr>
              <a:t>Discord   </a:t>
            </a:r>
            <a:r>
              <a:rPr b="1" i="0" lang="en-US" sz="1100" u="none" cap="none" strike="noStrike">
                <a:solidFill>
                  <a:srgbClr val="1F4E79"/>
                </a:solidFill>
                <a:latin typeface="Calibri"/>
                <a:ea typeface="Calibri"/>
                <a:cs typeface="Calibri"/>
                <a:sym typeface="Calibri"/>
              </a:rPr>
              <a:t>$0 free</a:t>
            </a:r>
            <a:endParaRPr b="0" i="0" sz="1400" u="none" cap="none" strike="noStrike">
              <a:solidFill>
                <a:schemeClr val="dk1"/>
              </a:solidFill>
              <a:latin typeface="Calibri"/>
              <a:ea typeface="Calibri"/>
              <a:cs typeface="Calibri"/>
              <a:sym typeface="Calibri"/>
            </a:endParaRPr>
          </a:p>
        </p:txBody>
      </p:sp>
      <p:sp>
        <p:nvSpPr>
          <p:cNvPr id="111" name="Google Shape;111;p7"/>
          <p:cNvSpPr/>
          <p:nvPr/>
        </p:nvSpPr>
        <p:spPr>
          <a:xfrm>
            <a:off x="4709160" y="4041648"/>
            <a:ext cx="3063240" cy="640080"/>
          </a:xfrm>
          <a:prstGeom prst="rect">
            <a:avLst/>
          </a:prstGeom>
          <a:noFill/>
          <a:ln>
            <a:noFill/>
          </a:ln>
        </p:spPr>
        <p:txBody>
          <a:bodyPr anchorCtr="0" anchor="ctr" bIns="0" lIns="0" spcFirstLastPara="1" rIns="0" wrap="square" tIns="0">
            <a:noAutofit/>
          </a:bodyPr>
          <a:lstStyle/>
          <a:p>
            <a:pPr indent="0" lvl="0" marL="0" marR="0" rtl="0" algn="l">
              <a:lnSpc>
                <a:spcPct val="115000"/>
              </a:lnSpc>
              <a:spcBef>
                <a:spcPts val="0"/>
              </a:spcBef>
              <a:spcAft>
                <a:spcPts val="0"/>
              </a:spcAft>
              <a:buClr>
                <a:srgbClr val="6E7686"/>
              </a:buClr>
              <a:buSzPts val="1150"/>
              <a:buFont typeface="Calibri"/>
              <a:buNone/>
            </a:pPr>
            <a:r>
              <a:rPr b="0" i="0" lang="en-US" sz="1150" u="none" cap="none" strike="noStrike">
                <a:solidFill>
                  <a:srgbClr val="6E7686"/>
                </a:solidFill>
                <a:latin typeface="Calibri"/>
                <a:ea typeface="Calibri"/>
                <a:cs typeface="Calibri"/>
                <a:sym typeface="Calibri"/>
              </a:rPr>
              <a:t>Community as a warm lead and nurture path</a:t>
            </a:r>
            <a:endParaRPr b="0" i="0" sz="1150" u="none" cap="none" strike="noStrike">
              <a:solidFill>
                <a:schemeClr val="dk1"/>
              </a:solidFill>
              <a:latin typeface="Calibri"/>
              <a:ea typeface="Calibri"/>
              <a:cs typeface="Calibri"/>
              <a:sym typeface="Calibri"/>
            </a:endParaRPr>
          </a:p>
        </p:txBody>
      </p:sp>
      <p:sp>
        <p:nvSpPr>
          <p:cNvPr id="112" name="Google Shape;112;p7"/>
          <p:cNvSpPr/>
          <p:nvPr/>
        </p:nvSpPr>
        <p:spPr>
          <a:xfrm>
            <a:off x="8412480" y="3566160"/>
            <a:ext cx="3520440" cy="1234440"/>
          </a:xfrm>
          <a:prstGeom prst="roundRect">
            <a:avLst>
              <a:gd fmla="val 5185" name="adj"/>
            </a:avLst>
          </a:prstGeom>
          <a:solidFill>
            <a:srgbClr val="FFFFFF"/>
          </a:solidFill>
          <a:ln cap="flat" cmpd="sng" w="12700">
            <a:solidFill>
              <a:srgbClr val="E2DCCE"/>
            </a:solidFill>
            <a:prstDash val="solid"/>
            <a:round/>
            <a:headEnd len="sm" w="sm" type="none"/>
            <a:tailEnd len="sm" w="sm" type="none"/>
          </a:ln>
          <a:effectLst>
            <a:outerShdw blurRad="88900" rotWithShape="0" algn="bl" dir="5400000" dist="38100">
              <a:srgbClr val="000000">
                <a:alpha val="1294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 name="Google Shape;113;p7"/>
          <p:cNvSpPr/>
          <p:nvPr/>
        </p:nvSpPr>
        <p:spPr>
          <a:xfrm>
            <a:off x="8641080" y="3694176"/>
            <a:ext cx="306324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2536"/>
              </a:buClr>
              <a:buSzPts val="1400"/>
              <a:buFont typeface="Calibri"/>
              <a:buNone/>
            </a:pPr>
            <a:r>
              <a:rPr b="1" i="0" lang="en-US" sz="1400" u="none" cap="none" strike="noStrike">
                <a:solidFill>
                  <a:srgbClr val="1D2536"/>
                </a:solidFill>
                <a:latin typeface="Calibri"/>
                <a:ea typeface="Calibri"/>
                <a:cs typeface="Calibri"/>
                <a:sym typeface="Calibri"/>
              </a:rPr>
              <a:t>Ads, two kinds   </a:t>
            </a:r>
            <a:r>
              <a:rPr b="1" i="0" lang="en-US" sz="1100" u="none" cap="none" strike="noStrike">
                <a:solidFill>
                  <a:srgbClr val="4682B4"/>
                </a:solidFill>
                <a:latin typeface="Calibri"/>
                <a:ea typeface="Calibri"/>
                <a:cs typeface="Calibri"/>
                <a:sym typeface="Calibri"/>
              </a:rPr>
              <a:t>from revenue</a:t>
            </a:r>
            <a:endParaRPr b="0" i="0" sz="1400" u="none" cap="none" strike="noStrike">
              <a:solidFill>
                <a:schemeClr val="dk1"/>
              </a:solidFill>
              <a:latin typeface="Calibri"/>
              <a:ea typeface="Calibri"/>
              <a:cs typeface="Calibri"/>
              <a:sym typeface="Calibri"/>
            </a:endParaRPr>
          </a:p>
        </p:txBody>
      </p:sp>
      <p:sp>
        <p:nvSpPr>
          <p:cNvPr id="114" name="Google Shape;114;p7"/>
          <p:cNvSpPr/>
          <p:nvPr/>
        </p:nvSpPr>
        <p:spPr>
          <a:xfrm>
            <a:off x="8641080" y="4041648"/>
            <a:ext cx="3063240" cy="640080"/>
          </a:xfrm>
          <a:prstGeom prst="rect">
            <a:avLst/>
          </a:prstGeom>
          <a:noFill/>
          <a:ln>
            <a:noFill/>
          </a:ln>
        </p:spPr>
        <p:txBody>
          <a:bodyPr anchorCtr="0" anchor="ctr" bIns="0" lIns="0" spcFirstLastPara="1" rIns="0" wrap="square" tIns="0">
            <a:noAutofit/>
          </a:bodyPr>
          <a:lstStyle/>
          <a:p>
            <a:pPr indent="0" lvl="0" marL="0" marR="0" rtl="0" algn="l">
              <a:lnSpc>
                <a:spcPct val="115000"/>
              </a:lnSpc>
              <a:spcBef>
                <a:spcPts val="0"/>
              </a:spcBef>
              <a:spcAft>
                <a:spcPts val="0"/>
              </a:spcAft>
              <a:buClr>
                <a:srgbClr val="6E7686"/>
              </a:buClr>
              <a:buSzPts val="1150"/>
              <a:buFont typeface="Calibri"/>
              <a:buNone/>
            </a:pPr>
            <a:r>
              <a:rPr b="0" i="0" lang="en-US" sz="1150" u="none" cap="none" strike="noStrike">
                <a:solidFill>
                  <a:srgbClr val="6E7686"/>
                </a:solidFill>
                <a:latin typeface="Calibri"/>
                <a:ea typeface="Calibri"/>
                <a:cs typeface="Calibri"/>
                <a:sym typeface="Calibri"/>
              </a:rPr>
              <a:t>Google Ads buys traffic; AdSense earns on content</a:t>
            </a:r>
            <a:endParaRPr b="0" i="0" sz="1150" u="none" cap="none" strike="noStrike">
              <a:solidFill>
                <a:schemeClr val="dk1"/>
              </a:solidFill>
              <a:latin typeface="Calibri"/>
              <a:ea typeface="Calibri"/>
              <a:cs typeface="Calibri"/>
              <a:sym typeface="Calibri"/>
            </a:endParaRPr>
          </a:p>
        </p:txBody>
      </p:sp>
      <p:sp>
        <p:nvSpPr>
          <p:cNvPr id="115" name="Google Shape;115;p7"/>
          <p:cNvSpPr/>
          <p:nvPr/>
        </p:nvSpPr>
        <p:spPr>
          <a:xfrm>
            <a:off x="548640" y="5120640"/>
            <a:ext cx="11064240" cy="960120"/>
          </a:xfrm>
          <a:prstGeom prst="roundRect">
            <a:avLst>
              <a:gd fmla="val 6667" name="adj"/>
            </a:avLst>
          </a:prstGeom>
          <a:solidFill>
            <a:srgbClr val="1D2536"/>
          </a:solidFill>
          <a:ln cap="flat" cmpd="sng" w="12700">
            <a:solidFill>
              <a:srgbClr val="1D253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 name="Google Shape;116;p7"/>
          <p:cNvSpPr/>
          <p:nvPr/>
        </p:nvSpPr>
        <p:spPr>
          <a:xfrm>
            <a:off x="914400" y="5120640"/>
            <a:ext cx="10332720" cy="96012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Clr>
                <a:srgbClr val="9DC3E6"/>
              </a:buClr>
              <a:buSzPts val="1400"/>
              <a:buFont typeface="Calibri"/>
              <a:buNone/>
            </a:pPr>
            <a:r>
              <a:rPr b="1" i="0" lang="en-US" sz="1400" u="none" cap="none" strike="noStrike">
                <a:solidFill>
                  <a:srgbClr val="9DC3E6"/>
                </a:solidFill>
                <a:latin typeface="Calibri"/>
                <a:ea typeface="Calibri"/>
                <a:cs typeface="Calibri"/>
                <a:sym typeface="Calibri"/>
              </a:rPr>
              <a:t>Honest on ads.  </a:t>
            </a:r>
            <a:r>
              <a:rPr b="0" i="0" lang="en-US" sz="1400" u="none" cap="none" strike="noStrike">
                <a:solidFill>
                  <a:srgbClr val="D9E2EF"/>
                </a:solidFill>
                <a:latin typeface="Calibri"/>
                <a:ea typeface="Calibri"/>
                <a:cs typeface="Calibri"/>
                <a:sym typeface="Calibri"/>
              </a:rPr>
              <a:t>Google Ads buys traffic to the funnel, later, from revenue. AdSense is not a lead tool; it earns money on a content asset you own, an optional side stream.</a:t>
            </a:r>
            <a:endParaRPr b="0" i="0" sz="1400" u="none" cap="none" strike="noStrike">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7F1"/>
        </a:solidFill>
      </p:bgPr>
    </p:bg>
    <p:spTree>
      <p:nvGrpSpPr>
        <p:cNvPr id="121" name="Shape 121"/>
        <p:cNvGrpSpPr/>
        <p:nvPr/>
      </p:nvGrpSpPr>
      <p:grpSpPr>
        <a:xfrm>
          <a:off x="0" y="0"/>
          <a:ext cx="0" cy="0"/>
          <a:chOff x="0" y="0"/>
          <a:chExt cx="0" cy="0"/>
        </a:xfrm>
      </p:grpSpPr>
      <p:sp>
        <p:nvSpPr>
          <p:cNvPr id="122" name="Google Shape;122;p8"/>
          <p:cNvSpPr/>
          <p:nvPr/>
        </p:nvSpPr>
        <p:spPr>
          <a:xfrm>
            <a:off x="548640" y="384048"/>
            <a:ext cx="1106424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682B4"/>
              </a:buClr>
              <a:buSzPts val="1200"/>
              <a:buFont typeface="Calibri"/>
              <a:buNone/>
            </a:pPr>
            <a:r>
              <a:rPr b="1" i="0" lang="en-US" sz="1200" u="none" cap="none" strike="noStrike">
                <a:solidFill>
                  <a:srgbClr val="4682B4"/>
                </a:solidFill>
                <a:latin typeface="Calibri"/>
                <a:ea typeface="Calibri"/>
                <a:cs typeface="Calibri"/>
                <a:sym typeface="Calibri"/>
              </a:rPr>
              <a:t>HOW LEADS GET PULLED TO THE SITE</a:t>
            </a:r>
            <a:endParaRPr b="0" i="0" sz="1200" u="none" cap="none" strike="noStrike">
              <a:solidFill>
                <a:schemeClr val="dk1"/>
              </a:solidFill>
              <a:latin typeface="Calibri"/>
              <a:ea typeface="Calibri"/>
              <a:cs typeface="Calibri"/>
              <a:sym typeface="Calibri"/>
            </a:endParaRPr>
          </a:p>
        </p:txBody>
      </p:sp>
      <p:sp>
        <p:nvSpPr>
          <p:cNvPr id="123" name="Google Shape;123;p8"/>
          <p:cNvSpPr/>
          <p:nvPr/>
        </p:nvSpPr>
        <p:spPr>
          <a:xfrm>
            <a:off x="548640" y="658368"/>
            <a:ext cx="11064240"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2536"/>
              </a:buClr>
              <a:buSzPts val="2700"/>
              <a:buFont typeface="Calibri"/>
              <a:buNone/>
            </a:pPr>
            <a:r>
              <a:rPr b="1" i="0" lang="en-US" sz="2700" u="none" cap="none" strike="noStrike">
                <a:solidFill>
                  <a:srgbClr val="1D2536"/>
                </a:solidFill>
                <a:latin typeface="Calibri"/>
                <a:ea typeface="Calibri"/>
                <a:cs typeface="Calibri"/>
                <a:sym typeface="Calibri"/>
              </a:rPr>
              <a:t>One content piece to a captured lead</a:t>
            </a:r>
            <a:endParaRPr b="0" i="0" sz="2700" u="none" cap="none" strike="noStrike">
              <a:solidFill>
                <a:schemeClr val="dk1"/>
              </a:solidFill>
              <a:latin typeface="Calibri"/>
              <a:ea typeface="Calibri"/>
              <a:cs typeface="Calibri"/>
              <a:sym typeface="Calibri"/>
            </a:endParaRPr>
          </a:p>
        </p:txBody>
      </p:sp>
      <p:sp>
        <p:nvSpPr>
          <p:cNvPr id="124" name="Google Shape;124;p8"/>
          <p:cNvSpPr/>
          <p:nvPr/>
        </p:nvSpPr>
        <p:spPr>
          <a:xfrm>
            <a:off x="548640" y="1965960"/>
            <a:ext cx="2084832" cy="1005840"/>
          </a:xfrm>
          <a:prstGeom prst="roundRect">
            <a:avLst>
              <a:gd fmla="val 7273" name="adj"/>
            </a:avLst>
          </a:prstGeom>
          <a:solidFill>
            <a:srgbClr val="E7EEF5"/>
          </a:solidFill>
          <a:ln cap="flat" cmpd="sng" w="12700">
            <a:solidFill>
              <a:srgbClr val="E7EEF5"/>
            </a:solidFill>
            <a:prstDash val="solid"/>
            <a:round/>
            <a:headEnd len="sm" w="sm" type="none"/>
            <a:tailEnd len="sm" w="sm" type="none"/>
          </a:ln>
          <a:effectLst>
            <a:outerShdw blurRad="88900" rotWithShape="0" algn="bl" dir="5400000" dist="38100">
              <a:srgbClr val="000000">
                <a:alpha val="1294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 name="Google Shape;125;p8"/>
          <p:cNvSpPr/>
          <p:nvPr/>
        </p:nvSpPr>
        <p:spPr>
          <a:xfrm>
            <a:off x="640080" y="2148840"/>
            <a:ext cx="1901952"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D2536"/>
              </a:buClr>
              <a:buSzPts val="1500"/>
              <a:buFont typeface="Calibri"/>
              <a:buNone/>
            </a:pPr>
            <a:r>
              <a:rPr b="1" i="0" lang="en-US" sz="1500" u="none" cap="none" strike="noStrike">
                <a:solidFill>
                  <a:srgbClr val="1D2536"/>
                </a:solidFill>
                <a:latin typeface="Calibri"/>
                <a:ea typeface="Calibri"/>
                <a:cs typeface="Calibri"/>
                <a:sym typeface="Calibri"/>
              </a:rPr>
              <a:t>Create</a:t>
            </a:r>
            <a:endParaRPr b="0" i="0" sz="1500" u="none" cap="none" strike="noStrike">
              <a:solidFill>
                <a:schemeClr val="dk1"/>
              </a:solidFill>
              <a:latin typeface="Calibri"/>
              <a:ea typeface="Calibri"/>
              <a:cs typeface="Calibri"/>
              <a:sym typeface="Calibri"/>
            </a:endParaRPr>
          </a:p>
        </p:txBody>
      </p:sp>
      <p:sp>
        <p:nvSpPr>
          <p:cNvPr id="126" name="Google Shape;126;p8"/>
          <p:cNvSpPr/>
          <p:nvPr/>
        </p:nvSpPr>
        <p:spPr>
          <a:xfrm>
            <a:off x="640080" y="2532888"/>
            <a:ext cx="1901952" cy="3200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E7686"/>
              </a:buClr>
              <a:buSzPts val="1000"/>
              <a:buFont typeface="Calibri"/>
              <a:buNone/>
            </a:pPr>
            <a:r>
              <a:rPr b="0" i="0" lang="en-US" sz="1000" u="none" cap="none" strike="noStrike">
                <a:solidFill>
                  <a:srgbClr val="6E7686"/>
                </a:solidFill>
                <a:latin typeface="Calibri"/>
                <a:ea typeface="Calibri"/>
                <a:cs typeface="Calibri"/>
                <a:sym typeface="Calibri"/>
              </a:rPr>
              <a:t>one piece</a:t>
            </a:r>
            <a:endParaRPr b="0" i="0" sz="1000" u="none" cap="none" strike="noStrike">
              <a:solidFill>
                <a:schemeClr val="dk1"/>
              </a:solidFill>
              <a:latin typeface="Calibri"/>
              <a:ea typeface="Calibri"/>
              <a:cs typeface="Calibri"/>
              <a:sym typeface="Calibri"/>
            </a:endParaRPr>
          </a:p>
        </p:txBody>
      </p:sp>
      <p:cxnSp>
        <p:nvCxnSpPr>
          <p:cNvPr id="127" name="Google Shape;127;p8"/>
          <p:cNvCxnSpPr/>
          <p:nvPr/>
        </p:nvCxnSpPr>
        <p:spPr>
          <a:xfrm>
            <a:off x="2633472" y="2468880"/>
            <a:ext cx="146304" cy="0"/>
          </a:xfrm>
          <a:prstGeom prst="straightConnector1">
            <a:avLst/>
          </a:prstGeom>
          <a:noFill/>
          <a:ln cap="flat" cmpd="sng" w="28575">
            <a:solidFill>
              <a:srgbClr val="6E7686"/>
            </a:solidFill>
            <a:prstDash val="solid"/>
            <a:round/>
            <a:headEnd len="sm" w="sm" type="none"/>
            <a:tailEnd len="med" w="med" type="triangle"/>
          </a:ln>
        </p:spPr>
      </p:cxnSp>
      <p:sp>
        <p:nvSpPr>
          <p:cNvPr id="128" name="Google Shape;128;p8"/>
          <p:cNvSpPr/>
          <p:nvPr/>
        </p:nvSpPr>
        <p:spPr>
          <a:xfrm>
            <a:off x="2779776" y="1965960"/>
            <a:ext cx="2084832" cy="1005840"/>
          </a:xfrm>
          <a:prstGeom prst="roundRect">
            <a:avLst>
              <a:gd fmla="val 7273" name="adj"/>
            </a:avLst>
          </a:prstGeom>
          <a:solidFill>
            <a:srgbClr val="E7EEF5"/>
          </a:solidFill>
          <a:ln cap="flat" cmpd="sng" w="12700">
            <a:solidFill>
              <a:srgbClr val="E7EEF5"/>
            </a:solidFill>
            <a:prstDash val="solid"/>
            <a:round/>
            <a:headEnd len="sm" w="sm" type="none"/>
            <a:tailEnd len="sm" w="sm" type="none"/>
          </a:ln>
          <a:effectLst>
            <a:outerShdw blurRad="88900" rotWithShape="0" algn="bl" dir="5400000" dist="38100">
              <a:srgbClr val="000000">
                <a:alpha val="1294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 name="Google Shape;129;p8"/>
          <p:cNvSpPr/>
          <p:nvPr/>
        </p:nvSpPr>
        <p:spPr>
          <a:xfrm>
            <a:off x="2871216" y="2148840"/>
            <a:ext cx="1901952"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4682B4"/>
              </a:buClr>
              <a:buSzPts val="1500"/>
              <a:buFont typeface="Calibri"/>
              <a:buNone/>
            </a:pPr>
            <a:r>
              <a:rPr b="1" i="0" lang="en-US" sz="1500" u="none" cap="none" strike="noStrike">
                <a:solidFill>
                  <a:srgbClr val="4682B4"/>
                </a:solidFill>
                <a:latin typeface="Calibri"/>
                <a:ea typeface="Calibri"/>
                <a:cs typeface="Calibri"/>
                <a:sym typeface="Calibri"/>
              </a:rPr>
              <a:t>Distribute</a:t>
            </a:r>
            <a:endParaRPr b="0" i="0" sz="1500" u="none" cap="none" strike="noStrike">
              <a:solidFill>
                <a:schemeClr val="dk1"/>
              </a:solidFill>
              <a:latin typeface="Calibri"/>
              <a:ea typeface="Calibri"/>
              <a:cs typeface="Calibri"/>
              <a:sym typeface="Calibri"/>
            </a:endParaRPr>
          </a:p>
        </p:txBody>
      </p:sp>
      <p:sp>
        <p:nvSpPr>
          <p:cNvPr id="130" name="Google Shape;130;p8"/>
          <p:cNvSpPr/>
          <p:nvPr/>
        </p:nvSpPr>
        <p:spPr>
          <a:xfrm>
            <a:off x="2871216" y="2532888"/>
            <a:ext cx="1901952" cy="3200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E7686"/>
              </a:buClr>
              <a:buSzPts val="1000"/>
              <a:buFont typeface="Calibri"/>
              <a:buNone/>
            </a:pPr>
            <a:r>
              <a:rPr b="0" i="0" lang="en-US" sz="1000" u="none" cap="none" strike="noStrike">
                <a:solidFill>
                  <a:srgbClr val="6E7686"/>
                </a:solidFill>
                <a:latin typeface="Calibri"/>
                <a:ea typeface="Calibri"/>
                <a:cs typeface="Calibri"/>
                <a:sym typeface="Calibri"/>
              </a:rPr>
              <a:t>Repurpose + Discord</a:t>
            </a:r>
            <a:endParaRPr b="0" i="0" sz="1000" u="none" cap="none" strike="noStrike">
              <a:solidFill>
                <a:schemeClr val="dk1"/>
              </a:solidFill>
              <a:latin typeface="Calibri"/>
              <a:ea typeface="Calibri"/>
              <a:cs typeface="Calibri"/>
              <a:sym typeface="Calibri"/>
            </a:endParaRPr>
          </a:p>
        </p:txBody>
      </p:sp>
      <p:cxnSp>
        <p:nvCxnSpPr>
          <p:cNvPr id="131" name="Google Shape;131;p8"/>
          <p:cNvCxnSpPr/>
          <p:nvPr/>
        </p:nvCxnSpPr>
        <p:spPr>
          <a:xfrm>
            <a:off x="4864608" y="2468880"/>
            <a:ext cx="146304" cy="0"/>
          </a:xfrm>
          <a:prstGeom prst="straightConnector1">
            <a:avLst/>
          </a:prstGeom>
          <a:noFill/>
          <a:ln cap="flat" cmpd="sng" w="28575">
            <a:solidFill>
              <a:srgbClr val="6E7686"/>
            </a:solidFill>
            <a:prstDash val="solid"/>
            <a:round/>
            <a:headEnd len="sm" w="sm" type="none"/>
            <a:tailEnd len="med" w="med" type="triangle"/>
          </a:ln>
        </p:spPr>
      </p:cxnSp>
      <p:sp>
        <p:nvSpPr>
          <p:cNvPr id="132" name="Google Shape;132;p8"/>
          <p:cNvSpPr/>
          <p:nvPr/>
        </p:nvSpPr>
        <p:spPr>
          <a:xfrm>
            <a:off x="5010912" y="1965960"/>
            <a:ext cx="2084832" cy="1005840"/>
          </a:xfrm>
          <a:prstGeom prst="roundRect">
            <a:avLst>
              <a:gd fmla="val 7273" name="adj"/>
            </a:avLst>
          </a:prstGeom>
          <a:solidFill>
            <a:srgbClr val="E7EEF5"/>
          </a:solidFill>
          <a:ln cap="flat" cmpd="sng" w="12700">
            <a:solidFill>
              <a:srgbClr val="E7EEF5"/>
            </a:solidFill>
            <a:prstDash val="solid"/>
            <a:round/>
            <a:headEnd len="sm" w="sm" type="none"/>
            <a:tailEnd len="sm" w="sm" type="none"/>
          </a:ln>
          <a:effectLst>
            <a:outerShdw blurRad="88900" rotWithShape="0" algn="bl" dir="5400000" dist="38100">
              <a:srgbClr val="000000">
                <a:alpha val="1294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 name="Google Shape;133;p8"/>
          <p:cNvSpPr/>
          <p:nvPr/>
        </p:nvSpPr>
        <p:spPr>
          <a:xfrm>
            <a:off x="5102352" y="2148840"/>
            <a:ext cx="1901952"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4682B4"/>
              </a:buClr>
              <a:buSzPts val="1500"/>
              <a:buFont typeface="Calibri"/>
              <a:buNone/>
            </a:pPr>
            <a:r>
              <a:rPr b="1" i="0" lang="en-US" sz="1500" u="none" cap="none" strike="noStrike">
                <a:solidFill>
                  <a:srgbClr val="4682B4"/>
                </a:solidFill>
                <a:latin typeface="Calibri"/>
                <a:ea typeface="Calibri"/>
                <a:cs typeface="Calibri"/>
                <a:sym typeface="Calibri"/>
              </a:rPr>
              <a:t>Traffic</a:t>
            </a:r>
            <a:endParaRPr b="0" i="0" sz="1500" u="none" cap="none" strike="noStrike">
              <a:solidFill>
                <a:schemeClr val="dk1"/>
              </a:solidFill>
              <a:latin typeface="Calibri"/>
              <a:ea typeface="Calibri"/>
              <a:cs typeface="Calibri"/>
              <a:sym typeface="Calibri"/>
            </a:endParaRPr>
          </a:p>
        </p:txBody>
      </p:sp>
      <p:sp>
        <p:nvSpPr>
          <p:cNvPr id="134" name="Google Shape;134;p8"/>
          <p:cNvSpPr/>
          <p:nvPr/>
        </p:nvSpPr>
        <p:spPr>
          <a:xfrm>
            <a:off x="5102352" y="2532888"/>
            <a:ext cx="1901952" cy="3200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E7686"/>
              </a:buClr>
              <a:buSzPts val="1000"/>
              <a:buFont typeface="Calibri"/>
              <a:buNone/>
            </a:pPr>
            <a:r>
              <a:rPr b="0" i="0" lang="en-US" sz="1000" u="none" cap="none" strike="noStrike">
                <a:solidFill>
                  <a:srgbClr val="6E7686"/>
                </a:solidFill>
                <a:latin typeface="Calibri"/>
                <a:ea typeface="Calibri"/>
                <a:cs typeface="Calibri"/>
                <a:sym typeface="Calibri"/>
              </a:rPr>
              <a:t>site on Cloudflare</a:t>
            </a:r>
            <a:endParaRPr b="0" i="0" sz="1000" u="none" cap="none" strike="noStrike">
              <a:solidFill>
                <a:schemeClr val="dk1"/>
              </a:solidFill>
              <a:latin typeface="Calibri"/>
              <a:ea typeface="Calibri"/>
              <a:cs typeface="Calibri"/>
              <a:sym typeface="Calibri"/>
            </a:endParaRPr>
          </a:p>
        </p:txBody>
      </p:sp>
      <p:cxnSp>
        <p:nvCxnSpPr>
          <p:cNvPr id="135" name="Google Shape;135;p8"/>
          <p:cNvCxnSpPr/>
          <p:nvPr/>
        </p:nvCxnSpPr>
        <p:spPr>
          <a:xfrm>
            <a:off x="7095744" y="2468880"/>
            <a:ext cx="146304" cy="0"/>
          </a:xfrm>
          <a:prstGeom prst="straightConnector1">
            <a:avLst/>
          </a:prstGeom>
          <a:noFill/>
          <a:ln cap="flat" cmpd="sng" w="28575">
            <a:solidFill>
              <a:srgbClr val="6E7686"/>
            </a:solidFill>
            <a:prstDash val="solid"/>
            <a:round/>
            <a:headEnd len="sm" w="sm" type="none"/>
            <a:tailEnd len="med" w="med" type="triangle"/>
          </a:ln>
        </p:spPr>
      </p:cxnSp>
      <p:sp>
        <p:nvSpPr>
          <p:cNvPr id="136" name="Google Shape;136;p8"/>
          <p:cNvSpPr/>
          <p:nvPr/>
        </p:nvSpPr>
        <p:spPr>
          <a:xfrm>
            <a:off x="7242048" y="1965960"/>
            <a:ext cx="2084832" cy="1005840"/>
          </a:xfrm>
          <a:prstGeom prst="roundRect">
            <a:avLst>
              <a:gd fmla="val 7273" name="adj"/>
            </a:avLst>
          </a:prstGeom>
          <a:solidFill>
            <a:srgbClr val="F2EDE3"/>
          </a:solidFill>
          <a:ln cap="flat" cmpd="sng" w="12700">
            <a:solidFill>
              <a:srgbClr val="F2EDE3"/>
            </a:solidFill>
            <a:prstDash val="solid"/>
            <a:round/>
            <a:headEnd len="sm" w="sm" type="none"/>
            <a:tailEnd len="sm" w="sm" type="none"/>
          </a:ln>
          <a:effectLst>
            <a:outerShdw blurRad="88900" rotWithShape="0" algn="bl" dir="5400000" dist="38100">
              <a:srgbClr val="000000">
                <a:alpha val="1294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 name="Google Shape;137;p8"/>
          <p:cNvSpPr/>
          <p:nvPr/>
        </p:nvSpPr>
        <p:spPr>
          <a:xfrm>
            <a:off x="7333488" y="2148840"/>
            <a:ext cx="1901952"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F4E79"/>
              </a:buClr>
              <a:buSzPts val="1500"/>
              <a:buFont typeface="Calibri"/>
              <a:buNone/>
            </a:pPr>
            <a:r>
              <a:rPr b="1" i="0" lang="en-US" sz="1500" u="none" cap="none" strike="noStrike">
                <a:solidFill>
                  <a:srgbClr val="1F4E79"/>
                </a:solidFill>
                <a:latin typeface="Calibri"/>
                <a:ea typeface="Calibri"/>
                <a:cs typeface="Calibri"/>
                <a:sym typeface="Calibri"/>
              </a:rPr>
              <a:t>Measure</a:t>
            </a:r>
            <a:endParaRPr b="0" i="0" sz="1500" u="none" cap="none" strike="noStrike">
              <a:solidFill>
                <a:schemeClr val="dk1"/>
              </a:solidFill>
              <a:latin typeface="Calibri"/>
              <a:ea typeface="Calibri"/>
              <a:cs typeface="Calibri"/>
              <a:sym typeface="Calibri"/>
            </a:endParaRPr>
          </a:p>
        </p:txBody>
      </p:sp>
      <p:sp>
        <p:nvSpPr>
          <p:cNvPr id="138" name="Google Shape;138;p8"/>
          <p:cNvSpPr/>
          <p:nvPr/>
        </p:nvSpPr>
        <p:spPr>
          <a:xfrm>
            <a:off x="7333488" y="2532888"/>
            <a:ext cx="1901952" cy="3200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E7686"/>
              </a:buClr>
              <a:buSzPts val="1000"/>
              <a:buFont typeface="Calibri"/>
              <a:buNone/>
            </a:pPr>
            <a:r>
              <a:rPr b="0" i="0" lang="en-US" sz="1000" u="none" cap="none" strike="noStrike">
                <a:solidFill>
                  <a:srgbClr val="6E7686"/>
                </a:solidFill>
                <a:latin typeface="Calibri"/>
                <a:ea typeface="Calibri"/>
                <a:cs typeface="Calibri"/>
                <a:sym typeface="Calibri"/>
              </a:rPr>
              <a:t>PostHog</a:t>
            </a:r>
            <a:endParaRPr b="0" i="0" sz="1000" u="none" cap="none" strike="noStrike">
              <a:solidFill>
                <a:schemeClr val="dk1"/>
              </a:solidFill>
              <a:latin typeface="Calibri"/>
              <a:ea typeface="Calibri"/>
              <a:cs typeface="Calibri"/>
              <a:sym typeface="Calibri"/>
            </a:endParaRPr>
          </a:p>
        </p:txBody>
      </p:sp>
      <p:cxnSp>
        <p:nvCxnSpPr>
          <p:cNvPr id="139" name="Google Shape;139;p8"/>
          <p:cNvCxnSpPr/>
          <p:nvPr/>
        </p:nvCxnSpPr>
        <p:spPr>
          <a:xfrm>
            <a:off x="9326880" y="2468880"/>
            <a:ext cx="146304" cy="0"/>
          </a:xfrm>
          <a:prstGeom prst="straightConnector1">
            <a:avLst/>
          </a:prstGeom>
          <a:noFill/>
          <a:ln cap="flat" cmpd="sng" w="28575">
            <a:solidFill>
              <a:srgbClr val="6E7686"/>
            </a:solidFill>
            <a:prstDash val="solid"/>
            <a:round/>
            <a:headEnd len="sm" w="sm" type="none"/>
            <a:tailEnd len="med" w="med" type="triangle"/>
          </a:ln>
        </p:spPr>
      </p:cxnSp>
      <p:sp>
        <p:nvSpPr>
          <p:cNvPr id="140" name="Google Shape;140;p8"/>
          <p:cNvSpPr/>
          <p:nvPr/>
        </p:nvSpPr>
        <p:spPr>
          <a:xfrm>
            <a:off x="9473184" y="1965960"/>
            <a:ext cx="2084832" cy="1005840"/>
          </a:xfrm>
          <a:prstGeom prst="roundRect">
            <a:avLst>
              <a:gd fmla="val 7273" name="adj"/>
            </a:avLst>
          </a:prstGeom>
          <a:solidFill>
            <a:srgbClr val="E7EEF5"/>
          </a:solidFill>
          <a:ln cap="flat" cmpd="sng" w="12700">
            <a:solidFill>
              <a:srgbClr val="E7EEF5"/>
            </a:solidFill>
            <a:prstDash val="solid"/>
            <a:round/>
            <a:headEnd len="sm" w="sm" type="none"/>
            <a:tailEnd len="sm" w="sm" type="none"/>
          </a:ln>
          <a:effectLst>
            <a:outerShdw blurRad="88900" rotWithShape="0" algn="bl" dir="5400000" dist="38100">
              <a:srgbClr val="000000">
                <a:alpha val="1294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 name="Google Shape;141;p8"/>
          <p:cNvSpPr/>
          <p:nvPr/>
        </p:nvSpPr>
        <p:spPr>
          <a:xfrm>
            <a:off x="9564624" y="2148840"/>
            <a:ext cx="1901952"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F4E79"/>
              </a:buClr>
              <a:buSzPts val="1500"/>
              <a:buFont typeface="Calibri"/>
              <a:buNone/>
            </a:pPr>
            <a:r>
              <a:rPr b="1" i="0" lang="en-US" sz="1500" u="none" cap="none" strike="noStrike">
                <a:solidFill>
                  <a:srgbClr val="1F4E79"/>
                </a:solidFill>
                <a:latin typeface="Calibri"/>
                <a:ea typeface="Calibri"/>
                <a:cs typeface="Calibri"/>
                <a:sym typeface="Calibri"/>
              </a:rPr>
              <a:t>Capture</a:t>
            </a:r>
            <a:endParaRPr b="0" i="0" sz="1500" u="none" cap="none" strike="noStrike">
              <a:solidFill>
                <a:schemeClr val="dk1"/>
              </a:solidFill>
              <a:latin typeface="Calibri"/>
              <a:ea typeface="Calibri"/>
              <a:cs typeface="Calibri"/>
              <a:sym typeface="Calibri"/>
            </a:endParaRPr>
          </a:p>
        </p:txBody>
      </p:sp>
      <p:sp>
        <p:nvSpPr>
          <p:cNvPr id="142" name="Google Shape;142;p8"/>
          <p:cNvSpPr/>
          <p:nvPr/>
        </p:nvSpPr>
        <p:spPr>
          <a:xfrm>
            <a:off x="9564624" y="2532888"/>
            <a:ext cx="1901952" cy="3200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E7686"/>
              </a:buClr>
              <a:buSzPts val="1000"/>
              <a:buFont typeface="Calibri"/>
              <a:buNone/>
            </a:pPr>
            <a:r>
              <a:rPr b="0" i="0" lang="en-US" sz="1000" u="none" cap="none" strike="noStrike">
                <a:solidFill>
                  <a:srgbClr val="6E7686"/>
                </a:solidFill>
                <a:latin typeface="Calibri"/>
                <a:ea typeface="Calibri"/>
                <a:cs typeface="Calibri"/>
                <a:sym typeface="Calibri"/>
              </a:rPr>
              <a:t>funnel to Supabase</a:t>
            </a:r>
            <a:endParaRPr b="0" i="0" sz="1000" u="none" cap="none" strike="noStrike">
              <a:solidFill>
                <a:schemeClr val="dk1"/>
              </a:solidFill>
              <a:latin typeface="Calibri"/>
              <a:ea typeface="Calibri"/>
              <a:cs typeface="Calibri"/>
              <a:sym typeface="Calibri"/>
            </a:endParaRPr>
          </a:p>
        </p:txBody>
      </p:sp>
      <p:sp>
        <p:nvSpPr>
          <p:cNvPr id="143" name="Google Shape;143;p8"/>
          <p:cNvSpPr/>
          <p:nvPr/>
        </p:nvSpPr>
        <p:spPr>
          <a:xfrm>
            <a:off x="548640" y="3246120"/>
            <a:ext cx="11064240" cy="640080"/>
          </a:xfrm>
          <a:prstGeom prst="rect">
            <a:avLst/>
          </a:prstGeom>
          <a:noFill/>
          <a:ln>
            <a:noFill/>
          </a:ln>
        </p:spPr>
        <p:txBody>
          <a:bodyPr anchorCtr="0" anchor="ctr" bIns="0" lIns="0" spcFirstLastPara="1" rIns="0" wrap="square" tIns="0">
            <a:noAutofit/>
          </a:bodyPr>
          <a:lstStyle/>
          <a:p>
            <a:pPr indent="0" lvl="0" marL="0" marR="0" rtl="0" algn="ctr">
              <a:lnSpc>
                <a:spcPct val="120000"/>
              </a:lnSpc>
              <a:spcBef>
                <a:spcPts val="0"/>
              </a:spcBef>
              <a:spcAft>
                <a:spcPts val="0"/>
              </a:spcAft>
              <a:buClr>
                <a:srgbClr val="1D2536"/>
              </a:buClr>
              <a:buSzPts val="1350"/>
              <a:buFont typeface="Calibri"/>
              <a:buNone/>
            </a:pPr>
            <a:r>
              <a:rPr b="0" i="0" lang="en-US" sz="1350" u="none" cap="none" strike="noStrike">
                <a:solidFill>
                  <a:srgbClr val="1D2536"/>
                </a:solidFill>
                <a:latin typeface="Calibri"/>
                <a:ea typeface="Calibri"/>
                <a:cs typeface="Calibri"/>
                <a:sym typeface="Calibri"/>
              </a:rPr>
              <a:t>From there the captured lead is worked exactly like an outbound one: the crew qualifies it, and you review before any send. Once revenue allows, Google Ads accelerates the traffic.</a:t>
            </a:r>
            <a:endParaRPr b="0" i="0" sz="1350" u="none" cap="none" strike="noStrike">
              <a:solidFill>
                <a:schemeClr val="dk1"/>
              </a:solidFill>
              <a:latin typeface="Calibri"/>
              <a:ea typeface="Calibri"/>
              <a:cs typeface="Calibri"/>
              <a:sym typeface="Calibri"/>
            </a:endParaRPr>
          </a:p>
        </p:txBody>
      </p:sp>
      <p:sp>
        <p:nvSpPr>
          <p:cNvPr id="144" name="Google Shape;144;p8"/>
          <p:cNvSpPr/>
          <p:nvPr/>
        </p:nvSpPr>
        <p:spPr>
          <a:xfrm>
            <a:off x="548640" y="4069080"/>
            <a:ext cx="11064240" cy="960120"/>
          </a:xfrm>
          <a:prstGeom prst="roundRect">
            <a:avLst>
              <a:gd fmla="val 6667" name="adj"/>
            </a:avLst>
          </a:prstGeom>
          <a:solidFill>
            <a:srgbClr val="E7EEF5"/>
          </a:solidFill>
          <a:ln cap="flat" cmpd="sng" w="19050">
            <a:solidFill>
              <a:srgbClr val="1F4E7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 name="Google Shape;145;p8"/>
          <p:cNvSpPr/>
          <p:nvPr/>
        </p:nvSpPr>
        <p:spPr>
          <a:xfrm>
            <a:off x="914400" y="4069080"/>
            <a:ext cx="10332720" cy="96012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Clr>
                <a:srgbClr val="1F4E79"/>
              </a:buClr>
              <a:buSzPts val="1500"/>
              <a:buFont typeface="Calibri"/>
              <a:buNone/>
            </a:pPr>
            <a:r>
              <a:rPr b="1" i="0" lang="en-US" sz="1500" u="none" cap="none" strike="noStrike">
                <a:solidFill>
                  <a:srgbClr val="1F4E79"/>
                </a:solidFill>
                <a:latin typeface="Calibri"/>
                <a:ea typeface="Calibri"/>
                <a:cs typeface="Calibri"/>
                <a:sym typeface="Calibri"/>
              </a:rPr>
              <a:t>Added cost: </a:t>
            </a:r>
            <a:r>
              <a:rPr b="0" i="0" lang="en-US" sz="1400" u="none" cap="none" strike="noStrike">
                <a:solidFill>
                  <a:srgbClr val="1D2536"/>
                </a:solidFill>
                <a:latin typeface="Calibri"/>
                <a:ea typeface="Calibri"/>
                <a:cs typeface="Calibri"/>
                <a:sym typeface="Calibri"/>
              </a:rPr>
              <a:t>about $35 a month for content distribution, everything else free at inception, plus any ad spend you choose to fund from revenue.</a:t>
            </a:r>
            <a:endParaRPr b="0" i="0" sz="1500" u="none" cap="none" strike="noStrike">
              <a:solidFill>
                <a:schemeClr val="dk1"/>
              </a:solidFill>
              <a:latin typeface="Calibri"/>
              <a:ea typeface="Calibri"/>
              <a:cs typeface="Calibri"/>
              <a:sym typeface="Calibri"/>
            </a:endParaRPr>
          </a:p>
        </p:txBody>
      </p:sp>
      <p:sp>
        <p:nvSpPr>
          <p:cNvPr id="146" name="Google Shape;146;p8"/>
          <p:cNvSpPr/>
          <p:nvPr/>
        </p:nvSpPr>
        <p:spPr>
          <a:xfrm>
            <a:off x="548640" y="5166360"/>
            <a:ext cx="1106424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E7686"/>
              </a:buClr>
              <a:buSzPts val="1250"/>
              <a:buFont typeface="Calibri"/>
              <a:buNone/>
            </a:pPr>
            <a:r>
              <a:rPr b="0" i="1" lang="en-US" sz="1250" u="none" cap="none" strike="noStrike">
                <a:solidFill>
                  <a:srgbClr val="6E7686"/>
                </a:solidFill>
                <a:latin typeface="Calibri"/>
                <a:ea typeface="Calibri"/>
                <a:cs typeface="Calibri"/>
                <a:sym typeface="Calibri"/>
              </a:rPr>
              <a:t>Push and pull now feed one pipeline and one review checkpoint. The system is complete in both directions.</a:t>
            </a:r>
            <a:endParaRPr b="0" i="0" sz="1250" u="none" cap="none" strike="noStrike">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7F1"/>
        </a:solidFill>
      </p:bgPr>
    </p:bg>
    <p:spTree>
      <p:nvGrpSpPr>
        <p:cNvPr id="151" name="Shape 151"/>
        <p:cNvGrpSpPr/>
        <p:nvPr/>
      </p:nvGrpSpPr>
      <p:grpSpPr>
        <a:xfrm>
          <a:off x="0" y="0"/>
          <a:ext cx="0" cy="0"/>
          <a:chOff x="0" y="0"/>
          <a:chExt cx="0" cy="0"/>
        </a:xfrm>
      </p:grpSpPr>
      <p:sp>
        <p:nvSpPr>
          <p:cNvPr id="152" name="Google Shape;152;p9"/>
          <p:cNvSpPr/>
          <p:nvPr/>
        </p:nvSpPr>
        <p:spPr>
          <a:xfrm>
            <a:off x="548640" y="384048"/>
            <a:ext cx="1106424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682B4"/>
              </a:buClr>
              <a:buSzPts val="1200"/>
              <a:buFont typeface="Calibri"/>
              <a:buNone/>
            </a:pPr>
            <a:r>
              <a:rPr b="1" i="0" lang="en-US" sz="1200" u="none" cap="none" strike="noStrike">
                <a:solidFill>
                  <a:srgbClr val="4682B4"/>
                </a:solidFill>
                <a:latin typeface="Calibri"/>
                <a:ea typeface="Calibri"/>
                <a:cs typeface="Calibri"/>
                <a:sym typeface="Calibri"/>
              </a:rPr>
              <a:t>THE PIPELINE</a:t>
            </a:r>
            <a:endParaRPr b="0" i="0" sz="1200" u="none" cap="none" strike="noStrike">
              <a:solidFill>
                <a:schemeClr val="dk1"/>
              </a:solidFill>
              <a:latin typeface="Calibri"/>
              <a:ea typeface="Calibri"/>
              <a:cs typeface="Calibri"/>
              <a:sym typeface="Calibri"/>
            </a:endParaRPr>
          </a:p>
        </p:txBody>
      </p:sp>
      <p:sp>
        <p:nvSpPr>
          <p:cNvPr id="153" name="Google Shape;153;p9"/>
          <p:cNvSpPr/>
          <p:nvPr/>
        </p:nvSpPr>
        <p:spPr>
          <a:xfrm>
            <a:off x="548640" y="658368"/>
            <a:ext cx="11064240"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2536"/>
              </a:buClr>
              <a:buSzPts val="2700"/>
              <a:buFont typeface="Calibri"/>
              <a:buNone/>
            </a:pPr>
            <a:r>
              <a:rPr b="1" i="0" lang="en-US" sz="2700" u="none" cap="none" strike="noStrike">
                <a:solidFill>
                  <a:srgbClr val="1D2536"/>
                </a:solidFill>
                <a:latin typeface="Calibri"/>
                <a:ea typeface="Calibri"/>
                <a:cs typeface="Calibri"/>
                <a:sym typeface="Calibri"/>
              </a:rPr>
              <a:t>Six steps from nobody to a ready lead</a:t>
            </a:r>
            <a:endParaRPr b="0" i="0" sz="2700" u="none" cap="none" strike="noStrike">
              <a:solidFill>
                <a:schemeClr val="dk1"/>
              </a:solidFill>
              <a:latin typeface="Calibri"/>
              <a:ea typeface="Calibri"/>
              <a:cs typeface="Calibri"/>
              <a:sym typeface="Calibri"/>
            </a:endParaRPr>
          </a:p>
        </p:txBody>
      </p:sp>
      <p:sp>
        <p:nvSpPr>
          <p:cNvPr id="154" name="Google Shape;154;p9"/>
          <p:cNvSpPr/>
          <p:nvPr/>
        </p:nvSpPr>
        <p:spPr>
          <a:xfrm>
            <a:off x="548640" y="1554480"/>
            <a:ext cx="3520440" cy="1280160"/>
          </a:xfrm>
          <a:prstGeom prst="roundRect">
            <a:avLst>
              <a:gd fmla="val 5000" name="adj"/>
            </a:avLst>
          </a:prstGeom>
          <a:solidFill>
            <a:srgbClr val="FFFFFF"/>
          </a:solidFill>
          <a:ln cap="flat" cmpd="sng" w="12700">
            <a:solidFill>
              <a:srgbClr val="E2DCCE"/>
            </a:solidFill>
            <a:prstDash val="solid"/>
            <a:round/>
            <a:headEnd len="sm" w="sm" type="none"/>
            <a:tailEnd len="sm" w="sm" type="none"/>
          </a:ln>
          <a:effectLst>
            <a:outerShdw blurRad="88900" rotWithShape="0" algn="bl" dir="5400000" dist="38100">
              <a:srgbClr val="000000">
                <a:alpha val="1294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 name="Google Shape;155;p9"/>
          <p:cNvSpPr/>
          <p:nvPr/>
        </p:nvSpPr>
        <p:spPr>
          <a:xfrm>
            <a:off x="777240" y="1783080"/>
            <a:ext cx="502920" cy="502920"/>
          </a:xfrm>
          <a:prstGeom prst="ellipse">
            <a:avLst/>
          </a:prstGeom>
          <a:solidFill>
            <a:srgbClr val="4682B4"/>
          </a:solidFill>
          <a:ln cap="flat" cmpd="sng" w="12700">
            <a:solidFill>
              <a:srgbClr val="4682B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 name="Google Shape;156;p9"/>
          <p:cNvSpPr/>
          <p:nvPr/>
        </p:nvSpPr>
        <p:spPr>
          <a:xfrm>
            <a:off x="777240" y="1783080"/>
            <a:ext cx="502920" cy="5029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2000"/>
              <a:buFont typeface="Calibri"/>
              <a:buNone/>
            </a:pPr>
            <a:r>
              <a:rPr b="1" i="0" lang="en-US" sz="2000" u="none" cap="none" strike="noStrike">
                <a:solidFill>
                  <a:srgbClr val="FFFFFF"/>
                </a:solidFill>
                <a:latin typeface="Calibri"/>
                <a:ea typeface="Calibri"/>
                <a:cs typeface="Calibri"/>
                <a:sym typeface="Calibri"/>
              </a:rPr>
              <a:t>1</a:t>
            </a:r>
            <a:endParaRPr b="0" i="0" sz="2000" u="none" cap="none" strike="noStrike">
              <a:solidFill>
                <a:schemeClr val="dk1"/>
              </a:solidFill>
              <a:latin typeface="Calibri"/>
              <a:ea typeface="Calibri"/>
              <a:cs typeface="Calibri"/>
              <a:sym typeface="Calibri"/>
            </a:endParaRPr>
          </a:p>
        </p:txBody>
      </p:sp>
      <p:sp>
        <p:nvSpPr>
          <p:cNvPr id="157" name="Google Shape;157;p9"/>
          <p:cNvSpPr/>
          <p:nvPr/>
        </p:nvSpPr>
        <p:spPr>
          <a:xfrm>
            <a:off x="1417320" y="1810512"/>
            <a:ext cx="246888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2536"/>
              </a:buClr>
              <a:buSzPts val="1600"/>
              <a:buFont typeface="Calibri"/>
              <a:buNone/>
            </a:pPr>
            <a:r>
              <a:rPr b="1" i="0" lang="en-US" sz="1600" u="none" cap="none" strike="noStrike">
                <a:solidFill>
                  <a:srgbClr val="1D2536"/>
                </a:solidFill>
                <a:latin typeface="Calibri"/>
                <a:ea typeface="Calibri"/>
                <a:cs typeface="Calibri"/>
                <a:sym typeface="Calibri"/>
              </a:rPr>
              <a:t>Find</a:t>
            </a:r>
            <a:endParaRPr b="0" i="0" sz="1600" u="none" cap="none" strike="noStrike">
              <a:solidFill>
                <a:schemeClr val="dk1"/>
              </a:solidFill>
              <a:latin typeface="Calibri"/>
              <a:ea typeface="Calibri"/>
              <a:cs typeface="Calibri"/>
              <a:sym typeface="Calibri"/>
            </a:endParaRPr>
          </a:p>
        </p:txBody>
      </p:sp>
      <p:sp>
        <p:nvSpPr>
          <p:cNvPr id="158" name="Google Shape;158;p9"/>
          <p:cNvSpPr/>
          <p:nvPr/>
        </p:nvSpPr>
        <p:spPr>
          <a:xfrm>
            <a:off x="822960" y="2331720"/>
            <a:ext cx="2971800" cy="457200"/>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Clr>
                <a:srgbClr val="6E7686"/>
              </a:buClr>
              <a:buSzPts val="1150"/>
              <a:buFont typeface="Calibri"/>
              <a:buNone/>
            </a:pPr>
            <a:r>
              <a:rPr b="0" i="0" lang="en-US" sz="1150" u="none" cap="none" strike="noStrike">
                <a:solidFill>
                  <a:srgbClr val="6E7686"/>
                </a:solidFill>
                <a:latin typeface="Calibri"/>
                <a:ea typeface="Calibri"/>
                <a:cs typeface="Calibri"/>
                <a:sym typeface="Calibri"/>
              </a:rPr>
              <a:t>companies that fit, or your list</a:t>
            </a:r>
            <a:endParaRPr b="0" i="0" sz="1150" u="none" cap="none" strike="noStrike">
              <a:solidFill>
                <a:schemeClr val="dk1"/>
              </a:solidFill>
              <a:latin typeface="Calibri"/>
              <a:ea typeface="Calibri"/>
              <a:cs typeface="Calibri"/>
              <a:sym typeface="Calibri"/>
            </a:endParaRPr>
          </a:p>
        </p:txBody>
      </p:sp>
      <p:sp>
        <p:nvSpPr>
          <p:cNvPr id="159" name="Google Shape;159;p9"/>
          <p:cNvSpPr/>
          <p:nvPr/>
        </p:nvSpPr>
        <p:spPr>
          <a:xfrm>
            <a:off x="4480560" y="1554480"/>
            <a:ext cx="3520440" cy="1280160"/>
          </a:xfrm>
          <a:prstGeom prst="roundRect">
            <a:avLst>
              <a:gd fmla="val 5000" name="adj"/>
            </a:avLst>
          </a:prstGeom>
          <a:solidFill>
            <a:srgbClr val="FFFFFF"/>
          </a:solidFill>
          <a:ln cap="flat" cmpd="sng" w="12700">
            <a:solidFill>
              <a:srgbClr val="E2DCCE"/>
            </a:solidFill>
            <a:prstDash val="solid"/>
            <a:round/>
            <a:headEnd len="sm" w="sm" type="none"/>
            <a:tailEnd len="sm" w="sm" type="none"/>
          </a:ln>
          <a:effectLst>
            <a:outerShdw blurRad="88900" rotWithShape="0" algn="bl" dir="5400000" dist="38100">
              <a:srgbClr val="000000">
                <a:alpha val="1294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 name="Google Shape;160;p9"/>
          <p:cNvSpPr/>
          <p:nvPr/>
        </p:nvSpPr>
        <p:spPr>
          <a:xfrm>
            <a:off x="4709160" y="1783080"/>
            <a:ext cx="502920" cy="502920"/>
          </a:xfrm>
          <a:prstGeom prst="ellipse">
            <a:avLst/>
          </a:prstGeom>
          <a:solidFill>
            <a:srgbClr val="4682B4"/>
          </a:solidFill>
          <a:ln cap="flat" cmpd="sng" w="12700">
            <a:solidFill>
              <a:srgbClr val="4682B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 name="Google Shape;161;p9"/>
          <p:cNvSpPr/>
          <p:nvPr/>
        </p:nvSpPr>
        <p:spPr>
          <a:xfrm>
            <a:off x="4709160" y="1783080"/>
            <a:ext cx="502920" cy="5029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2000"/>
              <a:buFont typeface="Calibri"/>
              <a:buNone/>
            </a:pPr>
            <a:r>
              <a:rPr b="1" i="0" lang="en-US" sz="2000" u="none" cap="none" strike="noStrike">
                <a:solidFill>
                  <a:srgbClr val="FFFFFF"/>
                </a:solidFill>
                <a:latin typeface="Calibri"/>
                <a:ea typeface="Calibri"/>
                <a:cs typeface="Calibri"/>
                <a:sym typeface="Calibri"/>
              </a:rPr>
              <a:t>2</a:t>
            </a:r>
            <a:endParaRPr b="0" i="0" sz="2000" u="none" cap="none" strike="noStrike">
              <a:solidFill>
                <a:schemeClr val="dk1"/>
              </a:solidFill>
              <a:latin typeface="Calibri"/>
              <a:ea typeface="Calibri"/>
              <a:cs typeface="Calibri"/>
              <a:sym typeface="Calibri"/>
            </a:endParaRPr>
          </a:p>
        </p:txBody>
      </p:sp>
      <p:sp>
        <p:nvSpPr>
          <p:cNvPr id="162" name="Google Shape;162;p9"/>
          <p:cNvSpPr/>
          <p:nvPr/>
        </p:nvSpPr>
        <p:spPr>
          <a:xfrm>
            <a:off x="5349240" y="1810512"/>
            <a:ext cx="246888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2536"/>
              </a:buClr>
              <a:buSzPts val="1600"/>
              <a:buFont typeface="Calibri"/>
              <a:buNone/>
            </a:pPr>
            <a:r>
              <a:rPr b="1" i="0" lang="en-US" sz="1600" u="none" cap="none" strike="noStrike">
                <a:solidFill>
                  <a:srgbClr val="1D2536"/>
                </a:solidFill>
                <a:latin typeface="Calibri"/>
                <a:ea typeface="Calibri"/>
                <a:cs typeface="Calibri"/>
                <a:sym typeface="Calibri"/>
              </a:rPr>
              <a:t>Find the person</a:t>
            </a:r>
            <a:endParaRPr b="0" i="0" sz="1600" u="none" cap="none" strike="noStrike">
              <a:solidFill>
                <a:schemeClr val="dk1"/>
              </a:solidFill>
              <a:latin typeface="Calibri"/>
              <a:ea typeface="Calibri"/>
              <a:cs typeface="Calibri"/>
              <a:sym typeface="Calibri"/>
            </a:endParaRPr>
          </a:p>
        </p:txBody>
      </p:sp>
      <p:sp>
        <p:nvSpPr>
          <p:cNvPr id="163" name="Google Shape;163;p9"/>
          <p:cNvSpPr/>
          <p:nvPr/>
        </p:nvSpPr>
        <p:spPr>
          <a:xfrm>
            <a:off x="4754880" y="2331720"/>
            <a:ext cx="2971800" cy="457200"/>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Clr>
                <a:srgbClr val="6E7686"/>
              </a:buClr>
              <a:buSzPts val="1150"/>
              <a:buFont typeface="Calibri"/>
              <a:buNone/>
            </a:pPr>
            <a:r>
              <a:rPr b="0" i="0" lang="en-US" sz="1150" u="none" cap="none" strike="noStrike">
                <a:solidFill>
                  <a:srgbClr val="6E7686"/>
                </a:solidFill>
                <a:latin typeface="Calibri"/>
                <a:ea typeface="Calibri"/>
                <a:cs typeface="Calibri"/>
                <a:sym typeface="Calibri"/>
              </a:rPr>
              <a:t>decision maker and email</a:t>
            </a:r>
            <a:endParaRPr b="0" i="0" sz="1150" u="none" cap="none" strike="noStrike">
              <a:solidFill>
                <a:schemeClr val="dk1"/>
              </a:solidFill>
              <a:latin typeface="Calibri"/>
              <a:ea typeface="Calibri"/>
              <a:cs typeface="Calibri"/>
              <a:sym typeface="Calibri"/>
            </a:endParaRPr>
          </a:p>
        </p:txBody>
      </p:sp>
      <p:sp>
        <p:nvSpPr>
          <p:cNvPr id="164" name="Google Shape;164;p9"/>
          <p:cNvSpPr/>
          <p:nvPr/>
        </p:nvSpPr>
        <p:spPr>
          <a:xfrm>
            <a:off x="8412480" y="1554480"/>
            <a:ext cx="3520440" cy="1280160"/>
          </a:xfrm>
          <a:prstGeom prst="roundRect">
            <a:avLst>
              <a:gd fmla="val 5000" name="adj"/>
            </a:avLst>
          </a:prstGeom>
          <a:solidFill>
            <a:srgbClr val="FFFFFF"/>
          </a:solidFill>
          <a:ln cap="flat" cmpd="sng" w="12700">
            <a:solidFill>
              <a:srgbClr val="E2DCCE"/>
            </a:solidFill>
            <a:prstDash val="solid"/>
            <a:round/>
            <a:headEnd len="sm" w="sm" type="none"/>
            <a:tailEnd len="sm" w="sm" type="none"/>
          </a:ln>
          <a:effectLst>
            <a:outerShdw blurRad="88900" rotWithShape="0" algn="bl" dir="5400000" dist="38100">
              <a:srgbClr val="000000">
                <a:alpha val="1294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 name="Google Shape;165;p9"/>
          <p:cNvSpPr/>
          <p:nvPr/>
        </p:nvSpPr>
        <p:spPr>
          <a:xfrm>
            <a:off x="8641080" y="1783080"/>
            <a:ext cx="502920" cy="502920"/>
          </a:xfrm>
          <a:prstGeom prst="ellipse">
            <a:avLst/>
          </a:prstGeom>
          <a:solidFill>
            <a:srgbClr val="4682B4"/>
          </a:solidFill>
          <a:ln cap="flat" cmpd="sng" w="12700">
            <a:solidFill>
              <a:srgbClr val="4682B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 name="Google Shape;166;p9"/>
          <p:cNvSpPr/>
          <p:nvPr/>
        </p:nvSpPr>
        <p:spPr>
          <a:xfrm>
            <a:off x="8641080" y="1783080"/>
            <a:ext cx="502920" cy="5029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2000"/>
              <a:buFont typeface="Calibri"/>
              <a:buNone/>
            </a:pPr>
            <a:r>
              <a:rPr b="1" i="0" lang="en-US" sz="2000" u="none" cap="none" strike="noStrike">
                <a:solidFill>
                  <a:srgbClr val="FFFFFF"/>
                </a:solidFill>
                <a:latin typeface="Calibri"/>
                <a:ea typeface="Calibri"/>
                <a:cs typeface="Calibri"/>
                <a:sym typeface="Calibri"/>
              </a:rPr>
              <a:t>3</a:t>
            </a:r>
            <a:endParaRPr b="0" i="0" sz="2000" u="none" cap="none" strike="noStrike">
              <a:solidFill>
                <a:schemeClr val="dk1"/>
              </a:solidFill>
              <a:latin typeface="Calibri"/>
              <a:ea typeface="Calibri"/>
              <a:cs typeface="Calibri"/>
              <a:sym typeface="Calibri"/>
            </a:endParaRPr>
          </a:p>
        </p:txBody>
      </p:sp>
      <p:sp>
        <p:nvSpPr>
          <p:cNvPr id="167" name="Google Shape;167;p9"/>
          <p:cNvSpPr/>
          <p:nvPr/>
        </p:nvSpPr>
        <p:spPr>
          <a:xfrm>
            <a:off x="9281160" y="1810512"/>
            <a:ext cx="246888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2536"/>
              </a:buClr>
              <a:buSzPts val="1600"/>
              <a:buFont typeface="Calibri"/>
              <a:buNone/>
            </a:pPr>
            <a:r>
              <a:rPr b="1" i="0" lang="en-US" sz="1600" u="none" cap="none" strike="noStrike">
                <a:solidFill>
                  <a:srgbClr val="1D2536"/>
                </a:solidFill>
                <a:latin typeface="Calibri"/>
                <a:ea typeface="Calibri"/>
                <a:cs typeface="Calibri"/>
                <a:sym typeface="Calibri"/>
              </a:rPr>
              <a:t>Verify</a:t>
            </a:r>
            <a:endParaRPr b="0" i="0" sz="1600" u="none" cap="none" strike="noStrike">
              <a:solidFill>
                <a:schemeClr val="dk1"/>
              </a:solidFill>
              <a:latin typeface="Calibri"/>
              <a:ea typeface="Calibri"/>
              <a:cs typeface="Calibri"/>
              <a:sym typeface="Calibri"/>
            </a:endParaRPr>
          </a:p>
        </p:txBody>
      </p:sp>
      <p:sp>
        <p:nvSpPr>
          <p:cNvPr id="168" name="Google Shape;168;p9"/>
          <p:cNvSpPr/>
          <p:nvPr/>
        </p:nvSpPr>
        <p:spPr>
          <a:xfrm>
            <a:off x="8686800" y="2331720"/>
            <a:ext cx="2971800" cy="457200"/>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Clr>
                <a:srgbClr val="6E7686"/>
              </a:buClr>
              <a:buSzPts val="1150"/>
              <a:buFont typeface="Calibri"/>
              <a:buNone/>
            </a:pPr>
            <a:r>
              <a:rPr b="0" i="0" lang="en-US" sz="1150" u="none" cap="none" strike="noStrike">
                <a:solidFill>
                  <a:srgbClr val="6E7686"/>
                </a:solidFill>
                <a:latin typeface="Calibri"/>
                <a:ea typeface="Calibri"/>
                <a:cs typeface="Calibri"/>
                <a:sym typeface="Calibri"/>
              </a:rPr>
              <a:t>confirm the email is real</a:t>
            </a:r>
            <a:endParaRPr b="0" i="0" sz="1150" u="none" cap="none" strike="noStrike">
              <a:solidFill>
                <a:schemeClr val="dk1"/>
              </a:solidFill>
              <a:latin typeface="Calibri"/>
              <a:ea typeface="Calibri"/>
              <a:cs typeface="Calibri"/>
              <a:sym typeface="Calibri"/>
            </a:endParaRPr>
          </a:p>
        </p:txBody>
      </p:sp>
      <p:sp>
        <p:nvSpPr>
          <p:cNvPr id="169" name="Google Shape;169;p9"/>
          <p:cNvSpPr/>
          <p:nvPr/>
        </p:nvSpPr>
        <p:spPr>
          <a:xfrm>
            <a:off x="548640" y="3090672"/>
            <a:ext cx="3520440" cy="1280160"/>
          </a:xfrm>
          <a:prstGeom prst="roundRect">
            <a:avLst>
              <a:gd fmla="val 5000" name="adj"/>
            </a:avLst>
          </a:prstGeom>
          <a:solidFill>
            <a:srgbClr val="FFFFFF"/>
          </a:solidFill>
          <a:ln cap="flat" cmpd="sng" w="12700">
            <a:solidFill>
              <a:srgbClr val="E2DCCE"/>
            </a:solidFill>
            <a:prstDash val="solid"/>
            <a:round/>
            <a:headEnd len="sm" w="sm" type="none"/>
            <a:tailEnd len="sm" w="sm" type="none"/>
          </a:ln>
          <a:effectLst>
            <a:outerShdw blurRad="88900" rotWithShape="0" algn="bl" dir="5400000" dist="38100">
              <a:srgbClr val="000000">
                <a:alpha val="1294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 name="Google Shape;170;p9"/>
          <p:cNvSpPr/>
          <p:nvPr/>
        </p:nvSpPr>
        <p:spPr>
          <a:xfrm>
            <a:off x="777240" y="3319272"/>
            <a:ext cx="502920" cy="502920"/>
          </a:xfrm>
          <a:prstGeom prst="ellipse">
            <a:avLst/>
          </a:prstGeom>
          <a:solidFill>
            <a:srgbClr val="4682B4"/>
          </a:solidFill>
          <a:ln cap="flat" cmpd="sng" w="12700">
            <a:solidFill>
              <a:srgbClr val="4682B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 name="Google Shape;171;p9"/>
          <p:cNvSpPr/>
          <p:nvPr/>
        </p:nvSpPr>
        <p:spPr>
          <a:xfrm>
            <a:off x="777240" y="3319272"/>
            <a:ext cx="502920" cy="5029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2000"/>
              <a:buFont typeface="Calibri"/>
              <a:buNone/>
            </a:pPr>
            <a:r>
              <a:rPr b="1" i="0" lang="en-US" sz="2000" u="none" cap="none" strike="noStrike">
                <a:solidFill>
                  <a:srgbClr val="FFFFFF"/>
                </a:solidFill>
                <a:latin typeface="Calibri"/>
                <a:ea typeface="Calibri"/>
                <a:cs typeface="Calibri"/>
                <a:sym typeface="Calibri"/>
              </a:rPr>
              <a:t>4</a:t>
            </a:r>
            <a:endParaRPr b="0" i="0" sz="2000" u="none" cap="none" strike="noStrike">
              <a:solidFill>
                <a:schemeClr val="dk1"/>
              </a:solidFill>
              <a:latin typeface="Calibri"/>
              <a:ea typeface="Calibri"/>
              <a:cs typeface="Calibri"/>
              <a:sym typeface="Calibri"/>
            </a:endParaRPr>
          </a:p>
        </p:txBody>
      </p:sp>
      <p:sp>
        <p:nvSpPr>
          <p:cNvPr id="172" name="Google Shape;172;p9"/>
          <p:cNvSpPr/>
          <p:nvPr/>
        </p:nvSpPr>
        <p:spPr>
          <a:xfrm>
            <a:off x="1417320" y="3346704"/>
            <a:ext cx="246888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2536"/>
              </a:buClr>
              <a:buSzPts val="1600"/>
              <a:buFont typeface="Calibri"/>
              <a:buNone/>
            </a:pPr>
            <a:r>
              <a:rPr b="1" i="0" lang="en-US" sz="1600" u="none" cap="none" strike="noStrike">
                <a:solidFill>
                  <a:srgbClr val="1D2536"/>
                </a:solidFill>
                <a:latin typeface="Calibri"/>
                <a:ea typeface="Calibri"/>
                <a:cs typeface="Calibri"/>
                <a:sym typeface="Calibri"/>
              </a:rPr>
              <a:t>Signals</a:t>
            </a:r>
            <a:endParaRPr b="0" i="0" sz="1600" u="none" cap="none" strike="noStrike">
              <a:solidFill>
                <a:schemeClr val="dk1"/>
              </a:solidFill>
              <a:latin typeface="Calibri"/>
              <a:ea typeface="Calibri"/>
              <a:cs typeface="Calibri"/>
              <a:sym typeface="Calibri"/>
            </a:endParaRPr>
          </a:p>
        </p:txBody>
      </p:sp>
      <p:sp>
        <p:nvSpPr>
          <p:cNvPr id="173" name="Google Shape;173;p9"/>
          <p:cNvSpPr/>
          <p:nvPr/>
        </p:nvSpPr>
        <p:spPr>
          <a:xfrm>
            <a:off x="822960" y="3867912"/>
            <a:ext cx="2971800" cy="457200"/>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Clr>
                <a:srgbClr val="6E7686"/>
              </a:buClr>
              <a:buSzPts val="1150"/>
              <a:buFont typeface="Calibri"/>
              <a:buNone/>
            </a:pPr>
            <a:r>
              <a:rPr b="0" i="0" lang="en-US" sz="1150" u="none" cap="none" strike="noStrike">
                <a:solidFill>
                  <a:srgbClr val="6E7686"/>
                </a:solidFill>
                <a:latin typeface="Calibri"/>
                <a:ea typeface="Calibri"/>
                <a:cs typeface="Calibri"/>
                <a:sym typeface="Calibri"/>
              </a:rPr>
              <a:t>who is advertising or hiring</a:t>
            </a:r>
            <a:endParaRPr b="0" i="0" sz="1150" u="none" cap="none" strike="noStrike">
              <a:solidFill>
                <a:schemeClr val="dk1"/>
              </a:solidFill>
              <a:latin typeface="Calibri"/>
              <a:ea typeface="Calibri"/>
              <a:cs typeface="Calibri"/>
              <a:sym typeface="Calibri"/>
            </a:endParaRPr>
          </a:p>
        </p:txBody>
      </p:sp>
      <p:sp>
        <p:nvSpPr>
          <p:cNvPr id="174" name="Google Shape;174;p9"/>
          <p:cNvSpPr/>
          <p:nvPr/>
        </p:nvSpPr>
        <p:spPr>
          <a:xfrm>
            <a:off x="4480560" y="3090672"/>
            <a:ext cx="3520440" cy="1280160"/>
          </a:xfrm>
          <a:prstGeom prst="roundRect">
            <a:avLst>
              <a:gd fmla="val 5000" name="adj"/>
            </a:avLst>
          </a:prstGeom>
          <a:solidFill>
            <a:srgbClr val="FFFFFF"/>
          </a:solidFill>
          <a:ln cap="flat" cmpd="sng" w="12700">
            <a:solidFill>
              <a:srgbClr val="E2DCCE"/>
            </a:solidFill>
            <a:prstDash val="solid"/>
            <a:round/>
            <a:headEnd len="sm" w="sm" type="none"/>
            <a:tailEnd len="sm" w="sm" type="none"/>
          </a:ln>
          <a:effectLst>
            <a:outerShdw blurRad="88900" rotWithShape="0" algn="bl" dir="5400000" dist="38100">
              <a:srgbClr val="000000">
                <a:alpha val="1294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 name="Google Shape;175;p9"/>
          <p:cNvSpPr/>
          <p:nvPr/>
        </p:nvSpPr>
        <p:spPr>
          <a:xfrm>
            <a:off x="4709160" y="3319272"/>
            <a:ext cx="502920" cy="502920"/>
          </a:xfrm>
          <a:prstGeom prst="ellipse">
            <a:avLst/>
          </a:prstGeom>
          <a:solidFill>
            <a:srgbClr val="4682B4"/>
          </a:solidFill>
          <a:ln cap="flat" cmpd="sng" w="12700">
            <a:solidFill>
              <a:srgbClr val="4682B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 name="Google Shape;176;p9"/>
          <p:cNvSpPr/>
          <p:nvPr/>
        </p:nvSpPr>
        <p:spPr>
          <a:xfrm>
            <a:off x="4709160" y="3319272"/>
            <a:ext cx="502920" cy="5029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2000"/>
              <a:buFont typeface="Calibri"/>
              <a:buNone/>
            </a:pPr>
            <a:r>
              <a:rPr b="1" i="0" lang="en-US" sz="2000" u="none" cap="none" strike="noStrike">
                <a:solidFill>
                  <a:srgbClr val="FFFFFF"/>
                </a:solidFill>
                <a:latin typeface="Calibri"/>
                <a:ea typeface="Calibri"/>
                <a:cs typeface="Calibri"/>
                <a:sym typeface="Calibri"/>
              </a:rPr>
              <a:t>5</a:t>
            </a:r>
            <a:endParaRPr b="0" i="0" sz="2000" u="none" cap="none" strike="noStrike">
              <a:solidFill>
                <a:schemeClr val="dk1"/>
              </a:solidFill>
              <a:latin typeface="Calibri"/>
              <a:ea typeface="Calibri"/>
              <a:cs typeface="Calibri"/>
              <a:sym typeface="Calibri"/>
            </a:endParaRPr>
          </a:p>
        </p:txBody>
      </p:sp>
      <p:sp>
        <p:nvSpPr>
          <p:cNvPr id="177" name="Google Shape;177;p9"/>
          <p:cNvSpPr/>
          <p:nvPr/>
        </p:nvSpPr>
        <p:spPr>
          <a:xfrm>
            <a:off x="5349240" y="3346704"/>
            <a:ext cx="246888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2536"/>
              </a:buClr>
              <a:buSzPts val="1600"/>
              <a:buFont typeface="Calibri"/>
              <a:buNone/>
            </a:pPr>
            <a:r>
              <a:rPr b="1" i="0" lang="en-US" sz="1600" u="none" cap="none" strike="noStrike">
                <a:solidFill>
                  <a:srgbClr val="1D2536"/>
                </a:solidFill>
                <a:latin typeface="Calibri"/>
                <a:ea typeface="Calibri"/>
                <a:cs typeface="Calibri"/>
                <a:sym typeface="Calibri"/>
              </a:rPr>
              <a:t>Score and decide</a:t>
            </a:r>
            <a:endParaRPr b="0" i="0" sz="1600" u="none" cap="none" strike="noStrike">
              <a:solidFill>
                <a:schemeClr val="dk1"/>
              </a:solidFill>
              <a:latin typeface="Calibri"/>
              <a:ea typeface="Calibri"/>
              <a:cs typeface="Calibri"/>
              <a:sym typeface="Calibri"/>
            </a:endParaRPr>
          </a:p>
        </p:txBody>
      </p:sp>
      <p:sp>
        <p:nvSpPr>
          <p:cNvPr id="178" name="Google Shape;178;p9"/>
          <p:cNvSpPr/>
          <p:nvPr/>
        </p:nvSpPr>
        <p:spPr>
          <a:xfrm>
            <a:off x="4754880" y="3867912"/>
            <a:ext cx="2971800" cy="457200"/>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Clr>
                <a:srgbClr val="6E7686"/>
              </a:buClr>
              <a:buSzPts val="1150"/>
              <a:buFont typeface="Calibri"/>
              <a:buNone/>
            </a:pPr>
            <a:r>
              <a:rPr b="0" i="0" lang="en-US" sz="1150" u="none" cap="none" strike="noStrike">
                <a:solidFill>
                  <a:srgbClr val="6E7686"/>
                </a:solidFill>
                <a:latin typeface="Calibri"/>
                <a:ea typeface="Calibri"/>
                <a:cs typeface="Calibri"/>
                <a:sym typeface="Calibri"/>
              </a:rPr>
              <a:t>keep only the good ones</a:t>
            </a:r>
            <a:endParaRPr b="0" i="0" sz="1150" u="none" cap="none" strike="noStrike">
              <a:solidFill>
                <a:schemeClr val="dk1"/>
              </a:solidFill>
              <a:latin typeface="Calibri"/>
              <a:ea typeface="Calibri"/>
              <a:cs typeface="Calibri"/>
              <a:sym typeface="Calibri"/>
            </a:endParaRPr>
          </a:p>
        </p:txBody>
      </p:sp>
      <p:sp>
        <p:nvSpPr>
          <p:cNvPr id="179" name="Google Shape;179;p9"/>
          <p:cNvSpPr/>
          <p:nvPr/>
        </p:nvSpPr>
        <p:spPr>
          <a:xfrm>
            <a:off x="8412480" y="3090672"/>
            <a:ext cx="3520440" cy="1280160"/>
          </a:xfrm>
          <a:prstGeom prst="roundRect">
            <a:avLst>
              <a:gd fmla="val 5000" name="adj"/>
            </a:avLst>
          </a:prstGeom>
          <a:solidFill>
            <a:srgbClr val="FFFFFF"/>
          </a:solidFill>
          <a:ln cap="flat" cmpd="sng" w="12700">
            <a:solidFill>
              <a:srgbClr val="E2DCCE"/>
            </a:solidFill>
            <a:prstDash val="solid"/>
            <a:round/>
            <a:headEnd len="sm" w="sm" type="none"/>
            <a:tailEnd len="sm" w="sm" type="none"/>
          </a:ln>
          <a:effectLst>
            <a:outerShdw blurRad="88900" rotWithShape="0" algn="bl" dir="5400000" dist="38100">
              <a:srgbClr val="000000">
                <a:alpha val="1294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 name="Google Shape;180;p9"/>
          <p:cNvSpPr/>
          <p:nvPr/>
        </p:nvSpPr>
        <p:spPr>
          <a:xfrm>
            <a:off x="8641080" y="3319272"/>
            <a:ext cx="502920" cy="502920"/>
          </a:xfrm>
          <a:prstGeom prst="ellipse">
            <a:avLst/>
          </a:prstGeom>
          <a:solidFill>
            <a:srgbClr val="4682B4"/>
          </a:solidFill>
          <a:ln cap="flat" cmpd="sng" w="12700">
            <a:solidFill>
              <a:srgbClr val="4682B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 name="Google Shape;181;p9"/>
          <p:cNvSpPr/>
          <p:nvPr/>
        </p:nvSpPr>
        <p:spPr>
          <a:xfrm>
            <a:off x="8641080" y="3319272"/>
            <a:ext cx="502920" cy="5029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2000"/>
              <a:buFont typeface="Calibri"/>
              <a:buNone/>
            </a:pPr>
            <a:r>
              <a:rPr b="1" i="0" lang="en-US" sz="2000" u="none" cap="none" strike="noStrike">
                <a:solidFill>
                  <a:srgbClr val="FFFFFF"/>
                </a:solidFill>
                <a:latin typeface="Calibri"/>
                <a:ea typeface="Calibri"/>
                <a:cs typeface="Calibri"/>
                <a:sym typeface="Calibri"/>
              </a:rPr>
              <a:t>6</a:t>
            </a:r>
            <a:endParaRPr b="0" i="0" sz="2000" u="none" cap="none" strike="noStrike">
              <a:solidFill>
                <a:schemeClr val="dk1"/>
              </a:solidFill>
              <a:latin typeface="Calibri"/>
              <a:ea typeface="Calibri"/>
              <a:cs typeface="Calibri"/>
              <a:sym typeface="Calibri"/>
            </a:endParaRPr>
          </a:p>
        </p:txBody>
      </p:sp>
      <p:sp>
        <p:nvSpPr>
          <p:cNvPr id="182" name="Google Shape;182;p9"/>
          <p:cNvSpPr/>
          <p:nvPr/>
        </p:nvSpPr>
        <p:spPr>
          <a:xfrm>
            <a:off x="9281160" y="3346704"/>
            <a:ext cx="246888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2536"/>
              </a:buClr>
              <a:buSzPts val="1600"/>
              <a:buFont typeface="Calibri"/>
              <a:buNone/>
            </a:pPr>
            <a:r>
              <a:rPr b="1" i="0" lang="en-US" sz="1600" u="none" cap="none" strike="noStrike">
                <a:solidFill>
                  <a:srgbClr val="1D2536"/>
                </a:solidFill>
                <a:latin typeface="Calibri"/>
                <a:ea typeface="Calibri"/>
                <a:cs typeface="Calibri"/>
                <a:sym typeface="Calibri"/>
              </a:rPr>
              <a:t>Hand to the crew</a:t>
            </a:r>
            <a:endParaRPr b="0" i="0" sz="1600" u="none" cap="none" strike="noStrike">
              <a:solidFill>
                <a:schemeClr val="dk1"/>
              </a:solidFill>
              <a:latin typeface="Calibri"/>
              <a:ea typeface="Calibri"/>
              <a:cs typeface="Calibri"/>
              <a:sym typeface="Calibri"/>
            </a:endParaRPr>
          </a:p>
        </p:txBody>
      </p:sp>
      <p:sp>
        <p:nvSpPr>
          <p:cNvPr id="183" name="Google Shape;183;p9"/>
          <p:cNvSpPr/>
          <p:nvPr/>
        </p:nvSpPr>
        <p:spPr>
          <a:xfrm>
            <a:off x="8686800" y="3867912"/>
            <a:ext cx="2971800" cy="457200"/>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Clr>
                <a:srgbClr val="6E7686"/>
              </a:buClr>
              <a:buSzPts val="1150"/>
              <a:buFont typeface="Calibri"/>
              <a:buNone/>
            </a:pPr>
            <a:r>
              <a:rPr b="0" i="0" lang="en-US" sz="1150" u="none" cap="none" strike="noStrike">
                <a:solidFill>
                  <a:srgbClr val="6E7686"/>
                </a:solidFill>
                <a:latin typeface="Calibri"/>
                <a:ea typeface="Calibri"/>
                <a:cs typeface="Calibri"/>
                <a:sym typeface="Calibri"/>
              </a:rPr>
              <a:t>into the shared pipeline</a:t>
            </a:r>
            <a:endParaRPr b="0" i="0" sz="1150" u="none" cap="none" strike="noStrike">
              <a:solidFill>
                <a:schemeClr val="dk1"/>
              </a:solidFill>
              <a:latin typeface="Calibri"/>
              <a:ea typeface="Calibri"/>
              <a:cs typeface="Calibri"/>
              <a:sym typeface="Calibri"/>
            </a:endParaRPr>
          </a:p>
        </p:txBody>
      </p:sp>
      <p:sp>
        <p:nvSpPr>
          <p:cNvPr id="184" name="Google Shape;184;p9"/>
          <p:cNvSpPr/>
          <p:nvPr/>
        </p:nvSpPr>
        <p:spPr>
          <a:xfrm>
            <a:off x="548640" y="5989320"/>
            <a:ext cx="11064240"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E7686"/>
              </a:buClr>
              <a:buSzPts val="1300"/>
              <a:buFont typeface="Calibri"/>
              <a:buNone/>
            </a:pPr>
            <a:r>
              <a:rPr b="0" i="1" lang="en-US" sz="1300" u="none" cap="none" strike="noStrike">
                <a:solidFill>
                  <a:srgbClr val="6E7686"/>
                </a:solidFill>
                <a:latin typeface="Calibri"/>
                <a:ea typeface="Calibri"/>
                <a:cs typeface="Calibri"/>
                <a:sym typeface="Calibri"/>
              </a:rPr>
              <a:t>Steps 1 through 6 happen without you.</a:t>
            </a:r>
            <a:endParaRPr b="0" i="0" sz="1300" u="none" cap="none" strike="noStrike">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7F1"/>
        </a:solidFill>
      </p:bgPr>
    </p:bg>
    <p:spTree>
      <p:nvGrpSpPr>
        <p:cNvPr id="189" name="Shape 189"/>
        <p:cNvGrpSpPr/>
        <p:nvPr/>
      </p:nvGrpSpPr>
      <p:grpSpPr>
        <a:xfrm>
          <a:off x="0" y="0"/>
          <a:ext cx="0" cy="0"/>
          <a:chOff x="0" y="0"/>
          <a:chExt cx="0" cy="0"/>
        </a:xfrm>
      </p:grpSpPr>
      <p:sp>
        <p:nvSpPr>
          <p:cNvPr id="190" name="Google Shape;190;p10"/>
          <p:cNvSpPr/>
          <p:nvPr/>
        </p:nvSpPr>
        <p:spPr>
          <a:xfrm>
            <a:off x="548640" y="384048"/>
            <a:ext cx="1106424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682B4"/>
              </a:buClr>
              <a:buSzPts val="1200"/>
              <a:buFont typeface="Calibri"/>
              <a:buNone/>
            </a:pPr>
            <a:r>
              <a:rPr b="1" i="0" lang="en-US" sz="1200" u="none" cap="none" strike="noStrike">
                <a:solidFill>
                  <a:srgbClr val="4682B4"/>
                </a:solidFill>
                <a:latin typeface="Calibri"/>
                <a:ea typeface="Calibri"/>
                <a:cs typeface="Calibri"/>
                <a:sym typeface="Calibri"/>
              </a:rPr>
              <a:t>THE CREW THAT WORKS THE LEADS</a:t>
            </a:r>
            <a:endParaRPr b="0" i="0" sz="1200" u="none" cap="none" strike="noStrike">
              <a:solidFill>
                <a:schemeClr val="dk1"/>
              </a:solidFill>
              <a:latin typeface="Calibri"/>
              <a:ea typeface="Calibri"/>
              <a:cs typeface="Calibri"/>
              <a:sym typeface="Calibri"/>
            </a:endParaRPr>
          </a:p>
        </p:txBody>
      </p:sp>
      <p:sp>
        <p:nvSpPr>
          <p:cNvPr id="191" name="Google Shape;191;p10"/>
          <p:cNvSpPr/>
          <p:nvPr/>
        </p:nvSpPr>
        <p:spPr>
          <a:xfrm>
            <a:off x="548640" y="658368"/>
            <a:ext cx="11064240"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2536"/>
              </a:buClr>
              <a:buSzPts val="2700"/>
              <a:buFont typeface="Calibri"/>
              <a:buNone/>
            </a:pPr>
            <a:r>
              <a:rPr b="1" i="0" lang="en-US" sz="2700" u="none" cap="none" strike="noStrike">
                <a:solidFill>
                  <a:srgbClr val="1D2536"/>
                </a:solidFill>
                <a:latin typeface="Calibri"/>
                <a:ea typeface="Calibri"/>
                <a:cs typeface="Calibri"/>
                <a:sym typeface="Calibri"/>
              </a:rPr>
              <a:t>One manager, five specialists, one score</a:t>
            </a:r>
            <a:endParaRPr b="0" i="0" sz="2700" u="none" cap="none" strike="noStrike">
              <a:solidFill>
                <a:schemeClr val="dk1"/>
              </a:solidFill>
              <a:latin typeface="Calibri"/>
              <a:ea typeface="Calibri"/>
              <a:cs typeface="Calibri"/>
              <a:sym typeface="Calibri"/>
            </a:endParaRPr>
          </a:p>
        </p:txBody>
      </p:sp>
      <p:sp>
        <p:nvSpPr>
          <p:cNvPr id="192" name="Google Shape;192;p10"/>
          <p:cNvSpPr/>
          <p:nvPr/>
        </p:nvSpPr>
        <p:spPr>
          <a:xfrm>
            <a:off x="548640" y="2743200"/>
            <a:ext cx="1737360" cy="914400"/>
          </a:xfrm>
          <a:prstGeom prst="roundRect">
            <a:avLst>
              <a:gd fmla="val 9000" name="adj"/>
            </a:avLst>
          </a:prstGeom>
          <a:solidFill>
            <a:srgbClr val="E7EEF5"/>
          </a:solidFill>
          <a:ln cap="flat" cmpd="sng" w="12700">
            <a:solidFill>
              <a:srgbClr val="E7EEF5"/>
            </a:solidFill>
            <a:prstDash val="solid"/>
            <a:round/>
            <a:headEnd len="sm" w="sm" type="none"/>
            <a:tailEnd len="sm" w="sm" type="none"/>
          </a:ln>
          <a:effectLst>
            <a:outerShdw blurRad="88900" rotWithShape="0" algn="bl" dir="5400000" dist="38100">
              <a:srgbClr val="000000">
                <a:alpha val="1294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 name="Google Shape;193;p10"/>
          <p:cNvSpPr/>
          <p:nvPr/>
        </p:nvSpPr>
        <p:spPr>
          <a:xfrm>
            <a:off x="548640" y="2743200"/>
            <a:ext cx="1737360" cy="914400"/>
          </a:xfrm>
          <a:prstGeom prst="rect">
            <a:avLst/>
          </a:prstGeom>
          <a:noFill/>
          <a:ln>
            <a:noFill/>
          </a:ln>
        </p:spPr>
        <p:txBody>
          <a:bodyPr anchorCtr="0" anchor="ctr" bIns="50800" lIns="50800" spcFirstLastPara="1" rIns="50800" wrap="square" tIns="50800">
            <a:noAutofit/>
          </a:bodyPr>
          <a:lstStyle/>
          <a:p>
            <a:pPr indent="0" lvl="0" marL="0" marR="0" rtl="0" algn="ctr">
              <a:spcBef>
                <a:spcPts val="0"/>
              </a:spcBef>
              <a:spcAft>
                <a:spcPts val="0"/>
              </a:spcAft>
              <a:buClr>
                <a:srgbClr val="1D2536"/>
              </a:buClr>
              <a:buSzPts val="1250"/>
              <a:buFont typeface="Calibri"/>
              <a:buNone/>
            </a:pPr>
            <a:r>
              <a:rPr b="1" i="0" lang="en-US" sz="1250" u="none" cap="none" strike="noStrike">
                <a:solidFill>
                  <a:srgbClr val="1D2536"/>
                </a:solidFill>
                <a:latin typeface="Calibri"/>
                <a:ea typeface="Calibri"/>
                <a:cs typeface="Calibri"/>
                <a:sym typeface="Calibri"/>
              </a:rPr>
              <a:t>Orchestrator</a:t>
            </a:r>
            <a:endParaRPr b="0" i="0" sz="125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6E7686"/>
              </a:buClr>
              <a:buSzPts val="1000"/>
              <a:buFont typeface="Calibri"/>
              <a:buNone/>
            </a:pPr>
            <a:r>
              <a:rPr b="0" i="0" lang="en-US" sz="1000" u="none" cap="none" strike="noStrike">
                <a:solidFill>
                  <a:srgbClr val="6E7686"/>
                </a:solidFill>
                <a:latin typeface="Calibri"/>
                <a:ea typeface="Calibri"/>
                <a:cs typeface="Calibri"/>
                <a:sym typeface="Calibri"/>
              </a:rPr>
              <a:t>/atrium</a:t>
            </a:r>
            <a:endParaRPr b="0" i="0" sz="1250" u="none" cap="none" strike="noStrike">
              <a:solidFill>
                <a:schemeClr val="dk1"/>
              </a:solidFill>
              <a:latin typeface="Calibri"/>
              <a:ea typeface="Calibri"/>
              <a:cs typeface="Calibri"/>
              <a:sym typeface="Calibri"/>
            </a:endParaRPr>
          </a:p>
        </p:txBody>
      </p:sp>
      <p:sp>
        <p:nvSpPr>
          <p:cNvPr id="194" name="Google Shape;194;p10"/>
          <p:cNvSpPr/>
          <p:nvPr/>
        </p:nvSpPr>
        <p:spPr>
          <a:xfrm>
            <a:off x="2743200" y="1463040"/>
            <a:ext cx="3108960" cy="658368"/>
          </a:xfrm>
          <a:prstGeom prst="roundRect">
            <a:avLst>
              <a:gd fmla="val 9722" name="adj"/>
            </a:avLst>
          </a:prstGeom>
          <a:solidFill>
            <a:srgbClr val="FFFFFF"/>
          </a:solidFill>
          <a:ln cap="flat" cmpd="sng" w="12700">
            <a:solidFill>
              <a:srgbClr val="E2DCCE"/>
            </a:solidFill>
            <a:prstDash val="solid"/>
            <a:round/>
            <a:headEnd len="sm" w="sm" type="none"/>
            <a:tailEnd len="sm" w="sm" type="none"/>
          </a:ln>
          <a:effectLst>
            <a:outerShdw blurRad="88900" rotWithShape="0" algn="bl" dir="5400000" dist="38100">
              <a:srgbClr val="000000">
                <a:alpha val="1294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 name="Google Shape;195;p10"/>
          <p:cNvSpPr/>
          <p:nvPr/>
        </p:nvSpPr>
        <p:spPr>
          <a:xfrm>
            <a:off x="2926080" y="1463040"/>
            <a:ext cx="2743200" cy="6583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2536"/>
              </a:buClr>
              <a:buSzPts val="1250"/>
              <a:buFont typeface="Calibri"/>
              <a:buNone/>
            </a:pPr>
            <a:r>
              <a:rPr b="1" i="0" lang="en-US" sz="1250" u="none" cap="none" strike="noStrike">
                <a:solidFill>
                  <a:srgbClr val="1D2536"/>
                </a:solidFill>
                <a:latin typeface="Calibri"/>
                <a:ea typeface="Calibri"/>
                <a:cs typeface="Calibri"/>
                <a:sym typeface="Calibri"/>
              </a:rPr>
              <a:t>Company Fit   </a:t>
            </a:r>
            <a:r>
              <a:rPr b="1" i="0" lang="en-US" sz="1200" u="none" cap="none" strike="noStrike">
                <a:solidFill>
                  <a:srgbClr val="4682B4"/>
                </a:solidFill>
                <a:latin typeface="Calibri"/>
                <a:ea typeface="Calibri"/>
                <a:cs typeface="Calibri"/>
                <a:sym typeface="Calibri"/>
              </a:rPr>
              <a:t>25%</a:t>
            </a:r>
            <a:endParaRPr b="0" i="0" sz="1250" u="none" cap="none" strike="noStrike">
              <a:solidFill>
                <a:schemeClr val="dk1"/>
              </a:solidFill>
              <a:latin typeface="Calibri"/>
              <a:ea typeface="Calibri"/>
              <a:cs typeface="Calibri"/>
              <a:sym typeface="Calibri"/>
            </a:endParaRPr>
          </a:p>
        </p:txBody>
      </p:sp>
      <p:cxnSp>
        <p:nvCxnSpPr>
          <p:cNvPr id="196" name="Google Shape;196;p10"/>
          <p:cNvCxnSpPr/>
          <p:nvPr/>
        </p:nvCxnSpPr>
        <p:spPr>
          <a:xfrm flipH="1" rot="10800000">
            <a:off x="2286000" y="1792224"/>
            <a:ext cx="457200" cy="1408176"/>
          </a:xfrm>
          <a:prstGeom prst="straightConnector1">
            <a:avLst/>
          </a:prstGeom>
          <a:noFill/>
          <a:ln cap="flat" cmpd="sng" w="28575">
            <a:solidFill>
              <a:srgbClr val="6E7686"/>
            </a:solidFill>
            <a:prstDash val="solid"/>
            <a:round/>
            <a:headEnd len="sm" w="sm" type="none"/>
            <a:tailEnd len="med" w="med" type="triangle"/>
          </a:ln>
        </p:spPr>
      </p:cxnSp>
      <p:cxnSp>
        <p:nvCxnSpPr>
          <p:cNvPr id="197" name="Google Shape;197;p10"/>
          <p:cNvCxnSpPr/>
          <p:nvPr/>
        </p:nvCxnSpPr>
        <p:spPr>
          <a:xfrm>
            <a:off x="5852160" y="1792224"/>
            <a:ext cx="914400" cy="1408176"/>
          </a:xfrm>
          <a:prstGeom prst="straightConnector1">
            <a:avLst/>
          </a:prstGeom>
          <a:noFill/>
          <a:ln cap="flat" cmpd="sng" w="28575">
            <a:solidFill>
              <a:srgbClr val="6E7686"/>
            </a:solidFill>
            <a:prstDash val="solid"/>
            <a:round/>
            <a:headEnd len="sm" w="sm" type="none"/>
            <a:tailEnd len="med" w="med" type="triangle"/>
          </a:ln>
        </p:spPr>
      </p:cxnSp>
      <p:sp>
        <p:nvSpPr>
          <p:cNvPr id="198" name="Google Shape;198;p10"/>
          <p:cNvSpPr/>
          <p:nvPr/>
        </p:nvSpPr>
        <p:spPr>
          <a:xfrm>
            <a:off x="2743200" y="2322576"/>
            <a:ext cx="3108960" cy="658368"/>
          </a:xfrm>
          <a:prstGeom prst="roundRect">
            <a:avLst>
              <a:gd fmla="val 9722" name="adj"/>
            </a:avLst>
          </a:prstGeom>
          <a:solidFill>
            <a:srgbClr val="FFFFFF"/>
          </a:solidFill>
          <a:ln cap="flat" cmpd="sng" w="12700">
            <a:solidFill>
              <a:srgbClr val="E2DCCE"/>
            </a:solidFill>
            <a:prstDash val="solid"/>
            <a:round/>
            <a:headEnd len="sm" w="sm" type="none"/>
            <a:tailEnd len="sm" w="sm" type="none"/>
          </a:ln>
          <a:effectLst>
            <a:outerShdw blurRad="88900" rotWithShape="0" algn="bl" dir="5400000" dist="38100">
              <a:srgbClr val="000000">
                <a:alpha val="1294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 name="Google Shape;199;p10"/>
          <p:cNvSpPr/>
          <p:nvPr/>
        </p:nvSpPr>
        <p:spPr>
          <a:xfrm>
            <a:off x="2926080" y="2322576"/>
            <a:ext cx="2743200" cy="6583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2536"/>
              </a:buClr>
              <a:buSzPts val="1250"/>
              <a:buFont typeface="Calibri"/>
              <a:buNone/>
            </a:pPr>
            <a:r>
              <a:rPr b="1" i="0" lang="en-US" sz="1250" u="none" cap="none" strike="noStrike">
                <a:solidFill>
                  <a:srgbClr val="1D2536"/>
                </a:solidFill>
                <a:latin typeface="Calibri"/>
                <a:ea typeface="Calibri"/>
                <a:cs typeface="Calibri"/>
                <a:sym typeface="Calibri"/>
              </a:rPr>
              <a:t>Contact Access   </a:t>
            </a:r>
            <a:r>
              <a:rPr b="1" i="0" lang="en-US" sz="1200" u="none" cap="none" strike="noStrike">
                <a:solidFill>
                  <a:srgbClr val="4682B4"/>
                </a:solidFill>
                <a:latin typeface="Calibri"/>
                <a:ea typeface="Calibri"/>
                <a:cs typeface="Calibri"/>
                <a:sym typeface="Calibri"/>
              </a:rPr>
              <a:t>20%</a:t>
            </a:r>
            <a:endParaRPr b="0" i="0" sz="1250" u="none" cap="none" strike="noStrike">
              <a:solidFill>
                <a:schemeClr val="dk1"/>
              </a:solidFill>
              <a:latin typeface="Calibri"/>
              <a:ea typeface="Calibri"/>
              <a:cs typeface="Calibri"/>
              <a:sym typeface="Calibri"/>
            </a:endParaRPr>
          </a:p>
        </p:txBody>
      </p:sp>
      <p:cxnSp>
        <p:nvCxnSpPr>
          <p:cNvPr id="200" name="Google Shape;200;p10"/>
          <p:cNvCxnSpPr/>
          <p:nvPr/>
        </p:nvCxnSpPr>
        <p:spPr>
          <a:xfrm flipH="1" rot="10800000">
            <a:off x="2286000" y="2651760"/>
            <a:ext cx="457200" cy="548640"/>
          </a:xfrm>
          <a:prstGeom prst="straightConnector1">
            <a:avLst/>
          </a:prstGeom>
          <a:noFill/>
          <a:ln cap="flat" cmpd="sng" w="28575">
            <a:solidFill>
              <a:srgbClr val="6E7686"/>
            </a:solidFill>
            <a:prstDash val="solid"/>
            <a:round/>
            <a:headEnd len="sm" w="sm" type="none"/>
            <a:tailEnd len="med" w="med" type="triangle"/>
          </a:ln>
        </p:spPr>
      </p:cxnSp>
      <p:cxnSp>
        <p:nvCxnSpPr>
          <p:cNvPr id="201" name="Google Shape;201;p10"/>
          <p:cNvCxnSpPr/>
          <p:nvPr/>
        </p:nvCxnSpPr>
        <p:spPr>
          <a:xfrm>
            <a:off x="5852160" y="2651760"/>
            <a:ext cx="914400" cy="548640"/>
          </a:xfrm>
          <a:prstGeom prst="straightConnector1">
            <a:avLst/>
          </a:prstGeom>
          <a:noFill/>
          <a:ln cap="flat" cmpd="sng" w="28575">
            <a:solidFill>
              <a:srgbClr val="6E7686"/>
            </a:solidFill>
            <a:prstDash val="solid"/>
            <a:round/>
            <a:headEnd len="sm" w="sm" type="none"/>
            <a:tailEnd len="med" w="med" type="triangle"/>
          </a:ln>
        </p:spPr>
      </p:cxnSp>
      <p:sp>
        <p:nvSpPr>
          <p:cNvPr id="202" name="Google Shape;202;p10"/>
          <p:cNvSpPr/>
          <p:nvPr/>
        </p:nvSpPr>
        <p:spPr>
          <a:xfrm>
            <a:off x="2743200" y="3182112"/>
            <a:ext cx="3108960" cy="658368"/>
          </a:xfrm>
          <a:prstGeom prst="roundRect">
            <a:avLst>
              <a:gd fmla="val 9722" name="adj"/>
            </a:avLst>
          </a:prstGeom>
          <a:solidFill>
            <a:srgbClr val="FFFFFF"/>
          </a:solidFill>
          <a:ln cap="flat" cmpd="sng" w="12700">
            <a:solidFill>
              <a:srgbClr val="E2DCCE"/>
            </a:solidFill>
            <a:prstDash val="solid"/>
            <a:round/>
            <a:headEnd len="sm" w="sm" type="none"/>
            <a:tailEnd len="sm" w="sm" type="none"/>
          </a:ln>
          <a:effectLst>
            <a:outerShdw blurRad="88900" rotWithShape="0" algn="bl" dir="5400000" dist="38100">
              <a:srgbClr val="000000">
                <a:alpha val="1294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 name="Google Shape;203;p10"/>
          <p:cNvSpPr/>
          <p:nvPr/>
        </p:nvSpPr>
        <p:spPr>
          <a:xfrm>
            <a:off x="2926080" y="3182112"/>
            <a:ext cx="2743200" cy="6583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2536"/>
              </a:buClr>
              <a:buSzPts val="1250"/>
              <a:buFont typeface="Calibri"/>
              <a:buNone/>
            </a:pPr>
            <a:r>
              <a:rPr b="1" i="0" lang="en-US" sz="1250" u="none" cap="none" strike="noStrike">
                <a:solidFill>
                  <a:srgbClr val="1D2536"/>
                </a:solidFill>
                <a:latin typeface="Calibri"/>
                <a:ea typeface="Calibri"/>
                <a:cs typeface="Calibri"/>
                <a:sym typeface="Calibri"/>
              </a:rPr>
              <a:t>Opportunity   </a:t>
            </a:r>
            <a:r>
              <a:rPr b="1" i="0" lang="en-US" sz="1200" u="none" cap="none" strike="noStrike">
                <a:solidFill>
                  <a:srgbClr val="4682B4"/>
                </a:solidFill>
                <a:latin typeface="Calibri"/>
                <a:ea typeface="Calibri"/>
                <a:cs typeface="Calibri"/>
                <a:sym typeface="Calibri"/>
              </a:rPr>
              <a:t>20%</a:t>
            </a:r>
            <a:endParaRPr b="0" i="0" sz="1250" u="none" cap="none" strike="noStrike">
              <a:solidFill>
                <a:schemeClr val="dk1"/>
              </a:solidFill>
              <a:latin typeface="Calibri"/>
              <a:ea typeface="Calibri"/>
              <a:cs typeface="Calibri"/>
              <a:sym typeface="Calibri"/>
            </a:endParaRPr>
          </a:p>
        </p:txBody>
      </p:sp>
      <p:cxnSp>
        <p:nvCxnSpPr>
          <p:cNvPr id="204" name="Google Shape;204;p10"/>
          <p:cNvCxnSpPr/>
          <p:nvPr/>
        </p:nvCxnSpPr>
        <p:spPr>
          <a:xfrm>
            <a:off x="2286000" y="3200400"/>
            <a:ext cx="457200" cy="310896"/>
          </a:xfrm>
          <a:prstGeom prst="straightConnector1">
            <a:avLst/>
          </a:prstGeom>
          <a:noFill/>
          <a:ln cap="flat" cmpd="sng" w="28575">
            <a:solidFill>
              <a:srgbClr val="6E7686"/>
            </a:solidFill>
            <a:prstDash val="solid"/>
            <a:round/>
            <a:headEnd len="sm" w="sm" type="none"/>
            <a:tailEnd len="med" w="med" type="triangle"/>
          </a:ln>
        </p:spPr>
      </p:cxnSp>
      <p:cxnSp>
        <p:nvCxnSpPr>
          <p:cNvPr id="205" name="Google Shape;205;p10"/>
          <p:cNvCxnSpPr/>
          <p:nvPr/>
        </p:nvCxnSpPr>
        <p:spPr>
          <a:xfrm flipH="1" rot="10800000">
            <a:off x="5852160" y="3200400"/>
            <a:ext cx="914400" cy="310896"/>
          </a:xfrm>
          <a:prstGeom prst="straightConnector1">
            <a:avLst/>
          </a:prstGeom>
          <a:noFill/>
          <a:ln cap="flat" cmpd="sng" w="28575">
            <a:solidFill>
              <a:srgbClr val="6E7686"/>
            </a:solidFill>
            <a:prstDash val="solid"/>
            <a:round/>
            <a:headEnd len="sm" w="sm" type="none"/>
            <a:tailEnd len="med" w="med" type="triangle"/>
          </a:ln>
        </p:spPr>
      </p:cxnSp>
      <p:sp>
        <p:nvSpPr>
          <p:cNvPr id="206" name="Google Shape;206;p10"/>
          <p:cNvSpPr/>
          <p:nvPr/>
        </p:nvSpPr>
        <p:spPr>
          <a:xfrm>
            <a:off x="2743200" y="4041648"/>
            <a:ext cx="3108960" cy="658368"/>
          </a:xfrm>
          <a:prstGeom prst="roundRect">
            <a:avLst>
              <a:gd fmla="val 9722" name="adj"/>
            </a:avLst>
          </a:prstGeom>
          <a:solidFill>
            <a:srgbClr val="FFFFFF"/>
          </a:solidFill>
          <a:ln cap="flat" cmpd="sng" w="12700">
            <a:solidFill>
              <a:srgbClr val="E2DCCE"/>
            </a:solidFill>
            <a:prstDash val="solid"/>
            <a:round/>
            <a:headEnd len="sm" w="sm" type="none"/>
            <a:tailEnd len="sm" w="sm" type="none"/>
          </a:ln>
          <a:effectLst>
            <a:outerShdw blurRad="88900" rotWithShape="0" algn="bl" dir="5400000" dist="38100">
              <a:srgbClr val="000000">
                <a:alpha val="1294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 name="Google Shape;207;p10"/>
          <p:cNvSpPr/>
          <p:nvPr/>
        </p:nvSpPr>
        <p:spPr>
          <a:xfrm>
            <a:off x="2926080" y="4041648"/>
            <a:ext cx="2743200" cy="6583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2536"/>
              </a:buClr>
              <a:buSzPts val="1250"/>
              <a:buFont typeface="Calibri"/>
              <a:buNone/>
            </a:pPr>
            <a:r>
              <a:rPr b="1" i="0" lang="en-US" sz="1250" u="none" cap="none" strike="noStrike">
                <a:solidFill>
                  <a:srgbClr val="1D2536"/>
                </a:solidFill>
                <a:latin typeface="Calibri"/>
                <a:ea typeface="Calibri"/>
                <a:cs typeface="Calibri"/>
                <a:sym typeface="Calibri"/>
              </a:rPr>
              <a:t>Competitive   </a:t>
            </a:r>
            <a:r>
              <a:rPr b="1" i="0" lang="en-US" sz="1200" u="none" cap="none" strike="noStrike">
                <a:solidFill>
                  <a:srgbClr val="4682B4"/>
                </a:solidFill>
                <a:latin typeface="Calibri"/>
                <a:ea typeface="Calibri"/>
                <a:cs typeface="Calibri"/>
                <a:sym typeface="Calibri"/>
              </a:rPr>
              <a:t>15%</a:t>
            </a:r>
            <a:endParaRPr b="0" i="0" sz="1250" u="none" cap="none" strike="noStrike">
              <a:solidFill>
                <a:schemeClr val="dk1"/>
              </a:solidFill>
              <a:latin typeface="Calibri"/>
              <a:ea typeface="Calibri"/>
              <a:cs typeface="Calibri"/>
              <a:sym typeface="Calibri"/>
            </a:endParaRPr>
          </a:p>
        </p:txBody>
      </p:sp>
      <p:cxnSp>
        <p:nvCxnSpPr>
          <p:cNvPr id="208" name="Google Shape;208;p10"/>
          <p:cNvCxnSpPr/>
          <p:nvPr/>
        </p:nvCxnSpPr>
        <p:spPr>
          <a:xfrm>
            <a:off x="2286000" y="3200400"/>
            <a:ext cx="457200" cy="1170432"/>
          </a:xfrm>
          <a:prstGeom prst="straightConnector1">
            <a:avLst/>
          </a:prstGeom>
          <a:noFill/>
          <a:ln cap="flat" cmpd="sng" w="28575">
            <a:solidFill>
              <a:srgbClr val="6E7686"/>
            </a:solidFill>
            <a:prstDash val="solid"/>
            <a:round/>
            <a:headEnd len="sm" w="sm" type="none"/>
            <a:tailEnd len="med" w="med" type="triangle"/>
          </a:ln>
        </p:spPr>
      </p:cxnSp>
      <p:cxnSp>
        <p:nvCxnSpPr>
          <p:cNvPr id="209" name="Google Shape;209;p10"/>
          <p:cNvCxnSpPr/>
          <p:nvPr/>
        </p:nvCxnSpPr>
        <p:spPr>
          <a:xfrm flipH="1" rot="10800000">
            <a:off x="5852160" y="3200400"/>
            <a:ext cx="914400" cy="1170432"/>
          </a:xfrm>
          <a:prstGeom prst="straightConnector1">
            <a:avLst/>
          </a:prstGeom>
          <a:noFill/>
          <a:ln cap="flat" cmpd="sng" w="28575">
            <a:solidFill>
              <a:srgbClr val="6E7686"/>
            </a:solidFill>
            <a:prstDash val="solid"/>
            <a:round/>
            <a:headEnd len="sm" w="sm" type="none"/>
            <a:tailEnd len="med" w="med" type="triangle"/>
          </a:ln>
        </p:spPr>
      </p:cxnSp>
      <p:sp>
        <p:nvSpPr>
          <p:cNvPr id="210" name="Google Shape;210;p10"/>
          <p:cNvSpPr/>
          <p:nvPr/>
        </p:nvSpPr>
        <p:spPr>
          <a:xfrm>
            <a:off x="2743200" y="4901184"/>
            <a:ext cx="3108960" cy="658368"/>
          </a:xfrm>
          <a:prstGeom prst="roundRect">
            <a:avLst>
              <a:gd fmla="val 9722" name="adj"/>
            </a:avLst>
          </a:prstGeom>
          <a:solidFill>
            <a:srgbClr val="FFFFFF"/>
          </a:solidFill>
          <a:ln cap="flat" cmpd="sng" w="12700">
            <a:solidFill>
              <a:srgbClr val="E2DCCE"/>
            </a:solidFill>
            <a:prstDash val="solid"/>
            <a:round/>
            <a:headEnd len="sm" w="sm" type="none"/>
            <a:tailEnd len="sm" w="sm" type="none"/>
          </a:ln>
          <a:effectLst>
            <a:outerShdw blurRad="88900" rotWithShape="0" algn="bl" dir="5400000" dist="38100">
              <a:srgbClr val="000000">
                <a:alpha val="1294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 name="Google Shape;211;p10"/>
          <p:cNvSpPr/>
          <p:nvPr/>
        </p:nvSpPr>
        <p:spPr>
          <a:xfrm>
            <a:off x="2926080" y="4901184"/>
            <a:ext cx="2743200" cy="6583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2536"/>
              </a:buClr>
              <a:buSzPts val="1250"/>
              <a:buFont typeface="Calibri"/>
              <a:buNone/>
            </a:pPr>
            <a:r>
              <a:rPr b="1" i="0" lang="en-US" sz="1250" u="none" cap="none" strike="noStrike">
                <a:solidFill>
                  <a:srgbClr val="1D2536"/>
                </a:solidFill>
                <a:latin typeface="Calibri"/>
                <a:ea typeface="Calibri"/>
                <a:cs typeface="Calibri"/>
                <a:sym typeface="Calibri"/>
              </a:rPr>
              <a:t>Outreach   </a:t>
            </a:r>
            <a:r>
              <a:rPr b="1" i="0" lang="en-US" sz="1200" u="none" cap="none" strike="noStrike">
                <a:solidFill>
                  <a:srgbClr val="4682B4"/>
                </a:solidFill>
                <a:latin typeface="Calibri"/>
                <a:ea typeface="Calibri"/>
                <a:cs typeface="Calibri"/>
                <a:sym typeface="Calibri"/>
              </a:rPr>
              <a:t>20%</a:t>
            </a:r>
            <a:endParaRPr b="0" i="0" sz="1250" u="none" cap="none" strike="noStrike">
              <a:solidFill>
                <a:schemeClr val="dk1"/>
              </a:solidFill>
              <a:latin typeface="Calibri"/>
              <a:ea typeface="Calibri"/>
              <a:cs typeface="Calibri"/>
              <a:sym typeface="Calibri"/>
            </a:endParaRPr>
          </a:p>
        </p:txBody>
      </p:sp>
      <p:cxnSp>
        <p:nvCxnSpPr>
          <p:cNvPr id="212" name="Google Shape;212;p10"/>
          <p:cNvCxnSpPr/>
          <p:nvPr/>
        </p:nvCxnSpPr>
        <p:spPr>
          <a:xfrm>
            <a:off x="2286000" y="3200400"/>
            <a:ext cx="457200" cy="2029968"/>
          </a:xfrm>
          <a:prstGeom prst="straightConnector1">
            <a:avLst/>
          </a:prstGeom>
          <a:noFill/>
          <a:ln cap="flat" cmpd="sng" w="28575">
            <a:solidFill>
              <a:srgbClr val="6E7686"/>
            </a:solidFill>
            <a:prstDash val="solid"/>
            <a:round/>
            <a:headEnd len="sm" w="sm" type="none"/>
            <a:tailEnd len="med" w="med" type="triangle"/>
          </a:ln>
        </p:spPr>
      </p:cxnSp>
      <p:cxnSp>
        <p:nvCxnSpPr>
          <p:cNvPr id="213" name="Google Shape;213;p10"/>
          <p:cNvCxnSpPr/>
          <p:nvPr/>
        </p:nvCxnSpPr>
        <p:spPr>
          <a:xfrm flipH="1" rot="10800000">
            <a:off x="5852160" y="3200400"/>
            <a:ext cx="914400" cy="2029968"/>
          </a:xfrm>
          <a:prstGeom prst="straightConnector1">
            <a:avLst/>
          </a:prstGeom>
          <a:noFill/>
          <a:ln cap="flat" cmpd="sng" w="28575">
            <a:solidFill>
              <a:srgbClr val="6E7686"/>
            </a:solidFill>
            <a:prstDash val="solid"/>
            <a:round/>
            <a:headEnd len="sm" w="sm" type="none"/>
            <a:tailEnd len="med" w="med" type="triangle"/>
          </a:ln>
        </p:spPr>
      </p:cxnSp>
      <p:sp>
        <p:nvSpPr>
          <p:cNvPr id="214" name="Google Shape;214;p10"/>
          <p:cNvSpPr/>
          <p:nvPr/>
        </p:nvSpPr>
        <p:spPr>
          <a:xfrm>
            <a:off x="6766560" y="2743200"/>
            <a:ext cx="1554480" cy="914400"/>
          </a:xfrm>
          <a:prstGeom prst="roundRect">
            <a:avLst>
              <a:gd fmla="val 9000" name="adj"/>
            </a:avLst>
          </a:prstGeom>
          <a:solidFill>
            <a:srgbClr val="E7EEF5"/>
          </a:solidFill>
          <a:ln cap="flat" cmpd="sng" w="12700">
            <a:solidFill>
              <a:srgbClr val="E7EEF5"/>
            </a:solidFill>
            <a:prstDash val="solid"/>
            <a:round/>
            <a:headEnd len="sm" w="sm" type="none"/>
            <a:tailEnd len="sm" w="sm" type="none"/>
          </a:ln>
          <a:effectLst>
            <a:outerShdw blurRad="88900" rotWithShape="0" algn="bl" dir="5400000" dist="38100">
              <a:srgbClr val="000000">
                <a:alpha val="1294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 name="Google Shape;215;p10"/>
          <p:cNvSpPr/>
          <p:nvPr/>
        </p:nvSpPr>
        <p:spPr>
          <a:xfrm>
            <a:off x="6766560" y="2743200"/>
            <a:ext cx="1554480" cy="914400"/>
          </a:xfrm>
          <a:prstGeom prst="rect">
            <a:avLst/>
          </a:prstGeom>
          <a:noFill/>
          <a:ln>
            <a:noFill/>
          </a:ln>
        </p:spPr>
        <p:txBody>
          <a:bodyPr anchorCtr="0" anchor="ctr" bIns="50800" lIns="50800" spcFirstLastPara="1" rIns="50800" wrap="square" tIns="50800">
            <a:noAutofit/>
          </a:bodyPr>
          <a:lstStyle/>
          <a:p>
            <a:pPr indent="0" lvl="0" marL="0" marR="0" rtl="0" algn="ctr">
              <a:spcBef>
                <a:spcPts val="0"/>
              </a:spcBef>
              <a:spcAft>
                <a:spcPts val="0"/>
              </a:spcAft>
              <a:buClr>
                <a:srgbClr val="4682B4"/>
              </a:buClr>
              <a:buSzPts val="1250"/>
              <a:buFont typeface="Calibri"/>
              <a:buNone/>
            </a:pPr>
            <a:r>
              <a:rPr b="1" i="0" lang="en-US" sz="1250" u="none" cap="none" strike="noStrike">
                <a:solidFill>
                  <a:srgbClr val="4682B4"/>
                </a:solidFill>
                <a:latin typeface="Calibri"/>
                <a:ea typeface="Calibri"/>
                <a:cs typeface="Calibri"/>
                <a:sym typeface="Calibri"/>
              </a:rPr>
              <a:t>Synthesis</a:t>
            </a:r>
            <a:endParaRPr b="0" i="0" sz="125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6E7686"/>
              </a:buClr>
              <a:buSzPts val="1000"/>
              <a:buFont typeface="Calibri"/>
              <a:buNone/>
            </a:pPr>
            <a:r>
              <a:rPr b="0" i="0" lang="en-US" sz="1000" u="none" cap="none" strike="noStrike">
                <a:solidFill>
                  <a:srgbClr val="6E7686"/>
                </a:solidFill>
                <a:latin typeface="Calibri"/>
                <a:ea typeface="Calibri"/>
                <a:cs typeface="Calibri"/>
                <a:sym typeface="Calibri"/>
              </a:rPr>
              <a:t>weighted avg</a:t>
            </a:r>
            <a:endParaRPr b="0" i="0" sz="1250" u="none" cap="none" strike="noStrike">
              <a:solidFill>
                <a:schemeClr val="dk1"/>
              </a:solidFill>
              <a:latin typeface="Calibri"/>
              <a:ea typeface="Calibri"/>
              <a:cs typeface="Calibri"/>
              <a:sym typeface="Calibri"/>
            </a:endParaRPr>
          </a:p>
        </p:txBody>
      </p:sp>
      <p:sp>
        <p:nvSpPr>
          <p:cNvPr id="216" name="Google Shape;216;p10"/>
          <p:cNvSpPr/>
          <p:nvPr/>
        </p:nvSpPr>
        <p:spPr>
          <a:xfrm>
            <a:off x="8503920" y="2651760"/>
            <a:ext cx="1554480" cy="1097280"/>
          </a:xfrm>
          <a:prstGeom prst="roundRect">
            <a:avLst>
              <a:gd fmla="val 7500" name="adj"/>
            </a:avLst>
          </a:prstGeom>
          <a:solidFill>
            <a:srgbClr val="1D2536"/>
          </a:solidFill>
          <a:ln cap="flat" cmpd="sng" w="12700">
            <a:solidFill>
              <a:srgbClr val="1D2536"/>
            </a:solidFill>
            <a:prstDash val="solid"/>
            <a:round/>
            <a:headEnd len="sm" w="sm" type="none"/>
            <a:tailEnd len="sm" w="sm" type="none"/>
          </a:ln>
          <a:effectLst>
            <a:outerShdw blurRad="88900" rotWithShape="0" algn="bl" dir="5400000" dist="38100">
              <a:srgbClr val="000000">
                <a:alpha val="1294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 name="Google Shape;217;p10"/>
          <p:cNvSpPr/>
          <p:nvPr/>
        </p:nvSpPr>
        <p:spPr>
          <a:xfrm>
            <a:off x="8503920" y="2651760"/>
            <a:ext cx="1554480" cy="10972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800"/>
              <a:buFont typeface="Calibri"/>
              <a:buNone/>
            </a:pPr>
            <a:r>
              <a:rPr b="1" i="0" lang="en-US" sz="1800" u="none" cap="none" strike="noStrike">
                <a:solidFill>
                  <a:srgbClr val="FFFFFF"/>
                </a:solidFill>
                <a:latin typeface="Calibri"/>
                <a:ea typeface="Calibri"/>
                <a:cs typeface="Calibri"/>
                <a:sym typeface="Calibri"/>
              </a:rPr>
              <a:t>0-100</a:t>
            </a:r>
            <a:endParaRPr b="0" i="0" sz="18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4682B4"/>
              </a:buClr>
              <a:buSzPts val="1100"/>
              <a:buFont typeface="Calibri"/>
              <a:buNone/>
            </a:pPr>
            <a:r>
              <a:rPr b="1" i="0" lang="en-US" sz="1100" u="none" cap="none" strike="noStrike">
                <a:solidFill>
                  <a:srgbClr val="4682B4"/>
                </a:solidFill>
                <a:latin typeface="Calibri"/>
                <a:ea typeface="Calibri"/>
                <a:cs typeface="Calibri"/>
                <a:sym typeface="Calibri"/>
              </a:rPr>
              <a:t>score + grade</a:t>
            </a:r>
            <a:endParaRPr b="0" i="0" sz="1800" u="none" cap="none" strike="noStrike">
              <a:solidFill>
                <a:schemeClr val="dk1"/>
              </a:solidFill>
              <a:latin typeface="Calibri"/>
              <a:ea typeface="Calibri"/>
              <a:cs typeface="Calibri"/>
              <a:sym typeface="Calibri"/>
            </a:endParaRPr>
          </a:p>
        </p:txBody>
      </p:sp>
      <p:cxnSp>
        <p:nvCxnSpPr>
          <p:cNvPr id="218" name="Google Shape;218;p10"/>
          <p:cNvCxnSpPr/>
          <p:nvPr/>
        </p:nvCxnSpPr>
        <p:spPr>
          <a:xfrm>
            <a:off x="8321040" y="3200400"/>
            <a:ext cx="182880" cy="0"/>
          </a:xfrm>
          <a:prstGeom prst="straightConnector1">
            <a:avLst/>
          </a:prstGeom>
          <a:noFill/>
          <a:ln cap="flat" cmpd="sng" w="28575">
            <a:solidFill>
              <a:srgbClr val="4682B4"/>
            </a:solidFill>
            <a:prstDash val="solid"/>
            <a:round/>
            <a:headEnd len="sm" w="sm" type="none"/>
            <a:tailEnd len="med" w="med" type="triangle"/>
          </a:ln>
        </p:spPr>
      </p:cxnSp>
      <p:sp>
        <p:nvSpPr>
          <p:cNvPr id="219" name="Google Shape;219;p10"/>
          <p:cNvSpPr/>
          <p:nvPr/>
        </p:nvSpPr>
        <p:spPr>
          <a:xfrm>
            <a:off x="10241280" y="2743200"/>
            <a:ext cx="1371600" cy="914400"/>
          </a:xfrm>
          <a:prstGeom prst="roundRect">
            <a:avLst>
              <a:gd fmla="val 9000" name="adj"/>
            </a:avLst>
          </a:prstGeom>
          <a:solidFill>
            <a:srgbClr val="F2EDE3"/>
          </a:solidFill>
          <a:ln cap="flat" cmpd="sng" w="12700">
            <a:solidFill>
              <a:srgbClr val="F2EDE3"/>
            </a:solidFill>
            <a:prstDash val="solid"/>
            <a:round/>
            <a:headEnd len="sm" w="sm" type="none"/>
            <a:tailEnd len="sm" w="sm" type="none"/>
          </a:ln>
          <a:effectLst>
            <a:outerShdw blurRad="88900" rotWithShape="0" algn="bl" dir="5400000" dist="38100">
              <a:srgbClr val="000000">
                <a:alpha val="1294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 name="Google Shape;220;p10"/>
          <p:cNvSpPr/>
          <p:nvPr/>
        </p:nvSpPr>
        <p:spPr>
          <a:xfrm>
            <a:off x="10241280" y="2743200"/>
            <a:ext cx="1371600" cy="914400"/>
          </a:xfrm>
          <a:prstGeom prst="rect">
            <a:avLst/>
          </a:prstGeom>
          <a:noFill/>
          <a:ln>
            <a:noFill/>
          </a:ln>
        </p:spPr>
        <p:txBody>
          <a:bodyPr anchorCtr="0" anchor="ctr" bIns="50800" lIns="50800" spcFirstLastPara="1" rIns="50800" wrap="square" tIns="50800">
            <a:noAutofit/>
          </a:bodyPr>
          <a:lstStyle/>
          <a:p>
            <a:pPr indent="0" lvl="0" marL="0" marR="0" rtl="0" algn="ctr">
              <a:spcBef>
                <a:spcPts val="0"/>
              </a:spcBef>
              <a:spcAft>
                <a:spcPts val="0"/>
              </a:spcAft>
              <a:buClr>
                <a:srgbClr val="4682B4"/>
              </a:buClr>
              <a:buSzPts val="1250"/>
              <a:buFont typeface="Calibri"/>
              <a:buNone/>
            </a:pPr>
            <a:r>
              <a:rPr b="1" i="0" lang="en-US" sz="1250" u="none" cap="none" strike="noStrike">
                <a:solidFill>
                  <a:srgbClr val="4682B4"/>
                </a:solidFill>
                <a:latin typeface="Calibri"/>
                <a:ea typeface="Calibri"/>
                <a:cs typeface="Calibri"/>
                <a:sym typeface="Calibri"/>
              </a:rPr>
              <a:t>Drafts</a:t>
            </a:r>
            <a:endParaRPr b="0" i="0" sz="125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6E7686"/>
              </a:buClr>
              <a:buSzPts val="1000"/>
              <a:buFont typeface="Calibri"/>
              <a:buNone/>
            </a:pPr>
            <a:r>
              <a:rPr b="0" i="0" lang="en-US" sz="1000" u="none" cap="none" strike="noStrike">
                <a:solidFill>
                  <a:srgbClr val="6E7686"/>
                </a:solidFill>
                <a:latin typeface="Calibri"/>
                <a:ea typeface="Calibri"/>
                <a:cs typeface="Calibri"/>
                <a:sym typeface="Calibri"/>
              </a:rPr>
              <a:t>outreach</a:t>
            </a:r>
            <a:endParaRPr b="0" i="0" sz="1250" u="none" cap="none" strike="noStrike">
              <a:solidFill>
                <a:schemeClr val="dk1"/>
              </a:solidFill>
              <a:latin typeface="Calibri"/>
              <a:ea typeface="Calibri"/>
              <a:cs typeface="Calibri"/>
              <a:sym typeface="Calibri"/>
            </a:endParaRPr>
          </a:p>
        </p:txBody>
      </p:sp>
      <p:cxnSp>
        <p:nvCxnSpPr>
          <p:cNvPr id="221" name="Google Shape;221;p10"/>
          <p:cNvCxnSpPr/>
          <p:nvPr/>
        </p:nvCxnSpPr>
        <p:spPr>
          <a:xfrm>
            <a:off x="10058400" y="3200400"/>
            <a:ext cx="182880" cy="0"/>
          </a:xfrm>
          <a:prstGeom prst="straightConnector1">
            <a:avLst/>
          </a:prstGeom>
          <a:noFill/>
          <a:ln cap="flat" cmpd="sng" w="28575">
            <a:solidFill>
              <a:srgbClr val="4682B4"/>
            </a:solidFill>
            <a:prstDash val="solid"/>
            <a:round/>
            <a:headEnd len="sm" w="sm" type="none"/>
            <a:tailEnd len="med" w="med" type="triangle"/>
          </a:ln>
        </p:spPr>
      </p:cxnSp>
      <p:sp>
        <p:nvSpPr>
          <p:cNvPr id="222" name="Google Shape;222;p10"/>
          <p:cNvSpPr/>
          <p:nvPr/>
        </p:nvSpPr>
        <p:spPr>
          <a:xfrm>
            <a:off x="548640" y="5760720"/>
            <a:ext cx="11064240" cy="54864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0"/>
              </a:spcBef>
              <a:spcAft>
                <a:spcPts val="0"/>
              </a:spcAft>
              <a:buClr>
                <a:srgbClr val="6E7686"/>
              </a:buClr>
              <a:buSzPts val="1250"/>
              <a:buFont typeface="Calibri"/>
              <a:buNone/>
            </a:pPr>
            <a:r>
              <a:rPr b="0" i="1" lang="en-US" sz="1250" u="none" cap="none" strike="noStrike">
                <a:solidFill>
                  <a:srgbClr val="6E7686"/>
                </a:solidFill>
                <a:latin typeface="Calibri"/>
                <a:ea typeface="Calibri"/>
                <a:cs typeface="Calibri"/>
                <a:sym typeface="Calibri"/>
              </a:rPr>
              <a:t>Adapted from a proven Claude Code build: fourteen commands, five parallel agents, BANT and MEDDIC qualification, every prompt sharpened by Kajiro first.</a:t>
            </a:r>
            <a:endParaRPr b="0" i="0" sz="1250" u="none" cap="none" strike="noStrike">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7F1"/>
        </a:solidFill>
      </p:bgPr>
    </p:bg>
    <p:spTree>
      <p:nvGrpSpPr>
        <p:cNvPr id="227" name="Shape 227"/>
        <p:cNvGrpSpPr/>
        <p:nvPr/>
      </p:nvGrpSpPr>
      <p:grpSpPr>
        <a:xfrm>
          <a:off x="0" y="0"/>
          <a:ext cx="0" cy="0"/>
          <a:chOff x="0" y="0"/>
          <a:chExt cx="0" cy="0"/>
        </a:xfrm>
      </p:grpSpPr>
      <p:sp>
        <p:nvSpPr>
          <p:cNvPr id="228" name="Google Shape;228;p11"/>
          <p:cNvSpPr/>
          <p:nvPr/>
        </p:nvSpPr>
        <p:spPr>
          <a:xfrm>
            <a:off x="548640" y="384048"/>
            <a:ext cx="1106424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682B4"/>
              </a:buClr>
              <a:buSzPts val="1200"/>
              <a:buFont typeface="Calibri"/>
              <a:buNone/>
            </a:pPr>
            <a:r>
              <a:rPr b="1" i="0" lang="en-US" sz="1200" u="none" cap="none" strike="noStrike">
                <a:solidFill>
                  <a:srgbClr val="4682B4"/>
                </a:solidFill>
                <a:latin typeface="Calibri"/>
                <a:ea typeface="Calibri"/>
                <a:cs typeface="Calibri"/>
                <a:sym typeface="Calibri"/>
              </a:rPr>
              <a:t>WHO WE GO AFTER, THE ICPS</a:t>
            </a:r>
            <a:endParaRPr b="0" i="0" sz="1200" u="none" cap="none" strike="noStrike">
              <a:solidFill>
                <a:schemeClr val="dk1"/>
              </a:solidFill>
              <a:latin typeface="Calibri"/>
              <a:ea typeface="Calibri"/>
              <a:cs typeface="Calibri"/>
              <a:sym typeface="Calibri"/>
            </a:endParaRPr>
          </a:p>
        </p:txBody>
      </p:sp>
      <p:sp>
        <p:nvSpPr>
          <p:cNvPr id="229" name="Google Shape;229;p11"/>
          <p:cNvSpPr/>
          <p:nvPr/>
        </p:nvSpPr>
        <p:spPr>
          <a:xfrm>
            <a:off x="548640" y="658368"/>
            <a:ext cx="11064240"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2536"/>
              </a:buClr>
              <a:buSzPts val="2700"/>
              <a:buFont typeface="Calibri"/>
              <a:buNone/>
            </a:pPr>
            <a:r>
              <a:rPr b="1" i="0" lang="en-US" sz="2700" u="none" cap="none" strike="noStrike">
                <a:solidFill>
                  <a:srgbClr val="1D2536"/>
                </a:solidFill>
                <a:latin typeface="Calibri"/>
                <a:ea typeface="Calibri"/>
                <a:cs typeface="Calibri"/>
                <a:sym typeface="Calibri"/>
              </a:rPr>
              <a:t>Four AltoLumo profiles, configurable</a:t>
            </a:r>
            <a:endParaRPr b="0" i="0" sz="2700" u="none" cap="none" strike="noStrike">
              <a:solidFill>
                <a:schemeClr val="dk1"/>
              </a:solidFill>
              <a:latin typeface="Calibri"/>
              <a:ea typeface="Calibri"/>
              <a:cs typeface="Calibri"/>
              <a:sym typeface="Calibri"/>
            </a:endParaRPr>
          </a:p>
        </p:txBody>
      </p:sp>
      <p:sp>
        <p:nvSpPr>
          <p:cNvPr id="230" name="Google Shape;230;p11"/>
          <p:cNvSpPr/>
          <p:nvPr/>
        </p:nvSpPr>
        <p:spPr>
          <a:xfrm>
            <a:off x="548640" y="1600200"/>
            <a:ext cx="2651760" cy="2377440"/>
          </a:xfrm>
          <a:prstGeom prst="roundRect">
            <a:avLst>
              <a:gd fmla="val 3077" name="adj"/>
            </a:avLst>
          </a:prstGeom>
          <a:solidFill>
            <a:srgbClr val="FFFFFF"/>
          </a:solidFill>
          <a:ln cap="flat" cmpd="sng" w="12700">
            <a:solidFill>
              <a:srgbClr val="E2DCCE"/>
            </a:solidFill>
            <a:prstDash val="solid"/>
            <a:round/>
            <a:headEnd len="sm" w="sm" type="none"/>
            <a:tailEnd len="sm" w="sm" type="none"/>
          </a:ln>
          <a:effectLst>
            <a:outerShdw blurRad="88900" rotWithShape="0" algn="bl" dir="5400000" dist="38100">
              <a:srgbClr val="000000">
                <a:alpha val="1294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 name="Google Shape;231;p11"/>
          <p:cNvSpPr/>
          <p:nvPr/>
        </p:nvSpPr>
        <p:spPr>
          <a:xfrm>
            <a:off x="804672" y="1874520"/>
            <a:ext cx="146304" cy="146304"/>
          </a:xfrm>
          <a:prstGeom prst="ellipse">
            <a:avLst/>
          </a:prstGeom>
          <a:solidFill>
            <a:srgbClr val="4682B4"/>
          </a:solidFill>
          <a:ln cap="flat" cmpd="sng" w="12700">
            <a:solidFill>
              <a:srgbClr val="4682B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 name="Google Shape;232;p11"/>
          <p:cNvSpPr/>
          <p:nvPr/>
        </p:nvSpPr>
        <p:spPr>
          <a:xfrm>
            <a:off x="1051560" y="1801368"/>
            <a:ext cx="196596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2536"/>
              </a:buClr>
              <a:buSzPts val="1500"/>
              <a:buFont typeface="Calibri"/>
              <a:buNone/>
            </a:pPr>
            <a:r>
              <a:rPr b="1" i="0" lang="en-US" sz="1500" u="none" cap="none" strike="noStrike">
                <a:solidFill>
                  <a:srgbClr val="1D2536"/>
                </a:solidFill>
                <a:latin typeface="Calibri"/>
                <a:ea typeface="Calibri"/>
                <a:cs typeface="Calibri"/>
                <a:sym typeface="Calibri"/>
              </a:rPr>
              <a:t>Founder Advisory</a:t>
            </a:r>
            <a:endParaRPr b="0" i="0" sz="1500" u="none" cap="none" strike="noStrike">
              <a:solidFill>
                <a:schemeClr val="dk1"/>
              </a:solidFill>
              <a:latin typeface="Calibri"/>
              <a:ea typeface="Calibri"/>
              <a:cs typeface="Calibri"/>
              <a:sym typeface="Calibri"/>
            </a:endParaRPr>
          </a:p>
        </p:txBody>
      </p:sp>
      <p:sp>
        <p:nvSpPr>
          <p:cNvPr id="233" name="Google Shape;233;p11"/>
          <p:cNvSpPr/>
          <p:nvPr/>
        </p:nvSpPr>
        <p:spPr>
          <a:xfrm>
            <a:off x="804672" y="2423160"/>
            <a:ext cx="2139696" cy="777240"/>
          </a:xfrm>
          <a:prstGeom prst="rect">
            <a:avLst/>
          </a:prstGeom>
          <a:noFill/>
          <a:ln>
            <a:noFill/>
          </a:ln>
        </p:spPr>
        <p:txBody>
          <a:bodyPr anchorCtr="0" anchor="ctr" bIns="0" lIns="0" spcFirstLastPara="1" rIns="0" wrap="square" tIns="0">
            <a:noAutofit/>
          </a:bodyPr>
          <a:lstStyle/>
          <a:p>
            <a:pPr indent="0" lvl="0" marL="0" marR="0" rtl="0" algn="l">
              <a:lnSpc>
                <a:spcPct val="115000"/>
              </a:lnSpc>
              <a:spcBef>
                <a:spcPts val="0"/>
              </a:spcBef>
              <a:spcAft>
                <a:spcPts val="0"/>
              </a:spcAft>
              <a:buClr>
                <a:srgbClr val="1D2536"/>
              </a:buClr>
              <a:buSzPts val="1200"/>
              <a:buFont typeface="Calibri"/>
              <a:buNone/>
            </a:pPr>
            <a:r>
              <a:rPr b="0" i="0" lang="en-US" sz="1200" u="none" cap="none" strike="noStrike">
                <a:solidFill>
                  <a:srgbClr val="1D2536"/>
                </a:solidFill>
                <a:latin typeface="Calibri"/>
                <a:ea typeface="Calibri"/>
                <a:cs typeface="Calibri"/>
                <a:sym typeface="Calibri"/>
              </a:rPr>
              <a:t>Pre-seed and seed founders</a:t>
            </a:r>
            <a:endParaRPr b="0" i="0" sz="1200" u="none" cap="none" strike="noStrike">
              <a:solidFill>
                <a:schemeClr val="dk1"/>
              </a:solidFill>
              <a:latin typeface="Calibri"/>
              <a:ea typeface="Calibri"/>
              <a:cs typeface="Calibri"/>
              <a:sym typeface="Calibri"/>
            </a:endParaRPr>
          </a:p>
        </p:txBody>
      </p:sp>
      <p:sp>
        <p:nvSpPr>
          <p:cNvPr id="234" name="Google Shape;234;p11"/>
          <p:cNvSpPr/>
          <p:nvPr/>
        </p:nvSpPr>
        <p:spPr>
          <a:xfrm>
            <a:off x="804672" y="3291840"/>
            <a:ext cx="2139696" cy="548640"/>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Clr>
                <a:srgbClr val="4682B4"/>
              </a:buClr>
              <a:buSzPts val="1050"/>
              <a:buFont typeface="Calibri"/>
              <a:buNone/>
            </a:pPr>
            <a:r>
              <a:rPr b="1" i="0" lang="en-US" sz="1050" u="none" cap="none" strike="noStrike">
                <a:solidFill>
                  <a:srgbClr val="4682B4"/>
                </a:solidFill>
                <a:latin typeface="Calibri"/>
                <a:ea typeface="Calibri"/>
                <a:cs typeface="Calibri"/>
                <a:sym typeface="Calibri"/>
              </a:rPr>
              <a:t>Signals: </a:t>
            </a:r>
            <a:r>
              <a:rPr b="0" i="0" lang="en-US" sz="1050" u="none" cap="none" strike="noStrike">
                <a:solidFill>
                  <a:srgbClr val="6E7686"/>
                </a:solidFill>
                <a:latin typeface="Calibri"/>
                <a:ea typeface="Calibri"/>
                <a:cs typeface="Calibri"/>
                <a:sym typeface="Calibri"/>
              </a:rPr>
              <a:t>Recent founding, first hire</a:t>
            </a:r>
            <a:endParaRPr b="0" i="0" sz="1050" u="none" cap="none" strike="noStrike">
              <a:solidFill>
                <a:schemeClr val="dk1"/>
              </a:solidFill>
              <a:latin typeface="Calibri"/>
              <a:ea typeface="Calibri"/>
              <a:cs typeface="Calibri"/>
              <a:sym typeface="Calibri"/>
            </a:endParaRPr>
          </a:p>
        </p:txBody>
      </p:sp>
      <p:sp>
        <p:nvSpPr>
          <p:cNvPr id="235" name="Google Shape;235;p11"/>
          <p:cNvSpPr/>
          <p:nvPr/>
        </p:nvSpPr>
        <p:spPr>
          <a:xfrm>
            <a:off x="3319272" y="1600200"/>
            <a:ext cx="2651760" cy="2377440"/>
          </a:xfrm>
          <a:prstGeom prst="roundRect">
            <a:avLst>
              <a:gd fmla="val 3077" name="adj"/>
            </a:avLst>
          </a:prstGeom>
          <a:solidFill>
            <a:srgbClr val="FFFFFF"/>
          </a:solidFill>
          <a:ln cap="flat" cmpd="sng" w="25400">
            <a:solidFill>
              <a:srgbClr val="4682B4"/>
            </a:solidFill>
            <a:prstDash val="solid"/>
            <a:round/>
            <a:headEnd len="sm" w="sm" type="none"/>
            <a:tailEnd len="sm" w="sm" type="none"/>
          </a:ln>
          <a:effectLst>
            <a:outerShdw blurRad="88900" rotWithShape="0" algn="bl" dir="5400000" dist="38100">
              <a:srgbClr val="000000">
                <a:alpha val="1294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 name="Google Shape;236;p11"/>
          <p:cNvSpPr/>
          <p:nvPr/>
        </p:nvSpPr>
        <p:spPr>
          <a:xfrm>
            <a:off x="3867912" y="1435608"/>
            <a:ext cx="1554480" cy="329184"/>
          </a:xfrm>
          <a:prstGeom prst="roundRect">
            <a:avLst>
              <a:gd fmla="val 50000" name="adj"/>
            </a:avLst>
          </a:prstGeom>
          <a:solidFill>
            <a:srgbClr val="4682B4"/>
          </a:solidFill>
          <a:ln cap="flat" cmpd="sng" w="12700">
            <a:solidFill>
              <a:srgbClr val="4682B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 name="Google Shape;237;p11"/>
          <p:cNvSpPr/>
          <p:nvPr/>
        </p:nvSpPr>
        <p:spPr>
          <a:xfrm>
            <a:off x="3867912" y="1435608"/>
            <a:ext cx="1554480" cy="32918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00"/>
              <a:buFont typeface="Calibri"/>
              <a:buNone/>
            </a:pPr>
            <a:r>
              <a:rPr b="1" i="0" lang="en-US" sz="900" u="none" cap="none" strike="noStrike">
                <a:solidFill>
                  <a:srgbClr val="FFFFFF"/>
                </a:solidFill>
                <a:latin typeface="Calibri"/>
                <a:ea typeface="Calibri"/>
                <a:cs typeface="Calibri"/>
                <a:sym typeface="Calibri"/>
              </a:rPr>
              <a:t>PRIMARY</a:t>
            </a:r>
            <a:endParaRPr b="0" i="0" sz="900" u="none" cap="none" strike="noStrike">
              <a:solidFill>
                <a:schemeClr val="dk1"/>
              </a:solidFill>
              <a:latin typeface="Calibri"/>
              <a:ea typeface="Calibri"/>
              <a:cs typeface="Calibri"/>
              <a:sym typeface="Calibri"/>
            </a:endParaRPr>
          </a:p>
        </p:txBody>
      </p:sp>
      <p:sp>
        <p:nvSpPr>
          <p:cNvPr id="238" name="Google Shape;238;p11"/>
          <p:cNvSpPr/>
          <p:nvPr/>
        </p:nvSpPr>
        <p:spPr>
          <a:xfrm>
            <a:off x="3575304" y="1874520"/>
            <a:ext cx="146304" cy="146304"/>
          </a:xfrm>
          <a:prstGeom prst="ellipse">
            <a:avLst/>
          </a:prstGeom>
          <a:solidFill>
            <a:srgbClr val="4682B4"/>
          </a:solidFill>
          <a:ln cap="flat" cmpd="sng" w="12700">
            <a:solidFill>
              <a:srgbClr val="4682B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 name="Google Shape;239;p11"/>
          <p:cNvSpPr/>
          <p:nvPr/>
        </p:nvSpPr>
        <p:spPr>
          <a:xfrm>
            <a:off x="3822192" y="1801368"/>
            <a:ext cx="196596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2536"/>
              </a:buClr>
              <a:buSzPts val="1500"/>
              <a:buFont typeface="Calibri"/>
              <a:buNone/>
            </a:pPr>
            <a:r>
              <a:rPr b="1" i="0" lang="en-US" sz="1500" u="none" cap="none" strike="noStrike">
                <a:solidFill>
                  <a:srgbClr val="1D2536"/>
                </a:solidFill>
                <a:latin typeface="Calibri"/>
                <a:ea typeface="Calibri"/>
                <a:cs typeface="Calibri"/>
                <a:sym typeface="Calibri"/>
              </a:rPr>
              <a:t>Embedded Executive</a:t>
            </a:r>
            <a:endParaRPr b="0" i="0" sz="1500" u="none" cap="none" strike="noStrike">
              <a:solidFill>
                <a:schemeClr val="dk1"/>
              </a:solidFill>
              <a:latin typeface="Calibri"/>
              <a:ea typeface="Calibri"/>
              <a:cs typeface="Calibri"/>
              <a:sym typeface="Calibri"/>
            </a:endParaRPr>
          </a:p>
        </p:txBody>
      </p:sp>
      <p:sp>
        <p:nvSpPr>
          <p:cNvPr id="240" name="Google Shape;240;p11"/>
          <p:cNvSpPr/>
          <p:nvPr/>
        </p:nvSpPr>
        <p:spPr>
          <a:xfrm>
            <a:off x="3575304" y="2423160"/>
            <a:ext cx="2139696" cy="777240"/>
          </a:xfrm>
          <a:prstGeom prst="rect">
            <a:avLst/>
          </a:prstGeom>
          <a:noFill/>
          <a:ln>
            <a:noFill/>
          </a:ln>
        </p:spPr>
        <p:txBody>
          <a:bodyPr anchorCtr="0" anchor="ctr" bIns="0" lIns="0" spcFirstLastPara="1" rIns="0" wrap="square" tIns="0">
            <a:noAutofit/>
          </a:bodyPr>
          <a:lstStyle/>
          <a:p>
            <a:pPr indent="0" lvl="0" marL="0" marR="0" rtl="0" algn="l">
              <a:lnSpc>
                <a:spcPct val="115000"/>
              </a:lnSpc>
              <a:spcBef>
                <a:spcPts val="0"/>
              </a:spcBef>
              <a:spcAft>
                <a:spcPts val="0"/>
              </a:spcAft>
              <a:buClr>
                <a:srgbClr val="1D2536"/>
              </a:buClr>
              <a:buSzPts val="1200"/>
              <a:buFont typeface="Calibri"/>
              <a:buNone/>
            </a:pPr>
            <a:r>
              <a:rPr b="0" i="0" lang="en-US" sz="1200" u="none" cap="none" strike="noStrike">
                <a:solidFill>
                  <a:srgbClr val="1D2536"/>
                </a:solidFill>
                <a:latin typeface="Calibri"/>
                <a:ea typeface="Calibri"/>
                <a:cs typeface="Calibri"/>
                <a:sym typeface="Calibri"/>
              </a:rPr>
              <a:t>Seed to Series A, a CTO or COO seat</a:t>
            </a:r>
            <a:endParaRPr b="0" i="0" sz="1200" u="none" cap="none" strike="noStrike">
              <a:solidFill>
                <a:schemeClr val="dk1"/>
              </a:solidFill>
              <a:latin typeface="Calibri"/>
              <a:ea typeface="Calibri"/>
              <a:cs typeface="Calibri"/>
              <a:sym typeface="Calibri"/>
            </a:endParaRPr>
          </a:p>
        </p:txBody>
      </p:sp>
      <p:sp>
        <p:nvSpPr>
          <p:cNvPr id="241" name="Google Shape;241;p11"/>
          <p:cNvSpPr/>
          <p:nvPr/>
        </p:nvSpPr>
        <p:spPr>
          <a:xfrm>
            <a:off x="3575304" y="3291840"/>
            <a:ext cx="2139696" cy="548640"/>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Clr>
                <a:srgbClr val="4682B4"/>
              </a:buClr>
              <a:buSzPts val="1050"/>
              <a:buFont typeface="Calibri"/>
              <a:buNone/>
            </a:pPr>
            <a:r>
              <a:rPr b="1" i="0" lang="en-US" sz="1050" u="none" cap="none" strike="noStrike">
                <a:solidFill>
                  <a:srgbClr val="4682B4"/>
                </a:solidFill>
                <a:latin typeface="Calibri"/>
                <a:ea typeface="Calibri"/>
                <a:cs typeface="Calibri"/>
                <a:sym typeface="Calibri"/>
              </a:rPr>
              <a:t>Signals: </a:t>
            </a:r>
            <a:r>
              <a:rPr b="0" i="0" lang="en-US" sz="1050" u="none" cap="none" strike="noStrike">
                <a:solidFill>
                  <a:srgbClr val="6E7686"/>
                </a:solidFill>
                <a:latin typeface="Calibri"/>
                <a:ea typeface="Calibri"/>
                <a:cs typeface="Calibri"/>
                <a:sym typeface="Calibri"/>
              </a:rPr>
              <a:t>Funding, open leadership roles</a:t>
            </a:r>
            <a:endParaRPr b="0" i="0" sz="1050" u="none" cap="none" strike="noStrike">
              <a:solidFill>
                <a:schemeClr val="dk1"/>
              </a:solidFill>
              <a:latin typeface="Calibri"/>
              <a:ea typeface="Calibri"/>
              <a:cs typeface="Calibri"/>
              <a:sym typeface="Calibri"/>
            </a:endParaRPr>
          </a:p>
        </p:txBody>
      </p:sp>
      <p:sp>
        <p:nvSpPr>
          <p:cNvPr id="242" name="Google Shape;242;p11"/>
          <p:cNvSpPr/>
          <p:nvPr/>
        </p:nvSpPr>
        <p:spPr>
          <a:xfrm>
            <a:off x="6089904" y="1600200"/>
            <a:ext cx="2651760" cy="2377440"/>
          </a:xfrm>
          <a:prstGeom prst="roundRect">
            <a:avLst>
              <a:gd fmla="val 3077" name="adj"/>
            </a:avLst>
          </a:prstGeom>
          <a:solidFill>
            <a:srgbClr val="FFFFFF"/>
          </a:solidFill>
          <a:ln cap="flat" cmpd="sng" w="12700">
            <a:solidFill>
              <a:srgbClr val="E2DCCE"/>
            </a:solidFill>
            <a:prstDash val="solid"/>
            <a:round/>
            <a:headEnd len="sm" w="sm" type="none"/>
            <a:tailEnd len="sm" w="sm" type="none"/>
          </a:ln>
          <a:effectLst>
            <a:outerShdw blurRad="88900" rotWithShape="0" algn="bl" dir="5400000" dist="38100">
              <a:srgbClr val="000000">
                <a:alpha val="1294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 name="Google Shape;243;p11"/>
          <p:cNvSpPr/>
          <p:nvPr/>
        </p:nvSpPr>
        <p:spPr>
          <a:xfrm>
            <a:off x="6345936" y="1874520"/>
            <a:ext cx="146304" cy="146304"/>
          </a:xfrm>
          <a:prstGeom prst="ellipse">
            <a:avLst/>
          </a:prstGeom>
          <a:solidFill>
            <a:srgbClr val="1F4E79"/>
          </a:solidFill>
          <a:ln cap="flat" cmpd="sng" w="12700">
            <a:solidFill>
              <a:srgbClr val="1F4E7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 name="Google Shape;244;p11"/>
          <p:cNvSpPr/>
          <p:nvPr/>
        </p:nvSpPr>
        <p:spPr>
          <a:xfrm>
            <a:off x="6592824" y="1801368"/>
            <a:ext cx="196596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2536"/>
              </a:buClr>
              <a:buSzPts val="1500"/>
              <a:buFont typeface="Calibri"/>
              <a:buNone/>
            </a:pPr>
            <a:r>
              <a:rPr b="1" i="0" lang="en-US" sz="1500" u="none" cap="none" strike="noStrike">
                <a:solidFill>
                  <a:srgbClr val="1D2536"/>
                </a:solidFill>
                <a:latin typeface="Calibri"/>
                <a:ea typeface="Calibri"/>
                <a:cs typeface="Calibri"/>
                <a:sym typeface="Calibri"/>
              </a:rPr>
              <a:t>Growth Operator</a:t>
            </a:r>
            <a:endParaRPr b="0" i="0" sz="1500" u="none" cap="none" strike="noStrike">
              <a:solidFill>
                <a:schemeClr val="dk1"/>
              </a:solidFill>
              <a:latin typeface="Calibri"/>
              <a:ea typeface="Calibri"/>
              <a:cs typeface="Calibri"/>
              <a:sym typeface="Calibri"/>
            </a:endParaRPr>
          </a:p>
        </p:txBody>
      </p:sp>
      <p:sp>
        <p:nvSpPr>
          <p:cNvPr id="245" name="Google Shape;245;p11"/>
          <p:cNvSpPr/>
          <p:nvPr/>
        </p:nvSpPr>
        <p:spPr>
          <a:xfrm>
            <a:off x="6345936" y="2423160"/>
            <a:ext cx="2139696" cy="777240"/>
          </a:xfrm>
          <a:prstGeom prst="rect">
            <a:avLst/>
          </a:prstGeom>
          <a:noFill/>
          <a:ln>
            <a:noFill/>
          </a:ln>
        </p:spPr>
        <p:txBody>
          <a:bodyPr anchorCtr="0" anchor="ctr" bIns="0" lIns="0" spcFirstLastPara="1" rIns="0" wrap="square" tIns="0">
            <a:noAutofit/>
          </a:bodyPr>
          <a:lstStyle/>
          <a:p>
            <a:pPr indent="0" lvl="0" marL="0" marR="0" rtl="0" algn="l">
              <a:lnSpc>
                <a:spcPct val="115000"/>
              </a:lnSpc>
              <a:spcBef>
                <a:spcPts val="0"/>
              </a:spcBef>
              <a:spcAft>
                <a:spcPts val="0"/>
              </a:spcAft>
              <a:buClr>
                <a:srgbClr val="1D2536"/>
              </a:buClr>
              <a:buSzPts val="1200"/>
              <a:buFont typeface="Calibri"/>
              <a:buNone/>
            </a:pPr>
            <a:r>
              <a:rPr b="0" i="0" lang="en-US" sz="1200" u="none" cap="none" strike="noStrike">
                <a:solidFill>
                  <a:srgbClr val="1D2536"/>
                </a:solidFill>
                <a:latin typeface="Calibri"/>
                <a:ea typeface="Calibri"/>
                <a:cs typeface="Calibri"/>
                <a:sym typeface="Calibri"/>
              </a:rPr>
              <a:t>Series A and beyond, scaling teams</a:t>
            </a:r>
            <a:endParaRPr b="0" i="0" sz="1200" u="none" cap="none" strike="noStrike">
              <a:solidFill>
                <a:schemeClr val="dk1"/>
              </a:solidFill>
              <a:latin typeface="Calibri"/>
              <a:ea typeface="Calibri"/>
              <a:cs typeface="Calibri"/>
              <a:sym typeface="Calibri"/>
            </a:endParaRPr>
          </a:p>
        </p:txBody>
      </p:sp>
      <p:sp>
        <p:nvSpPr>
          <p:cNvPr id="246" name="Google Shape;246;p11"/>
          <p:cNvSpPr/>
          <p:nvPr/>
        </p:nvSpPr>
        <p:spPr>
          <a:xfrm>
            <a:off x="6345936" y="3291840"/>
            <a:ext cx="2139696" cy="548640"/>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Clr>
                <a:srgbClr val="1F4E79"/>
              </a:buClr>
              <a:buSzPts val="1050"/>
              <a:buFont typeface="Calibri"/>
              <a:buNone/>
            </a:pPr>
            <a:r>
              <a:rPr b="1" i="0" lang="en-US" sz="1050" u="none" cap="none" strike="noStrike">
                <a:solidFill>
                  <a:srgbClr val="1F4E79"/>
                </a:solidFill>
                <a:latin typeface="Calibri"/>
                <a:ea typeface="Calibri"/>
                <a:cs typeface="Calibri"/>
                <a:sym typeface="Calibri"/>
              </a:rPr>
              <a:t>Signals: </a:t>
            </a:r>
            <a:r>
              <a:rPr b="0" i="0" lang="en-US" sz="1050" u="none" cap="none" strike="noStrike">
                <a:solidFill>
                  <a:srgbClr val="6E7686"/>
                </a:solidFill>
                <a:latin typeface="Calibri"/>
                <a:ea typeface="Calibri"/>
                <a:cs typeface="Calibri"/>
                <a:sym typeface="Calibri"/>
              </a:rPr>
              <a:t>Later funding, many open roles</a:t>
            </a:r>
            <a:endParaRPr b="0" i="0" sz="1050" u="none" cap="none" strike="noStrike">
              <a:solidFill>
                <a:schemeClr val="dk1"/>
              </a:solidFill>
              <a:latin typeface="Calibri"/>
              <a:ea typeface="Calibri"/>
              <a:cs typeface="Calibri"/>
              <a:sym typeface="Calibri"/>
            </a:endParaRPr>
          </a:p>
        </p:txBody>
      </p:sp>
      <p:sp>
        <p:nvSpPr>
          <p:cNvPr id="247" name="Google Shape;247;p11"/>
          <p:cNvSpPr/>
          <p:nvPr/>
        </p:nvSpPr>
        <p:spPr>
          <a:xfrm>
            <a:off x="8860536" y="1600200"/>
            <a:ext cx="2651760" cy="2377440"/>
          </a:xfrm>
          <a:prstGeom prst="roundRect">
            <a:avLst>
              <a:gd fmla="val 3077" name="adj"/>
            </a:avLst>
          </a:prstGeom>
          <a:solidFill>
            <a:srgbClr val="FFFFFF"/>
          </a:solidFill>
          <a:ln cap="flat" cmpd="sng" w="12700">
            <a:solidFill>
              <a:srgbClr val="E2DCCE"/>
            </a:solidFill>
            <a:prstDash val="solid"/>
            <a:round/>
            <a:headEnd len="sm" w="sm" type="none"/>
            <a:tailEnd len="sm" w="sm" type="none"/>
          </a:ln>
          <a:effectLst>
            <a:outerShdw blurRad="88900" rotWithShape="0" algn="bl" dir="5400000" dist="38100">
              <a:srgbClr val="000000">
                <a:alpha val="1294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 name="Google Shape;248;p11"/>
          <p:cNvSpPr/>
          <p:nvPr/>
        </p:nvSpPr>
        <p:spPr>
          <a:xfrm>
            <a:off x="9116568" y="1874520"/>
            <a:ext cx="146304" cy="146304"/>
          </a:xfrm>
          <a:prstGeom prst="ellipse">
            <a:avLst/>
          </a:prstGeom>
          <a:solidFill>
            <a:srgbClr val="1F4E79"/>
          </a:solidFill>
          <a:ln cap="flat" cmpd="sng" w="12700">
            <a:solidFill>
              <a:srgbClr val="1F4E7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 name="Google Shape;249;p11"/>
          <p:cNvSpPr/>
          <p:nvPr/>
        </p:nvSpPr>
        <p:spPr>
          <a:xfrm>
            <a:off x="9363456" y="1801368"/>
            <a:ext cx="196596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2536"/>
              </a:buClr>
              <a:buSzPts val="1500"/>
              <a:buFont typeface="Calibri"/>
              <a:buNone/>
            </a:pPr>
            <a:r>
              <a:rPr b="1" i="0" lang="en-US" sz="1500" u="none" cap="none" strike="noStrike">
                <a:solidFill>
                  <a:srgbClr val="1D2536"/>
                </a:solidFill>
                <a:latin typeface="Calibri"/>
                <a:ea typeface="Calibri"/>
                <a:cs typeface="Calibri"/>
                <a:sym typeface="Calibri"/>
              </a:rPr>
              <a:t>Transformation Sprint</a:t>
            </a:r>
            <a:endParaRPr b="0" i="0" sz="1500" u="none" cap="none" strike="noStrike">
              <a:solidFill>
                <a:schemeClr val="dk1"/>
              </a:solidFill>
              <a:latin typeface="Calibri"/>
              <a:ea typeface="Calibri"/>
              <a:cs typeface="Calibri"/>
              <a:sym typeface="Calibri"/>
            </a:endParaRPr>
          </a:p>
        </p:txBody>
      </p:sp>
      <p:sp>
        <p:nvSpPr>
          <p:cNvPr id="250" name="Google Shape;250;p11"/>
          <p:cNvSpPr/>
          <p:nvPr/>
        </p:nvSpPr>
        <p:spPr>
          <a:xfrm>
            <a:off x="9116568" y="2423160"/>
            <a:ext cx="2139696" cy="777240"/>
          </a:xfrm>
          <a:prstGeom prst="rect">
            <a:avLst/>
          </a:prstGeom>
          <a:noFill/>
          <a:ln>
            <a:noFill/>
          </a:ln>
        </p:spPr>
        <p:txBody>
          <a:bodyPr anchorCtr="0" anchor="ctr" bIns="0" lIns="0" spcFirstLastPara="1" rIns="0" wrap="square" tIns="0">
            <a:noAutofit/>
          </a:bodyPr>
          <a:lstStyle/>
          <a:p>
            <a:pPr indent="0" lvl="0" marL="0" marR="0" rtl="0" algn="l">
              <a:lnSpc>
                <a:spcPct val="115000"/>
              </a:lnSpc>
              <a:spcBef>
                <a:spcPts val="0"/>
              </a:spcBef>
              <a:spcAft>
                <a:spcPts val="0"/>
              </a:spcAft>
              <a:buClr>
                <a:srgbClr val="1D2536"/>
              </a:buClr>
              <a:buSzPts val="1200"/>
              <a:buFont typeface="Calibri"/>
              <a:buNone/>
            </a:pPr>
            <a:r>
              <a:rPr b="0" i="0" lang="en-US" sz="1200" u="none" cap="none" strike="noStrike">
                <a:solidFill>
                  <a:srgbClr val="1D2536"/>
                </a:solidFill>
                <a:latin typeface="Calibri"/>
                <a:ea typeface="Calibri"/>
                <a:cs typeface="Calibri"/>
                <a:sym typeface="Calibri"/>
              </a:rPr>
              <a:t>Any stage, a specific build project</a:t>
            </a:r>
            <a:endParaRPr b="0" i="0" sz="1200" u="none" cap="none" strike="noStrike">
              <a:solidFill>
                <a:schemeClr val="dk1"/>
              </a:solidFill>
              <a:latin typeface="Calibri"/>
              <a:ea typeface="Calibri"/>
              <a:cs typeface="Calibri"/>
              <a:sym typeface="Calibri"/>
            </a:endParaRPr>
          </a:p>
        </p:txBody>
      </p:sp>
      <p:sp>
        <p:nvSpPr>
          <p:cNvPr id="251" name="Google Shape;251;p11"/>
          <p:cNvSpPr/>
          <p:nvPr/>
        </p:nvSpPr>
        <p:spPr>
          <a:xfrm>
            <a:off x="9116568" y="3291840"/>
            <a:ext cx="2139696" cy="548640"/>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Clr>
                <a:srgbClr val="1F4E79"/>
              </a:buClr>
              <a:buSzPts val="1050"/>
              <a:buFont typeface="Calibri"/>
              <a:buNone/>
            </a:pPr>
            <a:r>
              <a:rPr b="1" i="0" lang="en-US" sz="1050" u="none" cap="none" strike="noStrike">
                <a:solidFill>
                  <a:srgbClr val="1F4E79"/>
                </a:solidFill>
                <a:latin typeface="Calibri"/>
                <a:ea typeface="Calibri"/>
                <a:cs typeface="Calibri"/>
                <a:sym typeface="Calibri"/>
              </a:rPr>
              <a:t>Signals: </a:t>
            </a:r>
            <a:r>
              <a:rPr b="0" i="0" lang="en-US" sz="1050" u="none" cap="none" strike="noStrike">
                <a:solidFill>
                  <a:srgbClr val="6E7686"/>
                </a:solidFill>
                <a:latin typeface="Calibri"/>
                <a:ea typeface="Calibri"/>
                <a:cs typeface="Calibri"/>
                <a:sym typeface="Calibri"/>
              </a:rPr>
              <a:t>Contractor hiring, project intent</a:t>
            </a:r>
            <a:endParaRPr b="0" i="0" sz="1050" u="none" cap="none" strike="noStrike">
              <a:solidFill>
                <a:schemeClr val="dk1"/>
              </a:solidFill>
              <a:latin typeface="Calibri"/>
              <a:ea typeface="Calibri"/>
              <a:cs typeface="Calibri"/>
              <a:sym typeface="Calibri"/>
            </a:endParaRPr>
          </a:p>
        </p:txBody>
      </p:sp>
      <p:sp>
        <p:nvSpPr>
          <p:cNvPr id="252" name="Google Shape;252;p11"/>
          <p:cNvSpPr/>
          <p:nvPr/>
        </p:nvSpPr>
        <p:spPr>
          <a:xfrm>
            <a:off x="548640" y="4343400"/>
            <a:ext cx="11064240" cy="1051560"/>
          </a:xfrm>
          <a:prstGeom prst="roundRect">
            <a:avLst>
              <a:gd fmla="val 6087" name="adj"/>
            </a:avLst>
          </a:prstGeom>
          <a:solidFill>
            <a:srgbClr val="1D2536"/>
          </a:solidFill>
          <a:ln cap="flat" cmpd="sng" w="12700">
            <a:solidFill>
              <a:srgbClr val="1D253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 name="Google Shape;253;p11"/>
          <p:cNvSpPr/>
          <p:nvPr/>
        </p:nvSpPr>
        <p:spPr>
          <a:xfrm>
            <a:off x="914400" y="4343400"/>
            <a:ext cx="10332720" cy="105156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Clr>
                <a:srgbClr val="9DC3E6"/>
              </a:buClr>
              <a:buSzPts val="1400"/>
              <a:buFont typeface="Calibri"/>
              <a:buNone/>
            </a:pPr>
            <a:r>
              <a:rPr b="1" i="0" lang="en-US" sz="1400" u="none" cap="none" strike="noStrike">
                <a:solidFill>
                  <a:srgbClr val="9DC3E6"/>
                </a:solidFill>
                <a:latin typeface="Calibri"/>
                <a:ea typeface="Calibri"/>
                <a:cs typeface="Calibri"/>
                <a:sym typeface="Calibri"/>
              </a:rPr>
              <a:t>Not locked in.  </a:t>
            </a:r>
            <a:r>
              <a:rPr b="0" i="0" lang="en-US" sz="1400" u="none" cap="none" strike="noStrike">
                <a:solidFill>
                  <a:srgbClr val="D9E2EF"/>
                </a:solidFill>
                <a:latin typeface="Calibri"/>
                <a:ea typeface="Calibri"/>
                <a:cs typeface="Calibri"/>
                <a:sym typeface="Calibri"/>
              </a:rPr>
              <a:t>Each profile is editable config, preloaded for AltoLumo. You can add, clone, or switch profiles any time, and later, other tenants load their own.</a:t>
            </a:r>
            <a:endParaRPr b="0" i="0" sz="1400" u="none" cap="none" strike="noStrike">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7F1"/>
        </a:solidFill>
      </p:bgPr>
    </p:bg>
    <p:spTree>
      <p:nvGrpSpPr>
        <p:cNvPr id="258" name="Shape 258"/>
        <p:cNvGrpSpPr/>
        <p:nvPr/>
      </p:nvGrpSpPr>
      <p:grpSpPr>
        <a:xfrm>
          <a:off x="0" y="0"/>
          <a:ext cx="0" cy="0"/>
          <a:chOff x="0" y="0"/>
          <a:chExt cx="0" cy="0"/>
        </a:xfrm>
      </p:grpSpPr>
      <p:sp>
        <p:nvSpPr>
          <p:cNvPr id="259" name="Google Shape;259;p12"/>
          <p:cNvSpPr/>
          <p:nvPr/>
        </p:nvSpPr>
        <p:spPr>
          <a:xfrm>
            <a:off x="548640" y="384048"/>
            <a:ext cx="1106424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682B4"/>
              </a:buClr>
              <a:buSzPts val="1200"/>
              <a:buFont typeface="Calibri"/>
              <a:buNone/>
            </a:pPr>
            <a:r>
              <a:rPr b="1" i="0" lang="en-US" sz="1200" u="none" cap="none" strike="noStrike">
                <a:solidFill>
                  <a:srgbClr val="4682B4"/>
                </a:solidFill>
                <a:latin typeface="Calibri"/>
                <a:ea typeface="Calibri"/>
                <a:cs typeface="Calibri"/>
                <a:sym typeface="Calibri"/>
              </a:rPr>
              <a:t>CONFIGURABLE AND PIVOT-PROOF</a:t>
            </a:r>
            <a:endParaRPr b="0" i="0" sz="1200" u="none" cap="none" strike="noStrike">
              <a:solidFill>
                <a:schemeClr val="dk1"/>
              </a:solidFill>
              <a:latin typeface="Calibri"/>
              <a:ea typeface="Calibri"/>
              <a:cs typeface="Calibri"/>
              <a:sym typeface="Calibri"/>
            </a:endParaRPr>
          </a:p>
        </p:txBody>
      </p:sp>
      <p:sp>
        <p:nvSpPr>
          <p:cNvPr id="260" name="Google Shape;260;p12"/>
          <p:cNvSpPr/>
          <p:nvPr/>
        </p:nvSpPr>
        <p:spPr>
          <a:xfrm>
            <a:off x="548640" y="658368"/>
            <a:ext cx="11064240"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2536"/>
              </a:buClr>
              <a:buSzPts val="2700"/>
              <a:buFont typeface="Calibri"/>
              <a:buNone/>
            </a:pPr>
            <a:r>
              <a:rPr b="1" i="0" lang="en-US" sz="2700" u="none" cap="none" strike="noStrike">
                <a:solidFill>
                  <a:srgbClr val="1D2536"/>
                </a:solidFill>
                <a:latin typeface="Calibri"/>
                <a:ea typeface="Calibri"/>
                <a:cs typeface="Calibri"/>
                <a:sym typeface="Calibri"/>
              </a:rPr>
              <a:t>Change what you sell without a rebuild</a:t>
            </a:r>
            <a:endParaRPr b="0" i="0" sz="2700" u="none" cap="none" strike="noStrike">
              <a:solidFill>
                <a:schemeClr val="dk1"/>
              </a:solidFill>
              <a:latin typeface="Calibri"/>
              <a:ea typeface="Calibri"/>
              <a:cs typeface="Calibri"/>
              <a:sym typeface="Calibri"/>
            </a:endParaRPr>
          </a:p>
        </p:txBody>
      </p:sp>
      <p:sp>
        <p:nvSpPr>
          <p:cNvPr id="261" name="Google Shape;261;p12"/>
          <p:cNvSpPr/>
          <p:nvPr/>
        </p:nvSpPr>
        <p:spPr>
          <a:xfrm>
            <a:off x="548640" y="1417320"/>
            <a:ext cx="11064240" cy="731520"/>
          </a:xfrm>
          <a:prstGeom prst="rect">
            <a:avLst/>
          </a:prstGeom>
          <a:noFill/>
          <a:ln>
            <a:noFill/>
          </a:ln>
        </p:spPr>
        <p:txBody>
          <a:bodyPr anchorCtr="0" anchor="ctr" bIns="0" lIns="0" spcFirstLastPara="1" rIns="0" wrap="square" tIns="0">
            <a:noAutofit/>
          </a:bodyPr>
          <a:lstStyle/>
          <a:p>
            <a:pPr indent="0" lvl="0" marL="0" marR="0" rtl="0" algn="l">
              <a:lnSpc>
                <a:spcPct val="125000"/>
              </a:lnSpc>
              <a:spcBef>
                <a:spcPts val="0"/>
              </a:spcBef>
              <a:spcAft>
                <a:spcPts val="0"/>
              </a:spcAft>
              <a:buClr>
                <a:srgbClr val="1D2536"/>
              </a:buClr>
              <a:buSzPts val="1500"/>
              <a:buFont typeface="Calibri"/>
              <a:buNone/>
            </a:pPr>
            <a:r>
              <a:rPr b="0" i="0" lang="en-US" sz="1500" u="none" cap="none" strike="noStrike">
                <a:solidFill>
                  <a:srgbClr val="1D2536"/>
                </a:solidFill>
                <a:latin typeface="Calibri"/>
                <a:ea typeface="Calibri"/>
                <a:cs typeface="Calibri"/>
                <a:sym typeface="Calibri"/>
              </a:rPr>
              <a:t>A profile holds two things, both editable config: the offer, what you sell, and the ICP, who buys it. The engine has no service baked into it. If you pivot, you edit a profile, not the code.</a:t>
            </a:r>
            <a:endParaRPr b="0" i="0" sz="1500" u="none" cap="none" strike="noStrike">
              <a:solidFill>
                <a:schemeClr val="dk1"/>
              </a:solidFill>
              <a:latin typeface="Calibri"/>
              <a:ea typeface="Calibri"/>
              <a:cs typeface="Calibri"/>
              <a:sym typeface="Calibri"/>
            </a:endParaRPr>
          </a:p>
        </p:txBody>
      </p:sp>
      <p:sp>
        <p:nvSpPr>
          <p:cNvPr id="262" name="Google Shape;262;p12"/>
          <p:cNvSpPr/>
          <p:nvPr/>
        </p:nvSpPr>
        <p:spPr>
          <a:xfrm>
            <a:off x="548640" y="2331720"/>
            <a:ext cx="3520440" cy="1965960"/>
          </a:xfrm>
          <a:prstGeom prst="roundRect">
            <a:avLst>
              <a:gd fmla="val 3721" name="adj"/>
            </a:avLst>
          </a:prstGeom>
          <a:solidFill>
            <a:srgbClr val="E7EEF5"/>
          </a:solidFill>
          <a:ln cap="flat" cmpd="sng" w="12700">
            <a:solidFill>
              <a:srgbClr val="E7EEF5"/>
            </a:solidFill>
            <a:prstDash val="solid"/>
            <a:round/>
            <a:headEnd len="sm" w="sm" type="none"/>
            <a:tailEnd len="sm" w="sm" type="none"/>
          </a:ln>
          <a:effectLst>
            <a:outerShdw blurRad="88900" rotWithShape="0" algn="bl" dir="5400000" dist="38100">
              <a:srgbClr val="000000">
                <a:alpha val="1294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 name="Google Shape;263;p12"/>
          <p:cNvSpPr/>
          <p:nvPr/>
        </p:nvSpPr>
        <p:spPr>
          <a:xfrm>
            <a:off x="822960" y="2587752"/>
            <a:ext cx="2971800" cy="457200"/>
          </a:xfrm>
          <a:prstGeom prst="roundRect">
            <a:avLst>
              <a:gd fmla="val 12000" name="adj"/>
            </a:avLst>
          </a:prstGeom>
          <a:solidFill>
            <a:srgbClr val="4682B4"/>
          </a:solidFill>
          <a:ln cap="flat" cmpd="sng" w="12700">
            <a:solidFill>
              <a:srgbClr val="4682B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 name="Google Shape;264;p12"/>
          <p:cNvSpPr/>
          <p:nvPr/>
        </p:nvSpPr>
        <p:spPr>
          <a:xfrm>
            <a:off x="822960" y="2587752"/>
            <a:ext cx="297180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500"/>
              <a:buFont typeface="Calibri"/>
              <a:buNone/>
            </a:pPr>
            <a:r>
              <a:rPr b="1" i="0" lang="en-US" sz="1500" u="none" cap="none" strike="noStrike">
                <a:solidFill>
                  <a:srgbClr val="FFFFFF"/>
                </a:solidFill>
                <a:latin typeface="Calibri"/>
                <a:ea typeface="Calibri"/>
                <a:cs typeface="Calibri"/>
                <a:sym typeface="Calibri"/>
              </a:rPr>
              <a:t>Today</a:t>
            </a:r>
            <a:endParaRPr b="0" i="0" sz="1500" u="none" cap="none" strike="noStrike">
              <a:solidFill>
                <a:schemeClr val="dk1"/>
              </a:solidFill>
              <a:latin typeface="Calibri"/>
              <a:ea typeface="Calibri"/>
              <a:cs typeface="Calibri"/>
              <a:sym typeface="Calibri"/>
            </a:endParaRPr>
          </a:p>
        </p:txBody>
      </p:sp>
      <p:sp>
        <p:nvSpPr>
          <p:cNvPr id="265" name="Google Shape;265;p12"/>
          <p:cNvSpPr/>
          <p:nvPr/>
        </p:nvSpPr>
        <p:spPr>
          <a:xfrm>
            <a:off x="841248" y="3200400"/>
            <a:ext cx="2935224" cy="100584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Clr>
                <a:srgbClr val="1D2536"/>
              </a:buClr>
              <a:buSzPts val="1300"/>
              <a:buFont typeface="Calibri"/>
              <a:buNone/>
            </a:pPr>
            <a:r>
              <a:rPr b="0" i="0" lang="en-US" sz="1300" u="none" cap="none" strike="noStrike">
                <a:solidFill>
                  <a:srgbClr val="1D2536"/>
                </a:solidFill>
                <a:latin typeface="Calibri"/>
                <a:ea typeface="Calibri"/>
                <a:cs typeface="Calibri"/>
                <a:sym typeface="Calibri"/>
              </a:rPr>
              <a:t>Fractional CTO or COO plus AI, for seed to Series A founders</a:t>
            </a:r>
            <a:endParaRPr b="0" i="0" sz="1300" u="none" cap="none" strike="noStrike">
              <a:solidFill>
                <a:schemeClr val="dk1"/>
              </a:solidFill>
              <a:latin typeface="Calibri"/>
              <a:ea typeface="Calibri"/>
              <a:cs typeface="Calibri"/>
              <a:sym typeface="Calibri"/>
            </a:endParaRPr>
          </a:p>
        </p:txBody>
      </p:sp>
      <p:sp>
        <p:nvSpPr>
          <p:cNvPr id="266" name="Google Shape;266;p12"/>
          <p:cNvSpPr/>
          <p:nvPr/>
        </p:nvSpPr>
        <p:spPr>
          <a:xfrm>
            <a:off x="4389120" y="2331720"/>
            <a:ext cx="3520440" cy="1965960"/>
          </a:xfrm>
          <a:prstGeom prst="roundRect">
            <a:avLst>
              <a:gd fmla="val 3721" name="adj"/>
            </a:avLst>
          </a:prstGeom>
          <a:solidFill>
            <a:srgbClr val="F2EDE3"/>
          </a:solidFill>
          <a:ln cap="flat" cmpd="sng" w="12700">
            <a:solidFill>
              <a:srgbClr val="F2EDE3"/>
            </a:solidFill>
            <a:prstDash val="solid"/>
            <a:round/>
            <a:headEnd len="sm" w="sm" type="none"/>
            <a:tailEnd len="sm" w="sm" type="none"/>
          </a:ln>
          <a:effectLst>
            <a:outerShdw blurRad="88900" rotWithShape="0" algn="bl" dir="5400000" dist="38100">
              <a:srgbClr val="000000">
                <a:alpha val="1294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 name="Google Shape;267;p12"/>
          <p:cNvSpPr/>
          <p:nvPr/>
        </p:nvSpPr>
        <p:spPr>
          <a:xfrm>
            <a:off x="4663440" y="2587752"/>
            <a:ext cx="2971800" cy="457200"/>
          </a:xfrm>
          <a:prstGeom prst="roundRect">
            <a:avLst>
              <a:gd fmla="val 12000" name="adj"/>
            </a:avLst>
          </a:prstGeom>
          <a:solidFill>
            <a:srgbClr val="4682B4"/>
          </a:solidFill>
          <a:ln cap="flat" cmpd="sng" w="12700">
            <a:solidFill>
              <a:srgbClr val="4682B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 name="Google Shape;268;p12"/>
          <p:cNvSpPr/>
          <p:nvPr/>
        </p:nvSpPr>
        <p:spPr>
          <a:xfrm>
            <a:off x="4663440" y="2587752"/>
            <a:ext cx="297180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500"/>
              <a:buFont typeface="Calibri"/>
              <a:buNone/>
            </a:pPr>
            <a:r>
              <a:rPr b="1" i="0" lang="en-US" sz="1500" u="none" cap="none" strike="noStrike">
                <a:solidFill>
                  <a:srgbClr val="FFFFFF"/>
                </a:solidFill>
                <a:latin typeface="Calibri"/>
                <a:ea typeface="Calibri"/>
                <a:cs typeface="Calibri"/>
                <a:sym typeface="Calibri"/>
              </a:rPr>
              <a:t>Pivot example: PM work</a:t>
            </a:r>
            <a:endParaRPr b="0" i="0" sz="1500" u="none" cap="none" strike="noStrike">
              <a:solidFill>
                <a:schemeClr val="dk1"/>
              </a:solidFill>
              <a:latin typeface="Calibri"/>
              <a:ea typeface="Calibri"/>
              <a:cs typeface="Calibri"/>
              <a:sym typeface="Calibri"/>
            </a:endParaRPr>
          </a:p>
        </p:txBody>
      </p:sp>
      <p:sp>
        <p:nvSpPr>
          <p:cNvPr id="269" name="Google Shape;269;p12"/>
          <p:cNvSpPr/>
          <p:nvPr/>
        </p:nvSpPr>
        <p:spPr>
          <a:xfrm>
            <a:off x="4681728" y="3200400"/>
            <a:ext cx="2935224" cy="100584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Clr>
                <a:srgbClr val="1D2536"/>
              </a:buClr>
              <a:buSzPts val="1300"/>
              <a:buFont typeface="Calibri"/>
              <a:buNone/>
            </a:pPr>
            <a:r>
              <a:rPr b="0" i="0" lang="en-US" sz="1300" u="none" cap="none" strike="noStrike">
                <a:solidFill>
                  <a:srgbClr val="1D2536"/>
                </a:solidFill>
                <a:latin typeface="Calibri"/>
                <a:ea typeface="Calibri"/>
                <a:cs typeface="Calibri"/>
                <a:sym typeface="Calibri"/>
              </a:rPr>
              <a:t>Offer becomes fractional project and program management, one of your service lines</a:t>
            </a:r>
            <a:endParaRPr b="0" i="0" sz="1300" u="none" cap="none" strike="noStrike">
              <a:solidFill>
                <a:schemeClr val="dk1"/>
              </a:solidFill>
              <a:latin typeface="Calibri"/>
              <a:ea typeface="Calibri"/>
              <a:cs typeface="Calibri"/>
              <a:sym typeface="Calibri"/>
            </a:endParaRPr>
          </a:p>
        </p:txBody>
      </p:sp>
      <p:sp>
        <p:nvSpPr>
          <p:cNvPr id="270" name="Google Shape;270;p12"/>
          <p:cNvSpPr/>
          <p:nvPr/>
        </p:nvSpPr>
        <p:spPr>
          <a:xfrm>
            <a:off x="8229600" y="2331720"/>
            <a:ext cx="3520440" cy="1965960"/>
          </a:xfrm>
          <a:prstGeom prst="roundRect">
            <a:avLst>
              <a:gd fmla="val 3721" name="adj"/>
            </a:avLst>
          </a:prstGeom>
          <a:solidFill>
            <a:srgbClr val="E7EEF5"/>
          </a:solidFill>
          <a:ln cap="flat" cmpd="sng" w="12700">
            <a:solidFill>
              <a:srgbClr val="E7EEF5"/>
            </a:solidFill>
            <a:prstDash val="solid"/>
            <a:round/>
            <a:headEnd len="sm" w="sm" type="none"/>
            <a:tailEnd len="sm" w="sm" type="none"/>
          </a:ln>
          <a:effectLst>
            <a:outerShdw blurRad="88900" rotWithShape="0" algn="bl" dir="5400000" dist="38100">
              <a:srgbClr val="000000">
                <a:alpha val="1294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 name="Google Shape;271;p12"/>
          <p:cNvSpPr/>
          <p:nvPr/>
        </p:nvSpPr>
        <p:spPr>
          <a:xfrm>
            <a:off x="8503920" y="2587752"/>
            <a:ext cx="2971800" cy="457200"/>
          </a:xfrm>
          <a:prstGeom prst="roundRect">
            <a:avLst>
              <a:gd fmla="val 12000" name="adj"/>
            </a:avLst>
          </a:prstGeom>
          <a:solidFill>
            <a:srgbClr val="1F4E79"/>
          </a:solidFill>
          <a:ln cap="flat" cmpd="sng" w="12700">
            <a:solidFill>
              <a:srgbClr val="1F4E7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 name="Google Shape;272;p12"/>
          <p:cNvSpPr/>
          <p:nvPr/>
        </p:nvSpPr>
        <p:spPr>
          <a:xfrm>
            <a:off x="8503920" y="2587752"/>
            <a:ext cx="297180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500"/>
              <a:buFont typeface="Calibri"/>
              <a:buNone/>
            </a:pPr>
            <a:r>
              <a:rPr b="1" i="0" lang="en-US" sz="1500" u="none" cap="none" strike="noStrike">
                <a:solidFill>
                  <a:srgbClr val="FFFFFF"/>
                </a:solidFill>
                <a:latin typeface="Calibri"/>
                <a:ea typeface="Calibri"/>
                <a:cs typeface="Calibri"/>
                <a:sym typeface="Calibri"/>
              </a:rPr>
              <a:t>What actually changes</a:t>
            </a:r>
            <a:endParaRPr b="0" i="0" sz="1500" u="none" cap="none" strike="noStrike">
              <a:solidFill>
                <a:schemeClr val="dk1"/>
              </a:solidFill>
              <a:latin typeface="Calibri"/>
              <a:ea typeface="Calibri"/>
              <a:cs typeface="Calibri"/>
              <a:sym typeface="Calibri"/>
            </a:endParaRPr>
          </a:p>
        </p:txBody>
      </p:sp>
      <p:sp>
        <p:nvSpPr>
          <p:cNvPr id="273" name="Google Shape;273;p12"/>
          <p:cNvSpPr/>
          <p:nvPr/>
        </p:nvSpPr>
        <p:spPr>
          <a:xfrm>
            <a:off x="8522208" y="3200400"/>
            <a:ext cx="2935224" cy="100584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Clr>
                <a:srgbClr val="1D2536"/>
              </a:buClr>
              <a:buSzPts val="1300"/>
              <a:buFont typeface="Calibri"/>
              <a:buNone/>
            </a:pPr>
            <a:r>
              <a:rPr b="0" i="0" lang="en-US" sz="1300" u="none" cap="none" strike="noStrike">
                <a:solidFill>
                  <a:srgbClr val="1D2536"/>
                </a:solidFill>
                <a:latin typeface="Calibri"/>
                <a:ea typeface="Calibri"/>
                <a:cs typeface="Calibri"/>
                <a:sym typeface="Calibri"/>
              </a:rPr>
              <a:t>One profile: the offer, buyer titles, triggers, and source weights. No code change</a:t>
            </a:r>
            <a:endParaRPr b="0" i="0" sz="1300" u="none" cap="none" strike="noStrike">
              <a:solidFill>
                <a:schemeClr val="dk1"/>
              </a:solidFill>
              <a:latin typeface="Calibri"/>
              <a:ea typeface="Calibri"/>
              <a:cs typeface="Calibri"/>
              <a:sym typeface="Calibri"/>
            </a:endParaRPr>
          </a:p>
        </p:txBody>
      </p:sp>
      <p:sp>
        <p:nvSpPr>
          <p:cNvPr id="274" name="Google Shape;274;p12"/>
          <p:cNvSpPr/>
          <p:nvPr/>
        </p:nvSpPr>
        <p:spPr>
          <a:xfrm>
            <a:off x="548640" y="4617720"/>
            <a:ext cx="11064240" cy="1005840"/>
          </a:xfrm>
          <a:prstGeom prst="roundRect">
            <a:avLst>
              <a:gd fmla="val 6364" name="adj"/>
            </a:avLst>
          </a:prstGeom>
          <a:solidFill>
            <a:srgbClr val="1D2536"/>
          </a:solidFill>
          <a:ln cap="flat" cmpd="sng" w="12700">
            <a:solidFill>
              <a:srgbClr val="1D253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 name="Google Shape;275;p12"/>
          <p:cNvSpPr/>
          <p:nvPr/>
        </p:nvSpPr>
        <p:spPr>
          <a:xfrm>
            <a:off x="914400" y="4617720"/>
            <a:ext cx="10332720" cy="100584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Clr>
                <a:srgbClr val="9DC3E6"/>
              </a:buClr>
              <a:buSzPts val="1400"/>
              <a:buFont typeface="Calibri"/>
              <a:buNone/>
            </a:pPr>
            <a:r>
              <a:rPr b="1" i="0" lang="en-US" sz="1400" u="none" cap="none" strike="noStrike">
                <a:solidFill>
                  <a:srgbClr val="9DC3E6"/>
                </a:solidFill>
                <a:latin typeface="Calibri"/>
                <a:ea typeface="Calibri"/>
                <a:cs typeface="Calibri"/>
                <a:sym typeface="Calibri"/>
              </a:rPr>
              <a:t>Same pipeline, new target.  </a:t>
            </a:r>
            <a:r>
              <a:rPr b="0" i="0" lang="en-US" sz="1400" u="none" cap="none" strike="noStrike">
                <a:solidFill>
                  <a:srgbClr val="D9E2EF"/>
                </a:solidFill>
                <a:latin typeface="Calibri"/>
                <a:ea typeface="Calibri"/>
                <a:cs typeface="Calibri"/>
                <a:sym typeface="Calibri"/>
              </a:rPr>
              <a:t>A company hiring a project manager is announcing the exact gap the offer fills, so the engine leans on job-board signals and finds PM clients with no rebuild.</a:t>
            </a:r>
            <a:endParaRPr b="0" i="0" sz="1400" u="none" cap="none" strike="noStrike">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7F1"/>
        </a:solidFill>
      </p:bgPr>
    </p:bg>
    <p:spTree>
      <p:nvGrpSpPr>
        <p:cNvPr id="280" name="Shape 280"/>
        <p:cNvGrpSpPr/>
        <p:nvPr/>
      </p:nvGrpSpPr>
      <p:grpSpPr>
        <a:xfrm>
          <a:off x="0" y="0"/>
          <a:ext cx="0" cy="0"/>
          <a:chOff x="0" y="0"/>
          <a:chExt cx="0" cy="0"/>
        </a:xfrm>
      </p:grpSpPr>
      <p:sp>
        <p:nvSpPr>
          <p:cNvPr id="281" name="Google Shape;281;p13"/>
          <p:cNvSpPr/>
          <p:nvPr/>
        </p:nvSpPr>
        <p:spPr>
          <a:xfrm>
            <a:off x="548640" y="384048"/>
            <a:ext cx="1106424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682B4"/>
              </a:buClr>
              <a:buSzPts val="1200"/>
              <a:buFont typeface="Calibri"/>
              <a:buNone/>
            </a:pPr>
            <a:r>
              <a:rPr b="1" i="0" lang="en-US" sz="1200" u="none" cap="none" strike="noStrike">
                <a:solidFill>
                  <a:srgbClr val="4682B4"/>
                </a:solidFill>
                <a:latin typeface="Calibri"/>
                <a:ea typeface="Calibri"/>
                <a:cs typeface="Calibri"/>
                <a:sym typeface="Calibri"/>
              </a:rPr>
              <a:t>WHERE THE ENGINE LOOKS</a:t>
            </a:r>
            <a:endParaRPr b="0" i="0" sz="1200" u="none" cap="none" strike="noStrike">
              <a:solidFill>
                <a:schemeClr val="dk1"/>
              </a:solidFill>
              <a:latin typeface="Calibri"/>
              <a:ea typeface="Calibri"/>
              <a:cs typeface="Calibri"/>
              <a:sym typeface="Calibri"/>
            </a:endParaRPr>
          </a:p>
        </p:txBody>
      </p:sp>
      <p:sp>
        <p:nvSpPr>
          <p:cNvPr id="282" name="Google Shape;282;p13"/>
          <p:cNvSpPr/>
          <p:nvPr/>
        </p:nvSpPr>
        <p:spPr>
          <a:xfrm>
            <a:off x="548640" y="658368"/>
            <a:ext cx="11064240"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2536"/>
              </a:buClr>
              <a:buSzPts val="2700"/>
              <a:buFont typeface="Calibri"/>
              <a:buNone/>
            </a:pPr>
            <a:r>
              <a:rPr b="1" i="0" lang="en-US" sz="2700" u="none" cap="none" strike="noStrike">
                <a:solidFill>
                  <a:srgbClr val="1D2536"/>
                </a:solidFill>
                <a:latin typeface="Calibri"/>
                <a:ea typeface="Calibri"/>
                <a:cs typeface="Calibri"/>
                <a:sym typeface="Calibri"/>
              </a:rPr>
              <a:t>Match the profile to the source</a:t>
            </a:r>
            <a:endParaRPr b="0" i="0" sz="2700" u="none" cap="none" strike="noStrike">
              <a:solidFill>
                <a:schemeClr val="dk1"/>
              </a:solidFill>
              <a:latin typeface="Calibri"/>
              <a:ea typeface="Calibri"/>
              <a:cs typeface="Calibri"/>
              <a:sym typeface="Calibri"/>
            </a:endParaRPr>
          </a:p>
        </p:txBody>
      </p:sp>
      <p:graphicFrame>
        <p:nvGraphicFramePr>
          <p:cNvPr id="283" name="Google Shape;283;p13"/>
          <p:cNvGraphicFramePr/>
          <p:nvPr/>
        </p:nvGraphicFramePr>
        <p:xfrm>
          <a:off x="548640" y="1737360"/>
          <a:ext cx="3000000" cy="3000000"/>
        </p:xfrm>
        <a:graphic>
          <a:graphicData uri="http://schemas.openxmlformats.org/drawingml/2006/table">
            <a:tbl>
              <a:tblPr>
                <a:noFill/>
                <a:tableStyleId>{E056BAD3-CD63-4CB3-9B92-DDC12BDEFCDA}</a:tableStyleId>
              </a:tblPr>
              <a:tblGrid>
                <a:gridCol w="3108950"/>
                <a:gridCol w="4846325"/>
                <a:gridCol w="3108950"/>
              </a:tblGrid>
              <a:tr h="640075">
                <a:tc>
                  <a:txBody>
                    <a:bodyPr/>
                    <a:lstStyle/>
                    <a:p>
                      <a:pPr indent="0" lvl="0" marL="0" marR="0" rtl="0" algn="l">
                        <a:spcBef>
                          <a:spcPts val="0"/>
                        </a:spcBef>
                        <a:spcAft>
                          <a:spcPts val="0"/>
                        </a:spcAft>
                        <a:buClr>
                          <a:srgbClr val="FFFFFF"/>
                        </a:buClr>
                        <a:buSzPts val="1250"/>
                        <a:buFont typeface="Calibri"/>
                        <a:buNone/>
                      </a:pPr>
                      <a:r>
                        <a:rPr b="1" lang="en-US" sz="1250" u="none" cap="none" strike="noStrike">
                          <a:solidFill>
                            <a:srgbClr val="FFFFFF"/>
                          </a:solidFill>
                          <a:latin typeface="Calibri"/>
                          <a:ea typeface="Calibri"/>
                          <a:cs typeface="Calibri"/>
                          <a:sym typeface="Calibri"/>
                        </a:rPr>
                        <a:t>Profile</a:t>
                      </a:r>
                      <a:endParaRPr sz="1250" u="none" cap="none" strike="noStrike">
                        <a:latin typeface="Calibri"/>
                        <a:ea typeface="Calibri"/>
                        <a:cs typeface="Calibri"/>
                        <a:sym typeface="Calibri"/>
                      </a:endParaRPr>
                    </a:p>
                  </a:txBody>
                  <a:tcPr marT="76200" marB="76200" marR="76200" marL="76200" anchor="ctr">
                    <a:lnL cap="flat" cmpd="sng" w="12700">
                      <a:solidFill>
                        <a:srgbClr val="E2DCCE"/>
                      </a:solidFill>
                      <a:prstDash val="solid"/>
                      <a:round/>
                      <a:headEnd len="sm" w="sm" type="none"/>
                      <a:tailEnd len="sm" w="sm" type="none"/>
                    </a:lnL>
                    <a:lnR cap="flat" cmpd="sng" w="12700">
                      <a:solidFill>
                        <a:srgbClr val="E2DCCE"/>
                      </a:solidFill>
                      <a:prstDash val="solid"/>
                      <a:round/>
                      <a:headEnd len="sm" w="sm" type="none"/>
                      <a:tailEnd len="sm" w="sm" type="none"/>
                    </a:lnR>
                    <a:lnT cap="flat" cmpd="sng" w="12700">
                      <a:solidFill>
                        <a:srgbClr val="E2DCCE"/>
                      </a:solidFill>
                      <a:prstDash val="solid"/>
                      <a:round/>
                      <a:headEnd len="sm" w="sm" type="none"/>
                      <a:tailEnd len="sm" w="sm" type="none"/>
                    </a:lnT>
                    <a:lnB cap="flat" cmpd="sng" w="12700">
                      <a:solidFill>
                        <a:srgbClr val="E2DCCE"/>
                      </a:solidFill>
                      <a:prstDash val="solid"/>
                      <a:round/>
                      <a:headEnd len="sm" w="sm" type="none"/>
                      <a:tailEnd len="sm" w="sm" type="none"/>
                    </a:lnB>
                    <a:solidFill>
                      <a:srgbClr val="1D2536"/>
                    </a:solidFill>
                  </a:tcPr>
                </a:tc>
                <a:tc>
                  <a:txBody>
                    <a:bodyPr/>
                    <a:lstStyle/>
                    <a:p>
                      <a:pPr indent="0" lvl="0" marL="0" marR="0" rtl="0" algn="l">
                        <a:spcBef>
                          <a:spcPts val="0"/>
                        </a:spcBef>
                        <a:spcAft>
                          <a:spcPts val="0"/>
                        </a:spcAft>
                        <a:buClr>
                          <a:srgbClr val="FFFFFF"/>
                        </a:buClr>
                        <a:buSzPts val="1250"/>
                        <a:buFont typeface="Calibri"/>
                        <a:buNone/>
                      </a:pPr>
                      <a:r>
                        <a:rPr b="1" lang="en-US" sz="1250" u="none" cap="none" strike="noStrike">
                          <a:solidFill>
                            <a:srgbClr val="FFFFFF"/>
                          </a:solidFill>
                          <a:latin typeface="Calibri"/>
                          <a:ea typeface="Calibri"/>
                          <a:cs typeface="Calibri"/>
                          <a:sym typeface="Calibri"/>
                        </a:rPr>
                        <a:t>Where and what signals</a:t>
                      </a:r>
                      <a:endParaRPr sz="1250" u="none" cap="none" strike="noStrike">
                        <a:latin typeface="Calibri"/>
                        <a:ea typeface="Calibri"/>
                        <a:cs typeface="Calibri"/>
                        <a:sym typeface="Calibri"/>
                      </a:endParaRPr>
                    </a:p>
                  </a:txBody>
                  <a:tcPr marT="76200" marB="76200" marR="76200" marL="76200" anchor="ctr">
                    <a:lnL cap="flat" cmpd="sng" w="12700">
                      <a:solidFill>
                        <a:srgbClr val="E2DCCE"/>
                      </a:solidFill>
                      <a:prstDash val="solid"/>
                      <a:round/>
                      <a:headEnd len="sm" w="sm" type="none"/>
                      <a:tailEnd len="sm" w="sm" type="none"/>
                    </a:lnL>
                    <a:lnR cap="flat" cmpd="sng" w="12700">
                      <a:solidFill>
                        <a:srgbClr val="E2DCCE"/>
                      </a:solidFill>
                      <a:prstDash val="solid"/>
                      <a:round/>
                      <a:headEnd len="sm" w="sm" type="none"/>
                      <a:tailEnd len="sm" w="sm" type="none"/>
                    </a:lnR>
                    <a:lnT cap="flat" cmpd="sng" w="12700">
                      <a:solidFill>
                        <a:srgbClr val="E2DCCE"/>
                      </a:solidFill>
                      <a:prstDash val="solid"/>
                      <a:round/>
                      <a:headEnd len="sm" w="sm" type="none"/>
                      <a:tailEnd len="sm" w="sm" type="none"/>
                    </a:lnT>
                    <a:lnB cap="flat" cmpd="sng" w="12700">
                      <a:solidFill>
                        <a:srgbClr val="E2DCCE"/>
                      </a:solidFill>
                      <a:prstDash val="solid"/>
                      <a:round/>
                      <a:headEnd len="sm" w="sm" type="none"/>
                      <a:tailEnd len="sm" w="sm" type="none"/>
                    </a:lnB>
                    <a:solidFill>
                      <a:srgbClr val="1D2536"/>
                    </a:solidFill>
                  </a:tcPr>
                </a:tc>
                <a:tc>
                  <a:txBody>
                    <a:bodyPr/>
                    <a:lstStyle/>
                    <a:p>
                      <a:pPr indent="0" lvl="0" marL="0" marR="0" rtl="0" algn="l">
                        <a:spcBef>
                          <a:spcPts val="0"/>
                        </a:spcBef>
                        <a:spcAft>
                          <a:spcPts val="0"/>
                        </a:spcAft>
                        <a:buClr>
                          <a:srgbClr val="FFFFFF"/>
                        </a:buClr>
                        <a:buSzPts val="1250"/>
                        <a:buFont typeface="Calibri"/>
                        <a:buNone/>
                      </a:pPr>
                      <a:r>
                        <a:rPr b="1" lang="en-US" sz="1250" u="none" cap="none" strike="noStrike">
                          <a:solidFill>
                            <a:srgbClr val="FFFFFF"/>
                          </a:solidFill>
                          <a:latin typeface="Calibri"/>
                          <a:ea typeface="Calibri"/>
                          <a:cs typeface="Calibri"/>
                          <a:sym typeface="Calibri"/>
                        </a:rPr>
                        <a:t>The tell</a:t>
                      </a:r>
                      <a:endParaRPr sz="1250" u="none" cap="none" strike="noStrike">
                        <a:latin typeface="Calibri"/>
                        <a:ea typeface="Calibri"/>
                        <a:cs typeface="Calibri"/>
                        <a:sym typeface="Calibri"/>
                      </a:endParaRPr>
                    </a:p>
                  </a:txBody>
                  <a:tcPr marT="76200" marB="76200" marR="76200" marL="76200" anchor="ctr">
                    <a:lnL cap="flat" cmpd="sng" w="12700">
                      <a:solidFill>
                        <a:srgbClr val="E2DCCE"/>
                      </a:solidFill>
                      <a:prstDash val="solid"/>
                      <a:round/>
                      <a:headEnd len="sm" w="sm" type="none"/>
                      <a:tailEnd len="sm" w="sm" type="none"/>
                    </a:lnL>
                    <a:lnR cap="flat" cmpd="sng" w="12700">
                      <a:solidFill>
                        <a:srgbClr val="E2DCCE"/>
                      </a:solidFill>
                      <a:prstDash val="solid"/>
                      <a:round/>
                      <a:headEnd len="sm" w="sm" type="none"/>
                      <a:tailEnd len="sm" w="sm" type="none"/>
                    </a:lnR>
                    <a:lnT cap="flat" cmpd="sng" w="12700">
                      <a:solidFill>
                        <a:srgbClr val="E2DCCE"/>
                      </a:solidFill>
                      <a:prstDash val="solid"/>
                      <a:round/>
                      <a:headEnd len="sm" w="sm" type="none"/>
                      <a:tailEnd len="sm" w="sm" type="none"/>
                    </a:lnT>
                    <a:lnB cap="flat" cmpd="sng" w="12700">
                      <a:solidFill>
                        <a:srgbClr val="E2DCCE"/>
                      </a:solidFill>
                      <a:prstDash val="solid"/>
                      <a:round/>
                      <a:headEnd len="sm" w="sm" type="none"/>
                      <a:tailEnd len="sm" w="sm" type="none"/>
                    </a:lnB>
                    <a:solidFill>
                      <a:srgbClr val="1D2536"/>
                    </a:solidFill>
                  </a:tcPr>
                </a:tc>
              </a:tr>
              <a:tr h="640075">
                <a:tc>
                  <a:txBody>
                    <a:bodyPr/>
                    <a:lstStyle/>
                    <a:p>
                      <a:pPr indent="0" lvl="0" marL="0" marR="0" rtl="0" algn="l">
                        <a:spcBef>
                          <a:spcPts val="0"/>
                        </a:spcBef>
                        <a:spcAft>
                          <a:spcPts val="0"/>
                        </a:spcAft>
                        <a:buClr>
                          <a:srgbClr val="1D2536"/>
                        </a:buClr>
                        <a:buSzPts val="1250"/>
                        <a:buFont typeface="Calibri"/>
                        <a:buNone/>
                      </a:pPr>
                      <a:r>
                        <a:rPr b="1" lang="en-US" sz="1250" u="none" cap="none" strike="noStrike">
                          <a:solidFill>
                            <a:srgbClr val="1D2536"/>
                          </a:solidFill>
                          <a:latin typeface="Calibri"/>
                          <a:ea typeface="Calibri"/>
                          <a:cs typeface="Calibri"/>
                          <a:sym typeface="Calibri"/>
                        </a:rPr>
                        <a:t>Founder Advisory</a:t>
                      </a:r>
                      <a:endParaRPr sz="1250" u="none" cap="none" strike="noStrike">
                        <a:latin typeface="Calibri"/>
                        <a:ea typeface="Calibri"/>
                        <a:cs typeface="Calibri"/>
                        <a:sym typeface="Calibri"/>
                      </a:endParaRPr>
                    </a:p>
                  </a:txBody>
                  <a:tcPr marT="76200" marB="76200" marR="76200" marL="76200" anchor="ctr">
                    <a:lnL cap="flat" cmpd="sng" w="12700">
                      <a:solidFill>
                        <a:srgbClr val="E2DCCE"/>
                      </a:solidFill>
                      <a:prstDash val="solid"/>
                      <a:round/>
                      <a:headEnd len="sm" w="sm" type="none"/>
                      <a:tailEnd len="sm" w="sm" type="none"/>
                    </a:lnL>
                    <a:lnR cap="flat" cmpd="sng" w="12700">
                      <a:solidFill>
                        <a:srgbClr val="E2DCCE"/>
                      </a:solidFill>
                      <a:prstDash val="solid"/>
                      <a:round/>
                      <a:headEnd len="sm" w="sm" type="none"/>
                      <a:tailEnd len="sm" w="sm" type="none"/>
                    </a:lnR>
                    <a:lnT cap="flat" cmpd="sng" w="12700">
                      <a:solidFill>
                        <a:srgbClr val="E2DCCE"/>
                      </a:solidFill>
                      <a:prstDash val="solid"/>
                      <a:round/>
                      <a:headEnd len="sm" w="sm" type="none"/>
                      <a:tailEnd len="sm" w="sm" type="none"/>
                    </a:lnT>
                    <a:lnB cap="flat" cmpd="sng" w="12700">
                      <a:solidFill>
                        <a:srgbClr val="E2DCCE"/>
                      </a:solidFill>
                      <a:prstDash val="solid"/>
                      <a:round/>
                      <a:headEnd len="sm" w="sm" type="none"/>
                      <a:tailEnd len="sm" w="sm" type="none"/>
                    </a:lnB>
                  </a:tcPr>
                </a:tc>
                <a:tc>
                  <a:txBody>
                    <a:bodyPr/>
                    <a:lstStyle/>
                    <a:p>
                      <a:pPr indent="0" lvl="0" marL="0" marR="0" rtl="0" algn="l">
                        <a:spcBef>
                          <a:spcPts val="0"/>
                        </a:spcBef>
                        <a:spcAft>
                          <a:spcPts val="0"/>
                        </a:spcAft>
                        <a:buClr>
                          <a:srgbClr val="1D2536"/>
                        </a:buClr>
                        <a:buSzPts val="1150"/>
                        <a:buFont typeface="Calibri"/>
                        <a:buNone/>
                      </a:pPr>
                      <a:r>
                        <a:rPr lang="en-US" sz="1150" u="none" cap="none" strike="noStrike">
                          <a:solidFill>
                            <a:srgbClr val="1D2536"/>
                          </a:solidFill>
                          <a:latin typeface="Calibri"/>
                          <a:ea typeface="Calibri"/>
                          <a:cs typeface="Calibri"/>
                          <a:sym typeface="Calibri"/>
                        </a:rPr>
                        <a:t>Founder directories, accelerators, web</a:t>
                      </a:r>
                      <a:endParaRPr sz="1150" u="none" cap="none" strike="noStrike">
                        <a:latin typeface="Calibri"/>
                        <a:ea typeface="Calibri"/>
                        <a:cs typeface="Calibri"/>
                        <a:sym typeface="Calibri"/>
                      </a:endParaRPr>
                    </a:p>
                  </a:txBody>
                  <a:tcPr marT="76200" marB="76200" marR="76200" marL="76200" anchor="ctr">
                    <a:lnL cap="flat" cmpd="sng" w="12700">
                      <a:solidFill>
                        <a:srgbClr val="E2DCCE"/>
                      </a:solidFill>
                      <a:prstDash val="solid"/>
                      <a:round/>
                      <a:headEnd len="sm" w="sm" type="none"/>
                      <a:tailEnd len="sm" w="sm" type="none"/>
                    </a:lnL>
                    <a:lnR cap="flat" cmpd="sng" w="12700">
                      <a:solidFill>
                        <a:srgbClr val="E2DCCE"/>
                      </a:solidFill>
                      <a:prstDash val="solid"/>
                      <a:round/>
                      <a:headEnd len="sm" w="sm" type="none"/>
                      <a:tailEnd len="sm" w="sm" type="none"/>
                    </a:lnR>
                    <a:lnT cap="flat" cmpd="sng" w="12700">
                      <a:solidFill>
                        <a:srgbClr val="E2DCCE"/>
                      </a:solidFill>
                      <a:prstDash val="solid"/>
                      <a:round/>
                      <a:headEnd len="sm" w="sm" type="none"/>
                      <a:tailEnd len="sm" w="sm" type="none"/>
                    </a:lnT>
                    <a:lnB cap="flat" cmpd="sng" w="12700">
                      <a:solidFill>
                        <a:srgbClr val="E2DCCE"/>
                      </a:solidFill>
                      <a:prstDash val="solid"/>
                      <a:round/>
                      <a:headEnd len="sm" w="sm" type="none"/>
                      <a:tailEnd len="sm" w="sm" type="none"/>
                    </a:lnB>
                  </a:tcPr>
                </a:tc>
                <a:tc>
                  <a:txBody>
                    <a:bodyPr/>
                    <a:lstStyle/>
                    <a:p>
                      <a:pPr indent="0" lvl="0" marL="0" marR="0" rtl="0" algn="l">
                        <a:spcBef>
                          <a:spcPts val="0"/>
                        </a:spcBef>
                        <a:spcAft>
                          <a:spcPts val="0"/>
                        </a:spcAft>
                        <a:buClr>
                          <a:srgbClr val="6E7686"/>
                        </a:buClr>
                        <a:buSzPts val="1150"/>
                        <a:buFont typeface="Calibri"/>
                        <a:buNone/>
                      </a:pPr>
                      <a:r>
                        <a:rPr lang="en-US" sz="1150" u="none" cap="none" strike="noStrike">
                          <a:solidFill>
                            <a:srgbClr val="6E7686"/>
                          </a:solidFill>
                          <a:latin typeface="Calibri"/>
                          <a:ea typeface="Calibri"/>
                          <a:cs typeface="Calibri"/>
                          <a:sym typeface="Calibri"/>
                        </a:rPr>
                        <a:t>New company, first engineer hire</a:t>
                      </a:r>
                      <a:endParaRPr sz="1150" u="none" cap="none" strike="noStrike">
                        <a:latin typeface="Calibri"/>
                        <a:ea typeface="Calibri"/>
                        <a:cs typeface="Calibri"/>
                        <a:sym typeface="Calibri"/>
                      </a:endParaRPr>
                    </a:p>
                  </a:txBody>
                  <a:tcPr marT="76200" marB="76200" marR="76200" marL="76200" anchor="ctr">
                    <a:lnL cap="flat" cmpd="sng" w="12700">
                      <a:solidFill>
                        <a:srgbClr val="E2DCCE"/>
                      </a:solidFill>
                      <a:prstDash val="solid"/>
                      <a:round/>
                      <a:headEnd len="sm" w="sm" type="none"/>
                      <a:tailEnd len="sm" w="sm" type="none"/>
                    </a:lnL>
                    <a:lnR cap="flat" cmpd="sng" w="12700">
                      <a:solidFill>
                        <a:srgbClr val="E2DCCE"/>
                      </a:solidFill>
                      <a:prstDash val="solid"/>
                      <a:round/>
                      <a:headEnd len="sm" w="sm" type="none"/>
                      <a:tailEnd len="sm" w="sm" type="none"/>
                    </a:lnR>
                    <a:lnT cap="flat" cmpd="sng" w="12700">
                      <a:solidFill>
                        <a:srgbClr val="E2DCCE"/>
                      </a:solidFill>
                      <a:prstDash val="solid"/>
                      <a:round/>
                      <a:headEnd len="sm" w="sm" type="none"/>
                      <a:tailEnd len="sm" w="sm" type="none"/>
                    </a:lnT>
                    <a:lnB cap="flat" cmpd="sng" w="12700">
                      <a:solidFill>
                        <a:srgbClr val="E2DCCE"/>
                      </a:solidFill>
                      <a:prstDash val="solid"/>
                      <a:round/>
                      <a:headEnd len="sm" w="sm" type="none"/>
                      <a:tailEnd len="sm" w="sm" type="none"/>
                    </a:lnB>
                  </a:tcPr>
                </a:tc>
              </a:tr>
              <a:tr h="640075">
                <a:tc>
                  <a:txBody>
                    <a:bodyPr/>
                    <a:lstStyle/>
                    <a:p>
                      <a:pPr indent="0" lvl="0" marL="0" marR="0" rtl="0" algn="l">
                        <a:spcBef>
                          <a:spcPts val="0"/>
                        </a:spcBef>
                        <a:spcAft>
                          <a:spcPts val="0"/>
                        </a:spcAft>
                        <a:buClr>
                          <a:srgbClr val="1D2536"/>
                        </a:buClr>
                        <a:buSzPts val="1250"/>
                        <a:buFont typeface="Calibri"/>
                        <a:buNone/>
                      </a:pPr>
                      <a:r>
                        <a:rPr b="1" lang="en-US" sz="1250" u="none" cap="none" strike="noStrike">
                          <a:solidFill>
                            <a:srgbClr val="1D2536"/>
                          </a:solidFill>
                          <a:latin typeface="Calibri"/>
                          <a:ea typeface="Calibri"/>
                          <a:cs typeface="Calibri"/>
                          <a:sym typeface="Calibri"/>
                        </a:rPr>
                        <a:t>Embedded Executive</a:t>
                      </a:r>
                      <a:endParaRPr sz="1250" u="none" cap="none" strike="noStrike">
                        <a:latin typeface="Calibri"/>
                        <a:ea typeface="Calibri"/>
                        <a:cs typeface="Calibri"/>
                        <a:sym typeface="Calibri"/>
                      </a:endParaRPr>
                    </a:p>
                  </a:txBody>
                  <a:tcPr marT="76200" marB="76200" marR="76200" marL="76200" anchor="ctr">
                    <a:lnL cap="flat" cmpd="sng" w="12700">
                      <a:solidFill>
                        <a:srgbClr val="E2DCCE"/>
                      </a:solidFill>
                      <a:prstDash val="solid"/>
                      <a:round/>
                      <a:headEnd len="sm" w="sm" type="none"/>
                      <a:tailEnd len="sm" w="sm" type="none"/>
                    </a:lnL>
                    <a:lnR cap="flat" cmpd="sng" w="12700">
                      <a:solidFill>
                        <a:srgbClr val="E2DCCE"/>
                      </a:solidFill>
                      <a:prstDash val="solid"/>
                      <a:round/>
                      <a:headEnd len="sm" w="sm" type="none"/>
                      <a:tailEnd len="sm" w="sm" type="none"/>
                    </a:lnR>
                    <a:lnT cap="flat" cmpd="sng" w="12700">
                      <a:solidFill>
                        <a:srgbClr val="E2DCCE"/>
                      </a:solidFill>
                      <a:prstDash val="solid"/>
                      <a:round/>
                      <a:headEnd len="sm" w="sm" type="none"/>
                      <a:tailEnd len="sm" w="sm" type="none"/>
                    </a:lnT>
                    <a:lnB cap="flat" cmpd="sng" w="12700">
                      <a:solidFill>
                        <a:srgbClr val="E2DCCE"/>
                      </a:solidFill>
                      <a:prstDash val="solid"/>
                      <a:round/>
                      <a:headEnd len="sm" w="sm" type="none"/>
                      <a:tailEnd len="sm" w="sm" type="none"/>
                    </a:lnB>
                  </a:tcPr>
                </a:tc>
                <a:tc>
                  <a:txBody>
                    <a:bodyPr/>
                    <a:lstStyle/>
                    <a:p>
                      <a:pPr indent="0" lvl="0" marL="0" marR="0" rtl="0" algn="l">
                        <a:spcBef>
                          <a:spcPts val="0"/>
                        </a:spcBef>
                        <a:spcAft>
                          <a:spcPts val="0"/>
                        </a:spcAft>
                        <a:buClr>
                          <a:srgbClr val="1D2536"/>
                        </a:buClr>
                        <a:buSzPts val="1150"/>
                        <a:buFont typeface="Calibri"/>
                        <a:buNone/>
                      </a:pPr>
                      <a:r>
                        <a:rPr lang="en-US" sz="1150" u="none" cap="none" strike="noStrike">
                          <a:solidFill>
                            <a:srgbClr val="1D2536"/>
                          </a:solidFill>
                          <a:latin typeface="Calibri"/>
                          <a:ea typeface="Calibri"/>
                          <a:cs typeface="Calibri"/>
                          <a:sym typeface="Calibri"/>
                        </a:rPr>
                        <a:t>Funding news, job boards, web</a:t>
                      </a:r>
                      <a:endParaRPr sz="1150" u="none" cap="none" strike="noStrike">
                        <a:latin typeface="Calibri"/>
                        <a:ea typeface="Calibri"/>
                        <a:cs typeface="Calibri"/>
                        <a:sym typeface="Calibri"/>
                      </a:endParaRPr>
                    </a:p>
                  </a:txBody>
                  <a:tcPr marT="76200" marB="76200" marR="76200" marL="76200" anchor="ctr">
                    <a:lnL cap="flat" cmpd="sng" w="12700">
                      <a:solidFill>
                        <a:srgbClr val="E2DCCE"/>
                      </a:solidFill>
                      <a:prstDash val="solid"/>
                      <a:round/>
                      <a:headEnd len="sm" w="sm" type="none"/>
                      <a:tailEnd len="sm" w="sm" type="none"/>
                    </a:lnL>
                    <a:lnR cap="flat" cmpd="sng" w="12700">
                      <a:solidFill>
                        <a:srgbClr val="E2DCCE"/>
                      </a:solidFill>
                      <a:prstDash val="solid"/>
                      <a:round/>
                      <a:headEnd len="sm" w="sm" type="none"/>
                      <a:tailEnd len="sm" w="sm" type="none"/>
                    </a:lnR>
                    <a:lnT cap="flat" cmpd="sng" w="12700">
                      <a:solidFill>
                        <a:srgbClr val="E2DCCE"/>
                      </a:solidFill>
                      <a:prstDash val="solid"/>
                      <a:round/>
                      <a:headEnd len="sm" w="sm" type="none"/>
                      <a:tailEnd len="sm" w="sm" type="none"/>
                    </a:lnT>
                    <a:lnB cap="flat" cmpd="sng" w="12700">
                      <a:solidFill>
                        <a:srgbClr val="E2DCCE"/>
                      </a:solidFill>
                      <a:prstDash val="solid"/>
                      <a:round/>
                      <a:headEnd len="sm" w="sm" type="none"/>
                      <a:tailEnd len="sm" w="sm" type="none"/>
                    </a:lnB>
                  </a:tcPr>
                </a:tc>
                <a:tc>
                  <a:txBody>
                    <a:bodyPr/>
                    <a:lstStyle/>
                    <a:p>
                      <a:pPr indent="0" lvl="0" marL="0" marR="0" rtl="0" algn="l">
                        <a:spcBef>
                          <a:spcPts val="0"/>
                        </a:spcBef>
                        <a:spcAft>
                          <a:spcPts val="0"/>
                        </a:spcAft>
                        <a:buClr>
                          <a:srgbClr val="6E7686"/>
                        </a:buClr>
                        <a:buSzPts val="1150"/>
                        <a:buFont typeface="Calibri"/>
                        <a:buNone/>
                      </a:pPr>
                      <a:r>
                        <a:rPr lang="en-US" sz="1150" u="none" cap="none" strike="noStrike">
                          <a:solidFill>
                            <a:srgbClr val="6E7686"/>
                          </a:solidFill>
                          <a:latin typeface="Calibri"/>
                          <a:ea typeface="Calibri"/>
                          <a:cs typeface="Calibri"/>
                          <a:sym typeface="Calibri"/>
                        </a:rPr>
                        <a:t>Hiring a Head of Eng or Ops</a:t>
                      </a:r>
                      <a:endParaRPr sz="1150" u="none" cap="none" strike="noStrike">
                        <a:latin typeface="Calibri"/>
                        <a:ea typeface="Calibri"/>
                        <a:cs typeface="Calibri"/>
                        <a:sym typeface="Calibri"/>
                      </a:endParaRPr>
                    </a:p>
                  </a:txBody>
                  <a:tcPr marT="76200" marB="76200" marR="76200" marL="76200" anchor="ctr">
                    <a:lnL cap="flat" cmpd="sng" w="12700">
                      <a:solidFill>
                        <a:srgbClr val="E2DCCE"/>
                      </a:solidFill>
                      <a:prstDash val="solid"/>
                      <a:round/>
                      <a:headEnd len="sm" w="sm" type="none"/>
                      <a:tailEnd len="sm" w="sm" type="none"/>
                    </a:lnL>
                    <a:lnR cap="flat" cmpd="sng" w="12700">
                      <a:solidFill>
                        <a:srgbClr val="E2DCCE"/>
                      </a:solidFill>
                      <a:prstDash val="solid"/>
                      <a:round/>
                      <a:headEnd len="sm" w="sm" type="none"/>
                      <a:tailEnd len="sm" w="sm" type="none"/>
                    </a:lnR>
                    <a:lnT cap="flat" cmpd="sng" w="12700">
                      <a:solidFill>
                        <a:srgbClr val="E2DCCE"/>
                      </a:solidFill>
                      <a:prstDash val="solid"/>
                      <a:round/>
                      <a:headEnd len="sm" w="sm" type="none"/>
                      <a:tailEnd len="sm" w="sm" type="none"/>
                    </a:lnT>
                    <a:lnB cap="flat" cmpd="sng" w="12700">
                      <a:solidFill>
                        <a:srgbClr val="E2DCCE"/>
                      </a:solidFill>
                      <a:prstDash val="solid"/>
                      <a:round/>
                      <a:headEnd len="sm" w="sm" type="none"/>
                      <a:tailEnd len="sm" w="sm" type="none"/>
                    </a:lnB>
                  </a:tcPr>
                </a:tc>
              </a:tr>
              <a:tr h="640075">
                <a:tc>
                  <a:txBody>
                    <a:bodyPr/>
                    <a:lstStyle/>
                    <a:p>
                      <a:pPr indent="0" lvl="0" marL="0" marR="0" rtl="0" algn="l">
                        <a:spcBef>
                          <a:spcPts val="0"/>
                        </a:spcBef>
                        <a:spcAft>
                          <a:spcPts val="0"/>
                        </a:spcAft>
                        <a:buClr>
                          <a:srgbClr val="1D2536"/>
                        </a:buClr>
                        <a:buSzPts val="1250"/>
                        <a:buFont typeface="Calibri"/>
                        <a:buNone/>
                      </a:pPr>
                      <a:r>
                        <a:rPr b="1" lang="en-US" sz="1250" u="none" cap="none" strike="noStrike">
                          <a:solidFill>
                            <a:srgbClr val="1D2536"/>
                          </a:solidFill>
                          <a:latin typeface="Calibri"/>
                          <a:ea typeface="Calibri"/>
                          <a:cs typeface="Calibri"/>
                          <a:sym typeface="Calibri"/>
                        </a:rPr>
                        <a:t>Growth Operator</a:t>
                      </a:r>
                      <a:endParaRPr sz="1250" u="none" cap="none" strike="noStrike">
                        <a:latin typeface="Calibri"/>
                        <a:ea typeface="Calibri"/>
                        <a:cs typeface="Calibri"/>
                        <a:sym typeface="Calibri"/>
                      </a:endParaRPr>
                    </a:p>
                  </a:txBody>
                  <a:tcPr marT="76200" marB="76200" marR="76200" marL="76200" anchor="ctr">
                    <a:lnL cap="flat" cmpd="sng" w="12700">
                      <a:solidFill>
                        <a:srgbClr val="E2DCCE"/>
                      </a:solidFill>
                      <a:prstDash val="solid"/>
                      <a:round/>
                      <a:headEnd len="sm" w="sm" type="none"/>
                      <a:tailEnd len="sm" w="sm" type="none"/>
                    </a:lnL>
                    <a:lnR cap="flat" cmpd="sng" w="12700">
                      <a:solidFill>
                        <a:srgbClr val="E2DCCE"/>
                      </a:solidFill>
                      <a:prstDash val="solid"/>
                      <a:round/>
                      <a:headEnd len="sm" w="sm" type="none"/>
                      <a:tailEnd len="sm" w="sm" type="none"/>
                    </a:lnR>
                    <a:lnT cap="flat" cmpd="sng" w="12700">
                      <a:solidFill>
                        <a:srgbClr val="E2DCCE"/>
                      </a:solidFill>
                      <a:prstDash val="solid"/>
                      <a:round/>
                      <a:headEnd len="sm" w="sm" type="none"/>
                      <a:tailEnd len="sm" w="sm" type="none"/>
                    </a:lnT>
                    <a:lnB cap="flat" cmpd="sng" w="12700">
                      <a:solidFill>
                        <a:srgbClr val="E2DCCE"/>
                      </a:solidFill>
                      <a:prstDash val="solid"/>
                      <a:round/>
                      <a:headEnd len="sm" w="sm" type="none"/>
                      <a:tailEnd len="sm" w="sm" type="none"/>
                    </a:lnB>
                  </a:tcPr>
                </a:tc>
                <a:tc>
                  <a:txBody>
                    <a:bodyPr/>
                    <a:lstStyle/>
                    <a:p>
                      <a:pPr indent="0" lvl="0" marL="0" marR="0" rtl="0" algn="l">
                        <a:spcBef>
                          <a:spcPts val="0"/>
                        </a:spcBef>
                        <a:spcAft>
                          <a:spcPts val="0"/>
                        </a:spcAft>
                        <a:buClr>
                          <a:srgbClr val="1D2536"/>
                        </a:buClr>
                        <a:buSzPts val="1150"/>
                        <a:buFont typeface="Calibri"/>
                        <a:buNone/>
                      </a:pPr>
                      <a:r>
                        <a:rPr lang="en-US" sz="1150" u="none" cap="none" strike="noStrike">
                          <a:solidFill>
                            <a:srgbClr val="1D2536"/>
                          </a:solidFill>
                          <a:latin typeface="Calibri"/>
                          <a:ea typeface="Calibri"/>
                          <a:cs typeface="Calibri"/>
                          <a:sym typeface="Calibri"/>
                        </a:rPr>
                        <a:t>Series A and B news, job boards</a:t>
                      </a:r>
                      <a:endParaRPr sz="1150" u="none" cap="none" strike="noStrike">
                        <a:latin typeface="Calibri"/>
                        <a:ea typeface="Calibri"/>
                        <a:cs typeface="Calibri"/>
                        <a:sym typeface="Calibri"/>
                      </a:endParaRPr>
                    </a:p>
                  </a:txBody>
                  <a:tcPr marT="76200" marB="76200" marR="76200" marL="76200" anchor="ctr">
                    <a:lnL cap="flat" cmpd="sng" w="12700">
                      <a:solidFill>
                        <a:srgbClr val="E2DCCE"/>
                      </a:solidFill>
                      <a:prstDash val="solid"/>
                      <a:round/>
                      <a:headEnd len="sm" w="sm" type="none"/>
                      <a:tailEnd len="sm" w="sm" type="none"/>
                    </a:lnL>
                    <a:lnR cap="flat" cmpd="sng" w="12700">
                      <a:solidFill>
                        <a:srgbClr val="E2DCCE"/>
                      </a:solidFill>
                      <a:prstDash val="solid"/>
                      <a:round/>
                      <a:headEnd len="sm" w="sm" type="none"/>
                      <a:tailEnd len="sm" w="sm" type="none"/>
                    </a:lnR>
                    <a:lnT cap="flat" cmpd="sng" w="12700">
                      <a:solidFill>
                        <a:srgbClr val="E2DCCE"/>
                      </a:solidFill>
                      <a:prstDash val="solid"/>
                      <a:round/>
                      <a:headEnd len="sm" w="sm" type="none"/>
                      <a:tailEnd len="sm" w="sm" type="none"/>
                    </a:lnT>
                    <a:lnB cap="flat" cmpd="sng" w="12700">
                      <a:solidFill>
                        <a:srgbClr val="E2DCCE"/>
                      </a:solidFill>
                      <a:prstDash val="solid"/>
                      <a:round/>
                      <a:headEnd len="sm" w="sm" type="none"/>
                      <a:tailEnd len="sm" w="sm" type="none"/>
                    </a:lnB>
                  </a:tcPr>
                </a:tc>
                <a:tc>
                  <a:txBody>
                    <a:bodyPr/>
                    <a:lstStyle/>
                    <a:p>
                      <a:pPr indent="0" lvl="0" marL="0" marR="0" rtl="0" algn="l">
                        <a:spcBef>
                          <a:spcPts val="0"/>
                        </a:spcBef>
                        <a:spcAft>
                          <a:spcPts val="0"/>
                        </a:spcAft>
                        <a:buClr>
                          <a:srgbClr val="6E7686"/>
                        </a:buClr>
                        <a:buSzPts val="1150"/>
                        <a:buFont typeface="Calibri"/>
                        <a:buNone/>
                      </a:pPr>
                      <a:r>
                        <a:rPr lang="en-US" sz="1150" u="none" cap="none" strike="noStrike">
                          <a:solidFill>
                            <a:srgbClr val="6E7686"/>
                          </a:solidFill>
                          <a:latin typeface="Calibri"/>
                          <a:ea typeface="Calibri"/>
                          <a:cs typeface="Calibri"/>
                          <a:sym typeface="Calibri"/>
                        </a:rPr>
                        <a:t>Many open roles, ad spend</a:t>
                      </a:r>
                      <a:endParaRPr sz="1150" u="none" cap="none" strike="noStrike">
                        <a:latin typeface="Calibri"/>
                        <a:ea typeface="Calibri"/>
                        <a:cs typeface="Calibri"/>
                        <a:sym typeface="Calibri"/>
                      </a:endParaRPr>
                    </a:p>
                  </a:txBody>
                  <a:tcPr marT="76200" marB="76200" marR="76200" marL="76200" anchor="ctr">
                    <a:lnL cap="flat" cmpd="sng" w="12700">
                      <a:solidFill>
                        <a:srgbClr val="E2DCCE"/>
                      </a:solidFill>
                      <a:prstDash val="solid"/>
                      <a:round/>
                      <a:headEnd len="sm" w="sm" type="none"/>
                      <a:tailEnd len="sm" w="sm" type="none"/>
                    </a:lnL>
                    <a:lnR cap="flat" cmpd="sng" w="12700">
                      <a:solidFill>
                        <a:srgbClr val="E2DCCE"/>
                      </a:solidFill>
                      <a:prstDash val="solid"/>
                      <a:round/>
                      <a:headEnd len="sm" w="sm" type="none"/>
                      <a:tailEnd len="sm" w="sm" type="none"/>
                    </a:lnR>
                    <a:lnT cap="flat" cmpd="sng" w="12700">
                      <a:solidFill>
                        <a:srgbClr val="E2DCCE"/>
                      </a:solidFill>
                      <a:prstDash val="solid"/>
                      <a:round/>
                      <a:headEnd len="sm" w="sm" type="none"/>
                      <a:tailEnd len="sm" w="sm" type="none"/>
                    </a:lnT>
                    <a:lnB cap="flat" cmpd="sng" w="12700">
                      <a:solidFill>
                        <a:srgbClr val="E2DCCE"/>
                      </a:solidFill>
                      <a:prstDash val="solid"/>
                      <a:round/>
                      <a:headEnd len="sm" w="sm" type="none"/>
                      <a:tailEnd len="sm" w="sm" type="none"/>
                    </a:lnB>
                  </a:tcPr>
                </a:tc>
              </a:tr>
              <a:tr h="640075">
                <a:tc>
                  <a:txBody>
                    <a:bodyPr/>
                    <a:lstStyle/>
                    <a:p>
                      <a:pPr indent="0" lvl="0" marL="0" marR="0" rtl="0" algn="l">
                        <a:spcBef>
                          <a:spcPts val="0"/>
                        </a:spcBef>
                        <a:spcAft>
                          <a:spcPts val="0"/>
                        </a:spcAft>
                        <a:buClr>
                          <a:srgbClr val="1D2536"/>
                        </a:buClr>
                        <a:buSzPts val="1250"/>
                        <a:buFont typeface="Calibri"/>
                        <a:buNone/>
                      </a:pPr>
                      <a:r>
                        <a:rPr b="1" lang="en-US" sz="1250" u="none" cap="none" strike="noStrike">
                          <a:solidFill>
                            <a:srgbClr val="1D2536"/>
                          </a:solidFill>
                          <a:latin typeface="Calibri"/>
                          <a:ea typeface="Calibri"/>
                          <a:cs typeface="Calibri"/>
                          <a:sym typeface="Calibri"/>
                        </a:rPr>
                        <a:t>Transformation Sprint</a:t>
                      </a:r>
                      <a:endParaRPr sz="1250" u="none" cap="none" strike="noStrike">
                        <a:latin typeface="Calibri"/>
                        <a:ea typeface="Calibri"/>
                        <a:cs typeface="Calibri"/>
                        <a:sym typeface="Calibri"/>
                      </a:endParaRPr>
                    </a:p>
                  </a:txBody>
                  <a:tcPr marT="76200" marB="76200" marR="76200" marL="76200" anchor="ctr">
                    <a:lnL cap="flat" cmpd="sng" w="12700">
                      <a:solidFill>
                        <a:srgbClr val="E2DCCE"/>
                      </a:solidFill>
                      <a:prstDash val="solid"/>
                      <a:round/>
                      <a:headEnd len="sm" w="sm" type="none"/>
                      <a:tailEnd len="sm" w="sm" type="none"/>
                    </a:lnL>
                    <a:lnR cap="flat" cmpd="sng" w="12700">
                      <a:solidFill>
                        <a:srgbClr val="E2DCCE"/>
                      </a:solidFill>
                      <a:prstDash val="solid"/>
                      <a:round/>
                      <a:headEnd len="sm" w="sm" type="none"/>
                      <a:tailEnd len="sm" w="sm" type="none"/>
                    </a:lnR>
                    <a:lnT cap="flat" cmpd="sng" w="12700">
                      <a:solidFill>
                        <a:srgbClr val="E2DCCE"/>
                      </a:solidFill>
                      <a:prstDash val="solid"/>
                      <a:round/>
                      <a:headEnd len="sm" w="sm" type="none"/>
                      <a:tailEnd len="sm" w="sm" type="none"/>
                    </a:lnT>
                    <a:lnB cap="flat" cmpd="sng" w="12700">
                      <a:solidFill>
                        <a:srgbClr val="E2DCCE"/>
                      </a:solidFill>
                      <a:prstDash val="solid"/>
                      <a:round/>
                      <a:headEnd len="sm" w="sm" type="none"/>
                      <a:tailEnd len="sm" w="sm" type="none"/>
                    </a:lnB>
                  </a:tcPr>
                </a:tc>
                <a:tc>
                  <a:txBody>
                    <a:bodyPr/>
                    <a:lstStyle/>
                    <a:p>
                      <a:pPr indent="0" lvl="0" marL="0" marR="0" rtl="0" algn="l">
                        <a:spcBef>
                          <a:spcPts val="0"/>
                        </a:spcBef>
                        <a:spcAft>
                          <a:spcPts val="0"/>
                        </a:spcAft>
                        <a:buClr>
                          <a:srgbClr val="1D2536"/>
                        </a:buClr>
                        <a:buSzPts val="1150"/>
                        <a:buFont typeface="Calibri"/>
                        <a:buNone/>
                      </a:pPr>
                      <a:r>
                        <a:rPr lang="en-US" sz="1150" u="none" cap="none" strike="noStrike">
                          <a:solidFill>
                            <a:srgbClr val="1D2536"/>
                          </a:solidFill>
                          <a:latin typeface="Calibri"/>
                          <a:ea typeface="Calibri"/>
                          <a:cs typeface="Calibri"/>
                          <a:sym typeface="Calibri"/>
                        </a:rPr>
                        <a:t>Project posts, contractor hiring, Google Maps</a:t>
                      </a:r>
                      <a:endParaRPr sz="1150" u="none" cap="none" strike="noStrike">
                        <a:latin typeface="Calibri"/>
                        <a:ea typeface="Calibri"/>
                        <a:cs typeface="Calibri"/>
                        <a:sym typeface="Calibri"/>
                      </a:endParaRPr>
                    </a:p>
                  </a:txBody>
                  <a:tcPr marT="76200" marB="76200" marR="76200" marL="76200" anchor="ctr">
                    <a:lnL cap="flat" cmpd="sng" w="12700">
                      <a:solidFill>
                        <a:srgbClr val="E2DCCE"/>
                      </a:solidFill>
                      <a:prstDash val="solid"/>
                      <a:round/>
                      <a:headEnd len="sm" w="sm" type="none"/>
                      <a:tailEnd len="sm" w="sm" type="none"/>
                    </a:lnL>
                    <a:lnR cap="flat" cmpd="sng" w="12700">
                      <a:solidFill>
                        <a:srgbClr val="E2DCCE"/>
                      </a:solidFill>
                      <a:prstDash val="solid"/>
                      <a:round/>
                      <a:headEnd len="sm" w="sm" type="none"/>
                      <a:tailEnd len="sm" w="sm" type="none"/>
                    </a:lnR>
                    <a:lnT cap="flat" cmpd="sng" w="12700">
                      <a:solidFill>
                        <a:srgbClr val="E2DCCE"/>
                      </a:solidFill>
                      <a:prstDash val="solid"/>
                      <a:round/>
                      <a:headEnd len="sm" w="sm" type="none"/>
                      <a:tailEnd len="sm" w="sm" type="none"/>
                    </a:lnT>
                    <a:lnB cap="flat" cmpd="sng" w="12700">
                      <a:solidFill>
                        <a:srgbClr val="E2DCCE"/>
                      </a:solidFill>
                      <a:prstDash val="solid"/>
                      <a:round/>
                      <a:headEnd len="sm" w="sm" type="none"/>
                      <a:tailEnd len="sm" w="sm" type="none"/>
                    </a:lnB>
                  </a:tcPr>
                </a:tc>
                <a:tc>
                  <a:txBody>
                    <a:bodyPr/>
                    <a:lstStyle/>
                    <a:p>
                      <a:pPr indent="0" lvl="0" marL="0" marR="0" rtl="0" algn="l">
                        <a:spcBef>
                          <a:spcPts val="0"/>
                        </a:spcBef>
                        <a:spcAft>
                          <a:spcPts val="0"/>
                        </a:spcAft>
                        <a:buClr>
                          <a:srgbClr val="6E7686"/>
                        </a:buClr>
                        <a:buSzPts val="1150"/>
                        <a:buFont typeface="Calibri"/>
                        <a:buNone/>
                      </a:pPr>
                      <a:r>
                        <a:rPr lang="en-US" sz="1150" u="none" cap="none" strike="noStrike">
                          <a:solidFill>
                            <a:srgbClr val="6E7686"/>
                          </a:solidFill>
                          <a:latin typeface="Calibri"/>
                          <a:ea typeface="Calibri"/>
                          <a:cs typeface="Calibri"/>
                          <a:sym typeface="Calibri"/>
                        </a:rPr>
                        <a:t>Public project intent</a:t>
                      </a:r>
                      <a:endParaRPr sz="1150" u="none" cap="none" strike="noStrike">
                        <a:latin typeface="Calibri"/>
                        <a:ea typeface="Calibri"/>
                        <a:cs typeface="Calibri"/>
                        <a:sym typeface="Calibri"/>
                      </a:endParaRPr>
                    </a:p>
                  </a:txBody>
                  <a:tcPr marT="76200" marB="76200" marR="76200" marL="76200" anchor="ctr">
                    <a:lnL cap="flat" cmpd="sng" w="12700">
                      <a:solidFill>
                        <a:srgbClr val="E2DCCE"/>
                      </a:solidFill>
                      <a:prstDash val="solid"/>
                      <a:round/>
                      <a:headEnd len="sm" w="sm" type="none"/>
                      <a:tailEnd len="sm" w="sm" type="none"/>
                    </a:lnL>
                    <a:lnR cap="flat" cmpd="sng" w="12700">
                      <a:solidFill>
                        <a:srgbClr val="E2DCCE"/>
                      </a:solidFill>
                      <a:prstDash val="solid"/>
                      <a:round/>
                      <a:headEnd len="sm" w="sm" type="none"/>
                      <a:tailEnd len="sm" w="sm" type="none"/>
                    </a:lnR>
                    <a:lnT cap="flat" cmpd="sng" w="12700">
                      <a:solidFill>
                        <a:srgbClr val="E2DCCE"/>
                      </a:solidFill>
                      <a:prstDash val="solid"/>
                      <a:round/>
                      <a:headEnd len="sm" w="sm" type="none"/>
                      <a:tailEnd len="sm" w="sm" type="none"/>
                    </a:lnT>
                    <a:lnB cap="flat" cmpd="sng" w="12700">
                      <a:solidFill>
                        <a:srgbClr val="E2DCCE"/>
                      </a:solidFill>
                      <a:prstDash val="solid"/>
                      <a:round/>
                      <a:headEnd len="sm" w="sm" type="none"/>
                      <a:tailEnd len="sm" w="sm" type="none"/>
                    </a:lnB>
                  </a:tcPr>
                </a:tc>
              </a:tr>
            </a:tbl>
          </a:graphicData>
        </a:graphic>
      </p:graphicFrame>
      <p:sp>
        <p:nvSpPr>
          <p:cNvPr id="284" name="Google Shape;284;p13"/>
          <p:cNvSpPr/>
          <p:nvPr/>
        </p:nvSpPr>
        <p:spPr>
          <a:xfrm>
            <a:off x="548640" y="4846320"/>
            <a:ext cx="11064240" cy="960120"/>
          </a:xfrm>
          <a:prstGeom prst="roundRect">
            <a:avLst>
              <a:gd fmla="val 6667" name="adj"/>
            </a:avLst>
          </a:prstGeom>
          <a:solidFill>
            <a:srgbClr val="1D2536"/>
          </a:solidFill>
          <a:ln cap="flat" cmpd="sng" w="12700">
            <a:solidFill>
              <a:srgbClr val="1D253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 name="Google Shape;285;p13"/>
          <p:cNvSpPr/>
          <p:nvPr/>
        </p:nvSpPr>
        <p:spPr>
          <a:xfrm>
            <a:off x="914400" y="4846320"/>
            <a:ext cx="10332720" cy="96012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Clr>
                <a:srgbClr val="9DC3E6"/>
              </a:buClr>
              <a:buSzPts val="1400"/>
              <a:buFont typeface="Calibri"/>
              <a:buNone/>
            </a:pPr>
            <a:r>
              <a:rPr b="1" i="0" lang="en-US" sz="1400" u="none" cap="none" strike="noStrike">
                <a:solidFill>
                  <a:srgbClr val="9DC3E6"/>
                </a:solidFill>
                <a:latin typeface="Calibri"/>
                <a:ea typeface="Calibri"/>
                <a:cs typeface="Calibri"/>
                <a:sym typeface="Calibri"/>
              </a:rPr>
              <a:t>The intent signals are the difference.  </a:t>
            </a:r>
            <a:r>
              <a:rPr b="0" i="0" lang="en-US" sz="1400" u="none" cap="none" strike="noStrike">
                <a:solidFill>
                  <a:srgbClr val="D9E2EF"/>
                </a:solidFill>
                <a:latin typeface="Calibri"/>
                <a:ea typeface="Calibri"/>
                <a:cs typeface="Calibri"/>
                <a:sym typeface="Calibri"/>
              </a:rPr>
              <a:t>Who is hiring leadership, who is funded, and who is advertising are free public signals that turn a name into a real, ready lead.</a:t>
            </a:r>
            <a:endParaRPr b="0" i="0" sz="1400" u="none" cap="none" strike="noStrike">
              <a:solidFill>
                <a:schemeClr val="dk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7F1"/>
        </a:solidFill>
      </p:bgPr>
    </p:bg>
    <p:spTree>
      <p:nvGrpSpPr>
        <p:cNvPr id="290" name="Shape 290"/>
        <p:cNvGrpSpPr/>
        <p:nvPr/>
      </p:nvGrpSpPr>
      <p:grpSpPr>
        <a:xfrm>
          <a:off x="0" y="0"/>
          <a:ext cx="0" cy="0"/>
          <a:chOff x="0" y="0"/>
          <a:chExt cx="0" cy="0"/>
        </a:xfrm>
      </p:grpSpPr>
      <p:sp>
        <p:nvSpPr>
          <p:cNvPr id="291" name="Google Shape;291;p14"/>
          <p:cNvSpPr/>
          <p:nvPr/>
        </p:nvSpPr>
        <p:spPr>
          <a:xfrm>
            <a:off x="548640" y="384048"/>
            <a:ext cx="1106424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682B4"/>
              </a:buClr>
              <a:buSzPts val="1200"/>
              <a:buFont typeface="Calibri"/>
              <a:buNone/>
            </a:pPr>
            <a:r>
              <a:rPr b="1" i="0" lang="en-US" sz="1200" u="none" cap="none" strike="noStrike">
                <a:solidFill>
                  <a:srgbClr val="4682B4"/>
                </a:solidFill>
                <a:latin typeface="Calibri"/>
                <a:ea typeface="Calibri"/>
                <a:cs typeface="Calibri"/>
                <a:sym typeface="Calibri"/>
              </a:rPr>
              <a:t>HOW IT RUNS ITSELF</a:t>
            </a:r>
            <a:endParaRPr b="0" i="0" sz="1200" u="none" cap="none" strike="noStrike">
              <a:solidFill>
                <a:schemeClr val="dk1"/>
              </a:solidFill>
              <a:latin typeface="Calibri"/>
              <a:ea typeface="Calibri"/>
              <a:cs typeface="Calibri"/>
              <a:sym typeface="Calibri"/>
            </a:endParaRPr>
          </a:p>
        </p:txBody>
      </p:sp>
      <p:sp>
        <p:nvSpPr>
          <p:cNvPr id="292" name="Google Shape;292;p14"/>
          <p:cNvSpPr/>
          <p:nvPr/>
        </p:nvSpPr>
        <p:spPr>
          <a:xfrm>
            <a:off x="548640" y="658368"/>
            <a:ext cx="11064240"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2536"/>
              </a:buClr>
              <a:buSzPts val="2700"/>
              <a:buFont typeface="Calibri"/>
              <a:buNone/>
            </a:pPr>
            <a:r>
              <a:rPr b="1" i="0" lang="en-US" sz="2700" u="none" cap="none" strike="noStrike">
                <a:solidFill>
                  <a:srgbClr val="1D2536"/>
                </a:solidFill>
                <a:latin typeface="Calibri"/>
                <a:ea typeface="Calibri"/>
                <a:cs typeface="Calibri"/>
                <a:sym typeface="Calibri"/>
              </a:rPr>
              <a:t>Claude operates the tools through MCP</a:t>
            </a:r>
            <a:endParaRPr b="0" i="0" sz="2700" u="none" cap="none" strike="noStrike">
              <a:solidFill>
                <a:schemeClr val="dk1"/>
              </a:solidFill>
              <a:latin typeface="Calibri"/>
              <a:ea typeface="Calibri"/>
              <a:cs typeface="Calibri"/>
              <a:sym typeface="Calibri"/>
            </a:endParaRPr>
          </a:p>
        </p:txBody>
      </p:sp>
      <p:sp>
        <p:nvSpPr>
          <p:cNvPr id="293" name="Google Shape;293;p14"/>
          <p:cNvSpPr/>
          <p:nvPr/>
        </p:nvSpPr>
        <p:spPr>
          <a:xfrm>
            <a:off x="548640" y="1783080"/>
            <a:ext cx="1828800" cy="914400"/>
          </a:xfrm>
          <a:prstGeom prst="roundRect">
            <a:avLst>
              <a:gd fmla="val 9000" name="adj"/>
            </a:avLst>
          </a:prstGeom>
          <a:solidFill>
            <a:srgbClr val="E7EEF5"/>
          </a:solidFill>
          <a:ln cap="flat" cmpd="sng" w="12700">
            <a:solidFill>
              <a:srgbClr val="E7EEF5"/>
            </a:solidFill>
            <a:prstDash val="solid"/>
            <a:round/>
            <a:headEnd len="sm" w="sm" type="none"/>
            <a:tailEnd len="sm" w="sm" type="none"/>
          </a:ln>
          <a:effectLst>
            <a:outerShdw blurRad="88900" rotWithShape="0" algn="bl" dir="5400000" dist="38100">
              <a:srgbClr val="000000">
                <a:alpha val="1294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4" name="Google Shape;294;p14"/>
          <p:cNvSpPr/>
          <p:nvPr/>
        </p:nvSpPr>
        <p:spPr>
          <a:xfrm>
            <a:off x="548640" y="1783080"/>
            <a:ext cx="1828800" cy="914400"/>
          </a:xfrm>
          <a:prstGeom prst="rect">
            <a:avLst/>
          </a:prstGeom>
          <a:noFill/>
          <a:ln>
            <a:noFill/>
          </a:ln>
        </p:spPr>
        <p:txBody>
          <a:bodyPr anchorCtr="0" anchor="ctr" bIns="50800" lIns="50800" spcFirstLastPara="1" rIns="50800" wrap="square" tIns="50800">
            <a:noAutofit/>
          </a:bodyPr>
          <a:lstStyle/>
          <a:p>
            <a:pPr indent="0" lvl="0" marL="0" marR="0" rtl="0" algn="ctr">
              <a:spcBef>
                <a:spcPts val="0"/>
              </a:spcBef>
              <a:spcAft>
                <a:spcPts val="0"/>
              </a:spcAft>
              <a:buClr>
                <a:srgbClr val="1D2536"/>
              </a:buClr>
              <a:buSzPts val="1250"/>
              <a:buFont typeface="Calibri"/>
              <a:buNone/>
            </a:pPr>
            <a:r>
              <a:rPr b="1" i="0" lang="en-US" sz="1250" u="none" cap="none" strike="noStrike">
                <a:solidFill>
                  <a:srgbClr val="1D2536"/>
                </a:solidFill>
                <a:latin typeface="Calibri"/>
                <a:ea typeface="Calibri"/>
                <a:cs typeface="Calibri"/>
                <a:sym typeface="Calibri"/>
              </a:rPr>
              <a:t>Your profiles</a:t>
            </a:r>
            <a:endParaRPr b="0" i="0" sz="125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6E7686"/>
              </a:buClr>
              <a:buSzPts val="1000"/>
              <a:buFont typeface="Calibri"/>
              <a:buNone/>
            </a:pPr>
            <a:r>
              <a:rPr b="0" i="0" lang="en-US" sz="1000" u="none" cap="none" strike="noStrike">
                <a:solidFill>
                  <a:srgbClr val="6E7686"/>
                </a:solidFill>
                <a:latin typeface="Calibri"/>
                <a:ea typeface="Calibri"/>
                <a:cs typeface="Calibri"/>
                <a:sym typeface="Calibri"/>
              </a:rPr>
              <a:t>the filter</a:t>
            </a:r>
            <a:endParaRPr b="0" i="0" sz="1250" u="none" cap="none" strike="noStrike">
              <a:solidFill>
                <a:schemeClr val="dk1"/>
              </a:solidFill>
              <a:latin typeface="Calibri"/>
              <a:ea typeface="Calibri"/>
              <a:cs typeface="Calibri"/>
              <a:sym typeface="Calibri"/>
            </a:endParaRPr>
          </a:p>
        </p:txBody>
      </p:sp>
      <p:sp>
        <p:nvSpPr>
          <p:cNvPr id="295" name="Google Shape;295;p14"/>
          <p:cNvSpPr/>
          <p:nvPr/>
        </p:nvSpPr>
        <p:spPr>
          <a:xfrm>
            <a:off x="2606040" y="1828800"/>
            <a:ext cx="2103120" cy="822960"/>
          </a:xfrm>
          <a:prstGeom prst="roundRect">
            <a:avLst>
              <a:gd fmla="val 10000" name="adj"/>
            </a:avLst>
          </a:prstGeom>
          <a:solidFill>
            <a:srgbClr val="E7EEF5"/>
          </a:solidFill>
          <a:ln cap="flat" cmpd="sng" w="12700">
            <a:solidFill>
              <a:srgbClr val="E7EEF5"/>
            </a:solidFill>
            <a:prstDash val="solid"/>
            <a:round/>
            <a:headEnd len="sm" w="sm" type="none"/>
            <a:tailEnd len="sm" w="sm" type="none"/>
          </a:ln>
          <a:effectLst>
            <a:outerShdw blurRad="88900" rotWithShape="0" algn="bl" dir="5400000" dist="38100">
              <a:srgbClr val="000000">
                <a:alpha val="1294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6" name="Google Shape;296;p14"/>
          <p:cNvSpPr/>
          <p:nvPr/>
        </p:nvSpPr>
        <p:spPr>
          <a:xfrm>
            <a:off x="2606040" y="1828800"/>
            <a:ext cx="2103120" cy="822960"/>
          </a:xfrm>
          <a:prstGeom prst="rect">
            <a:avLst/>
          </a:prstGeom>
          <a:noFill/>
          <a:ln>
            <a:noFill/>
          </a:ln>
        </p:spPr>
        <p:txBody>
          <a:bodyPr anchorCtr="0" anchor="ctr" bIns="50800" lIns="50800" spcFirstLastPara="1" rIns="50800" wrap="square" tIns="50800">
            <a:noAutofit/>
          </a:bodyPr>
          <a:lstStyle/>
          <a:p>
            <a:pPr indent="0" lvl="0" marL="0" marR="0" rtl="0" algn="ctr">
              <a:spcBef>
                <a:spcPts val="0"/>
              </a:spcBef>
              <a:spcAft>
                <a:spcPts val="0"/>
              </a:spcAft>
              <a:buClr>
                <a:srgbClr val="4682B4"/>
              </a:buClr>
              <a:buSzPts val="1250"/>
              <a:buFont typeface="Calibri"/>
              <a:buNone/>
            </a:pPr>
            <a:r>
              <a:rPr b="1" i="0" lang="en-US" sz="1250" u="none" cap="none" strike="noStrike">
                <a:solidFill>
                  <a:srgbClr val="4682B4"/>
                </a:solidFill>
                <a:latin typeface="Calibri"/>
                <a:ea typeface="Calibri"/>
                <a:cs typeface="Calibri"/>
                <a:sym typeface="Calibri"/>
              </a:rPr>
              <a:t>Claude, via MCP</a:t>
            </a:r>
            <a:endParaRPr b="0" i="0" sz="125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6E7686"/>
              </a:buClr>
              <a:buSzPts val="1000"/>
              <a:buFont typeface="Calibri"/>
              <a:buNone/>
            </a:pPr>
            <a:r>
              <a:rPr b="0" i="0" lang="en-US" sz="1000" u="none" cap="none" strike="noStrike">
                <a:solidFill>
                  <a:srgbClr val="6E7686"/>
                </a:solidFill>
                <a:latin typeface="Calibri"/>
                <a:ea typeface="Calibri"/>
                <a:cs typeface="Calibri"/>
                <a:sym typeface="Calibri"/>
              </a:rPr>
              <a:t>runs the tools</a:t>
            </a:r>
            <a:endParaRPr b="0" i="0" sz="1250" u="none" cap="none" strike="noStrike">
              <a:solidFill>
                <a:schemeClr val="dk1"/>
              </a:solidFill>
              <a:latin typeface="Calibri"/>
              <a:ea typeface="Calibri"/>
              <a:cs typeface="Calibri"/>
              <a:sym typeface="Calibri"/>
            </a:endParaRPr>
          </a:p>
        </p:txBody>
      </p:sp>
      <p:sp>
        <p:nvSpPr>
          <p:cNvPr id="297" name="Google Shape;297;p14"/>
          <p:cNvSpPr/>
          <p:nvPr/>
        </p:nvSpPr>
        <p:spPr>
          <a:xfrm>
            <a:off x="4937760" y="1417320"/>
            <a:ext cx="3291840" cy="566928"/>
          </a:xfrm>
          <a:prstGeom prst="roundRect">
            <a:avLst>
              <a:gd fmla="val 9677" name="adj"/>
            </a:avLst>
          </a:prstGeom>
          <a:solidFill>
            <a:srgbClr val="FFFFFF"/>
          </a:solidFill>
          <a:ln cap="flat" cmpd="sng" w="12700">
            <a:solidFill>
              <a:srgbClr val="E2DCCE"/>
            </a:solidFill>
            <a:prstDash val="solid"/>
            <a:round/>
            <a:headEnd len="sm" w="sm" type="none"/>
            <a:tailEnd len="sm" w="sm" type="none"/>
          </a:ln>
          <a:effectLst>
            <a:outerShdw blurRad="88900" rotWithShape="0" algn="bl" dir="5400000" dist="38100">
              <a:srgbClr val="000000">
                <a:alpha val="1294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8" name="Google Shape;298;p14"/>
          <p:cNvSpPr/>
          <p:nvPr/>
        </p:nvSpPr>
        <p:spPr>
          <a:xfrm>
            <a:off x="5120640" y="1417320"/>
            <a:ext cx="2926080"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2536"/>
              </a:buClr>
              <a:buSzPts val="1200"/>
              <a:buFont typeface="Calibri"/>
              <a:buNone/>
            </a:pPr>
            <a:r>
              <a:rPr b="0" i="0" lang="en-US" sz="1200" u="none" cap="none" strike="noStrike">
                <a:solidFill>
                  <a:srgbClr val="1D2536"/>
                </a:solidFill>
                <a:latin typeface="Calibri"/>
                <a:ea typeface="Calibri"/>
                <a:cs typeface="Calibri"/>
                <a:sym typeface="Calibri"/>
              </a:rPr>
              <a:t>Find companies</a:t>
            </a:r>
            <a:endParaRPr b="0" i="0" sz="1200" u="none" cap="none" strike="noStrike">
              <a:solidFill>
                <a:schemeClr val="dk1"/>
              </a:solidFill>
              <a:latin typeface="Calibri"/>
              <a:ea typeface="Calibri"/>
              <a:cs typeface="Calibri"/>
              <a:sym typeface="Calibri"/>
            </a:endParaRPr>
          </a:p>
        </p:txBody>
      </p:sp>
      <p:cxnSp>
        <p:nvCxnSpPr>
          <p:cNvPr id="299" name="Google Shape;299;p14"/>
          <p:cNvCxnSpPr/>
          <p:nvPr/>
        </p:nvCxnSpPr>
        <p:spPr>
          <a:xfrm flipH="1" rot="10800000">
            <a:off x="4709160" y="1700784"/>
            <a:ext cx="228600" cy="539496"/>
          </a:xfrm>
          <a:prstGeom prst="straightConnector1">
            <a:avLst/>
          </a:prstGeom>
          <a:noFill/>
          <a:ln cap="flat" cmpd="sng" w="28575">
            <a:solidFill>
              <a:srgbClr val="6E7686"/>
            </a:solidFill>
            <a:prstDash val="solid"/>
            <a:round/>
            <a:headEnd len="sm" w="sm" type="none"/>
            <a:tailEnd len="med" w="med" type="triangle"/>
          </a:ln>
        </p:spPr>
      </p:cxnSp>
      <p:sp>
        <p:nvSpPr>
          <p:cNvPr id="300" name="Google Shape;300;p14"/>
          <p:cNvSpPr/>
          <p:nvPr/>
        </p:nvSpPr>
        <p:spPr>
          <a:xfrm>
            <a:off x="4937760" y="2148840"/>
            <a:ext cx="3291840" cy="566928"/>
          </a:xfrm>
          <a:prstGeom prst="roundRect">
            <a:avLst>
              <a:gd fmla="val 9677" name="adj"/>
            </a:avLst>
          </a:prstGeom>
          <a:solidFill>
            <a:srgbClr val="FFFFFF"/>
          </a:solidFill>
          <a:ln cap="flat" cmpd="sng" w="12700">
            <a:solidFill>
              <a:srgbClr val="E2DCCE"/>
            </a:solidFill>
            <a:prstDash val="solid"/>
            <a:round/>
            <a:headEnd len="sm" w="sm" type="none"/>
            <a:tailEnd len="sm" w="sm" type="none"/>
          </a:ln>
          <a:effectLst>
            <a:outerShdw blurRad="88900" rotWithShape="0" algn="bl" dir="5400000" dist="38100">
              <a:srgbClr val="000000">
                <a:alpha val="1294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1" name="Google Shape;301;p14"/>
          <p:cNvSpPr/>
          <p:nvPr/>
        </p:nvSpPr>
        <p:spPr>
          <a:xfrm>
            <a:off x="5120640" y="2148840"/>
            <a:ext cx="2926080"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2536"/>
              </a:buClr>
              <a:buSzPts val="1200"/>
              <a:buFont typeface="Calibri"/>
              <a:buNone/>
            </a:pPr>
            <a:r>
              <a:rPr b="0" i="0" lang="en-US" sz="1200" u="none" cap="none" strike="noStrike">
                <a:solidFill>
                  <a:srgbClr val="1D2536"/>
                </a:solidFill>
                <a:latin typeface="Calibri"/>
                <a:ea typeface="Calibri"/>
                <a:cs typeface="Calibri"/>
                <a:sym typeface="Calibri"/>
              </a:rPr>
              <a:t>Find and verify emails</a:t>
            </a:r>
            <a:endParaRPr b="0" i="0" sz="1200" u="none" cap="none" strike="noStrike">
              <a:solidFill>
                <a:schemeClr val="dk1"/>
              </a:solidFill>
              <a:latin typeface="Calibri"/>
              <a:ea typeface="Calibri"/>
              <a:cs typeface="Calibri"/>
              <a:sym typeface="Calibri"/>
            </a:endParaRPr>
          </a:p>
        </p:txBody>
      </p:sp>
      <p:cxnSp>
        <p:nvCxnSpPr>
          <p:cNvPr id="302" name="Google Shape;302;p14"/>
          <p:cNvCxnSpPr/>
          <p:nvPr/>
        </p:nvCxnSpPr>
        <p:spPr>
          <a:xfrm>
            <a:off x="4709160" y="2240280"/>
            <a:ext cx="228600" cy="192024"/>
          </a:xfrm>
          <a:prstGeom prst="straightConnector1">
            <a:avLst/>
          </a:prstGeom>
          <a:noFill/>
          <a:ln cap="flat" cmpd="sng" w="28575">
            <a:solidFill>
              <a:srgbClr val="6E7686"/>
            </a:solidFill>
            <a:prstDash val="solid"/>
            <a:round/>
            <a:headEnd len="sm" w="sm" type="none"/>
            <a:tailEnd len="med" w="med" type="triangle"/>
          </a:ln>
        </p:spPr>
      </p:cxnSp>
      <p:sp>
        <p:nvSpPr>
          <p:cNvPr id="303" name="Google Shape;303;p14"/>
          <p:cNvSpPr/>
          <p:nvPr/>
        </p:nvSpPr>
        <p:spPr>
          <a:xfrm>
            <a:off x="4937760" y="2880360"/>
            <a:ext cx="3291840" cy="566928"/>
          </a:xfrm>
          <a:prstGeom prst="roundRect">
            <a:avLst>
              <a:gd fmla="val 9677" name="adj"/>
            </a:avLst>
          </a:prstGeom>
          <a:solidFill>
            <a:srgbClr val="FFFFFF"/>
          </a:solidFill>
          <a:ln cap="flat" cmpd="sng" w="12700">
            <a:solidFill>
              <a:srgbClr val="E2DCCE"/>
            </a:solidFill>
            <a:prstDash val="solid"/>
            <a:round/>
            <a:headEnd len="sm" w="sm" type="none"/>
            <a:tailEnd len="sm" w="sm" type="none"/>
          </a:ln>
          <a:effectLst>
            <a:outerShdw blurRad="88900" rotWithShape="0" algn="bl" dir="5400000" dist="38100">
              <a:srgbClr val="000000">
                <a:alpha val="1294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 name="Google Shape;304;p14"/>
          <p:cNvSpPr/>
          <p:nvPr/>
        </p:nvSpPr>
        <p:spPr>
          <a:xfrm>
            <a:off x="5120640" y="2880360"/>
            <a:ext cx="2926080"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2536"/>
              </a:buClr>
              <a:buSzPts val="1200"/>
              <a:buFont typeface="Calibri"/>
              <a:buNone/>
            </a:pPr>
            <a:r>
              <a:rPr b="0" i="0" lang="en-US" sz="1200" u="none" cap="none" strike="noStrike">
                <a:solidFill>
                  <a:srgbClr val="1D2536"/>
                </a:solidFill>
                <a:latin typeface="Calibri"/>
                <a:ea typeface="Calibri"/>
                <a:cs typeface="Calibri"/>
                <a:sym typeface="Calibri"/>
              </a:rPr>
              <a:t>Check ad and hiring signals</a:t>
            </a:r>
            <a:endParaRPr b="0" i="0" sz="1200" u="none" cap="none" strike="noStrike">
              <a:solidFill>
                <a:schemeClr val="dk1"/>
              </a:solidFill>
              <a:latin typeface="Calibri"/>
              <a:ea typeface="Calibri"/>
              <a:cs typeface="Calibri"/>
              <a:sym typeface="Calibri"/>
            </a:endParaRPr>
          </a:p>
        </p:txBody>
      </p:sp>
      <p:cxnSp>
        <p:nvCxnSpPr>
          <p:cNvPr id="305" name="Google Shape;305;p14"/>
          <p:cNvCxnSpPr/>
          <p:nvPr/>
        </p:nvCxnSpPr>
        <p:spPr>
          <a:xfrm>
            <a:off x="4709160" y="2240280"/>
            <a:ext cx="228600" cy="923544"/>
          </a:xfrm>
          <a:prstGeom prst="straightConnector1">
            <a:avLst/>
          </a:prstGeom>
          <a:noFill/>
          <a:ln cap="flat" cmpd="sng" w="28575">
            <a:solidFill>
              <a:srgbClr val="6E7686"/>
            </a:solidFill>
            <a:prstDash val="solid"/>
            <a:round/>
            <a:headEnd len="sm" w="sm" type="none"/>
            <a:tailEnd len="med" w="med" type="triangle"/>
          </a:ln>
        </p:spPr>
      </p:cxnSp>
      <p:sp>
        <p:nvSpPr>
          <p:cNvPr id="306" name="Google Shape;306;p14"/>
          <p:cNvSpPr/>
          <p:nvPr/>
        </p:nvSpPr>
        <p:spPr>
          <a:xfrm>
            <a:off x="4937760" y="3611880"/>
            <a:ext cx="3291840" cy="566928"/>
          </a:xfrm>
          <a:prstGeom prst="roundRect">
            <a:avLst>
              <a:gd fmla="val 9677" name="adj"/>
            </a:avLst>
          </a:prstGeom>
          <a:solidFill>
            <a:srgbClr val="FFFFFF"/>
          </a:solidFill>
          <a:ln cap="flat" cmpd="sng" w="12700">
            <a:solidFill>
              <a:srgbClr val="E2DCCE"/>
            </a:solidFill>
            <a:prstDash val="solid"/>
            <a:round/>
            <a:headEnd len="sm" w="sm" type="none"/>
            <a:tailEnd len="sm" w="sm" type="none"/>
          </a:ln>
          <a:effectLst>
            <a:outerShdw blurRad="88900" rotWithShape="0" algn="bl" dir="5400000" dist="38100">
              <a:srgbClr val="000000">
                <a:alpha val="1294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7" name="Google Shape;307;p14"/>
          <p:cNvSpPr/>
          <p:nvPr/>
        </p:nvSpPr>
        <p:spPr>
          <a:xfrm>
            <a:off x="5120640" y="3611880"/>
            <a:ext cx="2926080"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2536"/>
              </a:buClr>
              <a:buSzPts val="1200"/>
              <a:buFont typeface="Calibri"/>
              <a:buNone/>
            </a:pPr>
            <a:r>
              <a:rPr b="0" i="0" lang="en-US" sz="1200" u="none" cap="none" strike="noStrike">
                <a:solidFill>
                  <a:srgbClr val="1D2536"/>
                </a:solidFill>
                <a:latin typeface="Calibri"/>
                <a:ea typeface="Calibri"/>
                <a:cs typeface="Calibri"/>
                <a:sym typeface="Calibri"/>
              </a:rPr>
              <a:t>Score and keep the best</a:t>
            </a:r>
            <a:endParaRPr b="0" i="0" sz="1200" u="none" cap="none" strike="noStrike">
              <a:solidFill>
                <a:schemeClr val="dk1"/>
              </a:solidFill>
              <a:latin typeface="Calibri"/>
              <a:ea typeface="Calibri"/>
              <a:cs typeface="Calibri"/>
              <a:sym typeface="Calibri"/>
            </a:endParaRPr>
          </a:p>
        </p:txBody>
      </p:sp>
      <p:cxnSp>
        <p:nvCxnSpPr>
          <p:cNvPr id="308" name="Google Shape;308;p14"/>
          <p:cNvCxnSpPr/>
          <p:nvPr/>
        </p:nvCxnSpPr>
        <p:spPr>
          <a:xfrm>
            <a:off x="4709160" y="2240280"/>
            <a:ext cx="228600" cy="1655064"/>
          </a:xfrm>
          <a:prstGeom prst="straightConnector1">
            <a:avLst/>
          </a:prstGeom>
          <a:noFill/>
          <a:ln cap="flat" cmpd="sng" w="28575">
            <a:solidFill>
              <a:srgbClr val="6E7686"/>
            </a:solidFill>
            <a:prstDash val="solid"/>
            <a:round/>
            <a:headEnd len="sm" w="sm" type="none"/>
            <a:tailEnd len="med" w="med" type="triangle"/>
          </a:ln>
        </p:spPr>
      </p:cxnSp>
      <p:sp>
        <p:nvSpPr>
          <p:cNvPr id="309" name="Google Shape;309;p14"/>
          <p:cNvSpPr/>
          <p:nvPr/>
        </p:nvSpPr>
        <p:spPr>
          <a:xfrm>
            <a:off x="8595360" y="1828800"/>
            <a:ext cx="1737360" cy="822960"/>
          </a:xfrm>
          <a:prstGeom prst="roundRect">
            <a:avLst>
              <a:gd fmla="val 10000" name="adj"/>
            </a:avLst>
          </a:prstGeom>
          <a:solidFill>
            <a:srgbClr val="F2EDE3"/>
          </a:solidFill>
          <a:ln cap="flat" cmpd="sng" w="12700">
            <a:solidFill>
              <a:srgbClr val="F2EDE3"/>
            </a:solidFill>
            <a:prstDash val="solid"/>
            <a:round/>
            <a:headEnd len="sm" w="sm" type="none"/>
            <a:tailEnd len="sm" w="sm" type="none"/>
          </a:ln>
          <a:effectLst>
            <a:outerShdw blurRad="88900" rotWithShape="0" algn="bl" dir="5400000" dist="38100">
              <a:srgbClr val="000000">
                <a:alpha val="1294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 name="Google Shape;310;p14"/>
          <p:cNvSpPr/>
          <p:nvPr/>
        </p:nvSpPr>
        <p:spPr>
          <a:xfrm>
            <a:off x="8595360" y="1828800"/>
            <a:ext cx="1737360" cy="822960"/>
          </a:xfrm>
          <a:prstGeom prst="rect">
            <a:avLst/>
          </a:prstGeom>
          <a:noFill/>
          <a:ln>
            <a:noFill/>
          </a:ln>
        </p:spPr>
        <p:txBody>
          <a:bodyPr anchorCtr="0" anchor="ctr" bIns="50800" lIns="50800" spcFirstLastPara="1" rIns="50800" wrap="square" tIns="50800">
            <a:noAutofit/>
          </a:bodyPr>
          <a:lstStyle/>
          <a:p>
            <a:pPr indent="0" lvl="0" marL="0" marR="0" rtl="0" algn="ctr">
              <a:spcBef>
                <a:spcPts val="0"/>
              </a:spcBef>
              <a:spcAft>
                <a:spcPts val="0"/>
              </a:spcAft>
              <a:buClr>
                <a:srgbClr val="1F4E79"/>
              </a:buClr>
              <a:buSzPts val="1250"/>
              <a:buFont typeface="Calibri"/>
              <a:buNone/>
            </a:pPr>
            <a:r>
              <a:rPr b="1" i="0" lang="en-US" sz="1250" u="none" cap="none" strike="noStrike">
                <a:solidFill>
                  <a:srgbClr val="1F4E79"/>
                </a:solidFill>
                <a:latin typeface="Calibri"/>
                <a:ea typeface="Calibri"/>
                <a:cs typeface="Calibri"/>
                <a:sym typeface="Calibri"/>
              </a:rPr>
              <a:t>Review queue</a:t>
            </a:r>
            <a:endParaRPr b="0" i="0" sz="125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6E7686"/>
              </a:buClr>
              <a:buSzPts val="1000"/>
              <a:buFont typeface="Calibri"/>
              <a:buNone/>
            </a:pPr>
            <a:r>
              <a:rPr b="0" i="0" lang="en-US" sz="1000" u="none" cap="none" strike="noStrike">
                <a:solidFill>
                  <a:srgbClr val="6E7686"/>
                </a:solidFill>
                <a:latin typeface="Calibri"/>
                <a:ea typeface="Calibri"/>
                <a:cs typeface="Calibri"/>
                <a:sym typeface="Calibri"/>
              </a:rPr>
              <a:t>waiting for you</a:t>
            </a:r>
            <a:endParaRPr b="0" i="0" sz="1250" u="none" cap="none" strike="noStrike">
              <a:solidFill>
                <a:schemeClr val="dk1"/>
              </a:solidFill>
              <a:latin typeface="Calibri"/>
              <a:ea typeface="Calibri"/>
              <a:cs typeface="Calibri"/>
              <a:sym typeface="Calibri"/>
            </a:endParaRPr>
          </a:p>
        </p:txBody>
      </p:sp>
      <p:cxnSp>
        <p:nvCxnSpPr>
          <p:cNvPr id="311" name="Google Shape;311;p14"/>
          <p:cNvCxnSpPr/>
          <p:nvPr/>
        </p:nvCxnSpPr>
        <p:spPr>
          <a:xfrm>
            <a:off x="8229600" y="1700784"/>
            <a:ext cx="365760" cy="539496"/>
          </a:xfrm>
          <a:prstGeom prst="straightConnector1">
            <a:avLst/>
          </a:prstGeom>
          <a:noFill/>
          <a:ln cap="flat" cmpd="sng" w="28575">
            <a:solidFill>
              <a:srgbClr val="6E7686"/>
            </a:solidFill>
            <a:prstDash val="solid"/>
            <a:round/>
            <a:headEnd len="sm" w="sm" type="none"/>
            <a:tailEnd len="med" w="med" type="triangle"/>
          </a:ln>
        </p:spPr>
      </p:cxnSp>
      <p:cxnSp>
        <p:nvCxnSpPr>
          <p:cNvPr id="312" name="Google Shape;312;p14"/>
          <p:cNvCxnSpPr/>
          <p:nvPr/>
        </p:nvCxnSpPr>
        <p:spPr>
          <a:xfrm flipH="1" rot="10800000">
            <a:off x="8229600" y="2240280"/>
            <a:ext cx="365760" cy="192024"/>
          </a:xfrm>
          <a:prstGeom prst="straightConnector1">
            <a:avLst/>
          </a:prstGeom>
          <a:noFill/>
          <a:ln cap="flat" cmpd="sng" w="28575">
            <a:solidFill>
              <a:srgbClr val="6E7686"/>
            </a:solidFill>
            <a:prstDash val="solid"/>
            <a:round/>
            <a:headEnd len="sm" w="sm" type="none"/>
            <a:tailEnd len="med" w="med" type="triangle"/>
          </a:ln>
        </p:spPr>
      </p:cxnSp>
      <p:cxnSp>
        <p:nvCxnSpPr>
          <p:cNvPr id="313" name="Google Shape;313;p14"/>
          <p:cNvCxnSpPr/>
          <p:nvPr/>
        </p:nvCxnSpPr>
        <p:spPr>
          <a:xfrm flipH="1" rot="10800000">
            <a:off x="8229600" y="2240280"/>
            <a:ext cx="365760" cy="923544"/>
          </a:xfrm>
          <a:prstGeom prst="straightConnector1">
            <a:avLst/>
          </a:prstGeom>
          <a:noFill/>
          <a:ln cap="flat" cmpd="sng" w="28575">
            <a:solidFill>
              <a:srgbClr val="6E7686"/>
            </a:solidFill>
            <a:prstDash val="solid"/>
            <a:round/>
            <a:headEnd len="sm" w="sm" type="none"/>
            <a:tailEnd len="med" w="med" type="triangle"/>
          </a:ln>
        </p:spPr>
      </p:cxnSp>
      <p:cxnSp>
        <p:nvCxnSpPr>
          <p:cNvPr id="314" name="Google Shape;314;p14"/>
          <p:cNvCxnSpPr/>
          <p:nvPr/>
        </p:nvCxnSpPr>
        <p:spPr>
          <a:xfrm flipH="1" rot="10800000">
            <a:off x="8229600" y="2240280"/>
            <a:ext cx="365760" cy="1655064"/>
          </a:xfrm>
          <a:prstGeom prst="straightConnector1">
            <a:avLst/>
          </a:prstGeom>
          <a:noFill/>
          <a:ln cap="flat" cmpd="sng" w="28575">
            <a:solidFill>
              <a:srgbClr val="6E7686"/>
            </a:solidFill>
            <a:prstDash val="solid"/>
            <a:round/>
            <a:headEnd len="sm" w="sm" type="none"/>
            <a:tailEnd len="med" w="med" type="triangle"/>
          </a:ln>
        </p:spPr>
      </p:cxnSp>
      <p:cxnSp>
        <p:nvCxnSpPr>
          <p:cNvPr id="315" name="Google Shape;315;p14"/>
          <p:cNvCxnSpPr/>
          <p:nvPr/>
        </p:nvCxnSpPr>
        <p:spPr>
          <a:xfrm>
            <a:off x="2377440" y="2240280"/>
            <a:ext cx="228600" cy="0"/>
          </a:xfrm>
          <a:prstGeom prst="straightConnector1">
            <a:avLst/>
          </a:prstGeom>
          <a:noFill/>
          <a:ln cap="flat" cmpd="sng" w="28575">
            <a:solidFill>
              <a:srgbClr val="4682B4"/>
            </a:solidFill>
            <a:prstDash val="solid"/>
            <a:round/>
            <a:headEnd len="sm" w="sm" type="none"/>
            <a:tailEnd len="med" w="med" type="triangle"/>
          </a:ln>
        </p:spPr>
      </p:cxnSp>
      <p:sp>
        <p:nvSpPr>
          <p:cNvPr id="316" name="Google Shape;316;p14"/>
          <p:cNvSpPr/>
          <p:nvPr/>
        </p:nvSpPr>
        <p:spPr>
          <a:xfrm>
            <a:off x="548640" y="4206240"/>
            <a:ext cx="11064240" cy="868680"/>
          </a:xfrm>
          <a:prstGeom prst="roundRect">
            <a:avLst>
              <a:gd fmla="val 7368" name="adj"/>
            </a:avLst>
          </a:prstGeom>
          <a:solidFill>
            <a:srgbClr val="FFFFFF"/>
          </a:solidFill>
          <a:ln cap="flat" cmpd="sng" w="12700">
            <a:solidFill>
              <a:srgbClr val="E2DCCE"/>
            </a:solidFill>
            <a:prstDash val="solid"/>
            <a:round/>
            <a:headEnd len="sm" w="sm" type="none"/>
            <a:tailEnd len="sm" w="sm" type="none"/>
          </a:ln>
          <a:effectLst>
            <a:outerShdw blurRad="88900" rotWithShape="0" algn="bl" dir="5400000" dist="38100">
              <a:srgbClr val="000000">
                <a:alpha val="1294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7" name="Google Shape;317;p14"/>
          <p:cNvSpPr/>
          <p:nvPr/>
        </p:nvSpPr>
        <p:spPr>
          <a:xfrm>
            <a:off x="822960" y="4206240"/>
            <a:ext cx="10515600" cy="86868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Clr>
                <a:srgbClr val="4682B4"/>
              </a:buClr>
              <a:buSzPts val="1300"/>
              <a:buFont typeface="Calibri"/>
              <a:buNone/>
            </a:pPr>
            <a:r>
              <a:rPr b="1" i="0" lang="en-US" sz="1300" u="none" cap="none" strike="noStrike">
                <a:solidFill>
                  <a:srgbClr val="4682B4"/>
                </a:solidFill>
                <a:latin typeface="Calibri"/>
                <a:ea typeface="Calibri"/>
                <a:cs typeface="Calibri"/>
                <a:sym typeface="Calibri"/>
              </a:rPr>
              <a:t>Connect what exists: </a:t>
            </a:r>
            <a:r>
              <a:rPr b="0" i="0" lang="en-US" sz="1250" u="none" cap="none" strike="noStrike">
                <a:solidFill>
                  <a:srgbClr val="1D2536"/>
                </a:solidFill>
                <a:latin typeface="Calibri"/>
                <a:ea typeface="Calibri"/>
                <a:cs typeface="Calibri"/>
                <a:sym typeface="Calibri"/>
              </a:rPr>
              <a:t>Google Sheets, a CRM, web search, Gmail drafting.   </a:t>
            </a:r>
            <a:r>
              <a:rPr b="1" i="0" lang="en-US" sz="1300" u="none" cap="none" strike="noStrike">
                <a:solidFill>
                  <a:srgbClr val="1F4E79"/>
                </a:solidFill>
                <a:latin typeface="Calibri"/>
                <a:ea typeface="Calibri"/>
                <a:cs typeface="Calibri"/>
                <a:sym typeface="Calibri"/>
              </a:rPr>
              <a:t>Build small connectors: </a:t>
            </a:r>
            <a:r>
              <a:rPr b="0" i="0" lang="en-US" sz="1250" u="none" cap="none" strike="noStrike">
                <a:solidFill>
                  <a:srgbClr val="1D2536"/>
                </a:solidFill>
                <a:latin typeface="Calibri"/>
                <a:ea typeface="Calibri"/>
                <a:cs typeface="Calibri"/>
                <a:sym typeface="Calibri"/>
              </a:rPr>
              <a:t>Google Places, email finder, email checker, ad and hiring signals.</a:t>
            </a:r>
            <a:endParaRPr b="0" i="0" sz="1300" u="none" cap="none" strike="noStrike">
              <a:solidFill>
                <a:schemeClr val="dk1"/>
              </a:solidFill>
              <a:latin typeface="Calibri"/>
              <a:ea typeface="Calibri"/>
              <a:cs typeface="Calibri"/>
              <a:sym typeface="Calibri"/>
            </a:endParaRPr>
          </a:p>
        </p:txBody>
      </p:sp>
      <p:sp>
        <p:nvSpPr>
          <p:cNvPr id="318" name="Google Shape;318;p14"/>
          <p:cNvSpPr/>
          <p:nvPr/>
        </p:nvSpPr>
        <p:spPr>
          <a:xfrm>
            <a:off x="548640" y="5257800"/>
            <a:ext cx="1106424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E7686"/>
              </a:buClr>
              <a:buSzPts val="1250"/>
              <a:buFont typeface="Calibri"/>
              <a:buNone/>
            </a:pPr>
            <a:r>
              <a:rPr b="0" i="1" lang="en-US" sz="1250" u="none" cap="none" strike="noStrike">
                <a:solidFill>
                  <a:srgbClr val="6E7686"/>
                </a:solidFill>
                <a:latin typeface="Calibri"/>
                <a:ea typeface="Calibri"/>
                <a:cs typeface="Calibri"/>
                <a:sym typeface="Calibri"/>
              </a:rPr>
              <a:t>Runs on a schedule, so a fresh review queue is waiting when you sit down.</a:t>
            </a:r>
            <a:endParaRPr b="0" i="0" sz="1250" u="none" cap="none" strike="noStrike">
              <a:solidFill>
                <a:schemeClr val="dk1"/>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7F1"/>
        </a:solidFill>
      </p:bgPr>
    </p:bg>
    <p:spTree>
      <p:nvGrpSpPr>
        <p:cNvPr id="323" name="Shape 323"/>
        <p:cNvGrpSpPr/>
        <p:nvPr/>
      </p:nvGrpSpPr>
      <p:grpSpPr>
        <a:xfrm>
          <a:off x="0" y="0"/>
          <a:ext cx="0" cy="0"/>
          <a:chOff x="0" y="0"/>
          <a:chExt cx="0" cy="0"/>
        </a:xfrm>
      </p:grpSpPr>
      <p:sp>
        <p:nvSpPr>
          <p:cNvPr id="324" name="Google Shape;324;p15"/>
          <p:cNvSpPr/>
          <p:nvPr/>
        </p:nvSpPr>
        <p:spPr>
          <a:xfrm>
            <a:off x="548640" y="384048"/>
            <a:ext cx="1106424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682B4"/>
              </a:buClr>
              <a:buSzPts val="1200"/>
              <a:buFont typeface="Calibri"/>
              <a:buNone/>
            </a:pPr>
            <a:r>
              <a:rPr b="1" i="0" lang="en-US" sz="1200" u="none" cap="none" strike="noStrike">
                <a:solidFill>
                  <a:srgbClr val="4682B4"/>
                </a:solidFill>
                <a:latin typeface="Calibri"/>
                <a:ea typeface="Calibri"/>
                <a:cs typeface="Calibri"/>
                <a:sym typeface="Calibri"/>
              </a:rPr>
              <a:t>THE ONE JOB YOU KEEP</a:t>
            </a:r>
            <a:endParaRPr b="0" i="0" sz="1200" u="none" cap="none" strike="noStrike">
              <a:solidFill>
                <a:schemeClr val="dk1"/>
              </a:solidFill>
              <a:latin typeface="Calibri"/>
              <a:ea typeface="Calibri"/>
              <a:cs typeface="Calibri"/>
              <a:sym typeface="Calibri"/>
            </a:endParaRPr>
          </a:p>
        </p:txBody>
      </p:sp>
      <p:sp>
        <p:nvSpPr>
          <p:cNvPr id="325" name="Google Shape;325;p15"/>
          <p:cNvSpPr/>
          <p:nvPr/>
        </p:nvSpPr>
        <p:spPr>
          <a:xfrm>
            <a:off x="548640" y="658368"/>
            <a:ext cx="11064240"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2536"/>
              </a:buClr>
              <a:buSzPts val="2700"/>
              <a:buFont typeface="Calibri"/>
              <a:buNone/>
            </a:pPr>
            <a:r>
              <a:rPr b="1" i="0" lang="en-US" sz="2700" u="none" cap="none" strike="noStrike">
                <a:solidFill>
                  <a:srgbClr val="1D2536"/>
                </a:solidFill>
                <a:latin typeface="Calibri"/>
                <a:ea typeface="Calibri"/>
                <a:cs typeface="Calibri"/>
                <a:sym typeface="Calibri"/>
              </a:rPr>
              <a:t>Review before send</a:t>
            </a:r>
            <a:endParaRPr b="0" i="0" sz="2700" u="none" cap="none" strike="noStrike">
              <a:solidFill>
                <a:schemeClr val="dk1"/>
              </a:solidFill>
              <a:latin typeface="Calibri"/>
              <a:ea typeface="Calibri"/>
              <a:cs typeface="Calibri"/>
              <a:sym typeface="Calibri"/>
            </a:endParaRPr>
          </a:p>
        </p:txBody>
      </p:sp>
      <p:sp>
        <p:nvSpPr>
          <p:cNvPr id="326" name="Google Shape;326;p15"/>
          <p:cNvSpPr/>
          <p:nvPr/>
        </p:nvSpPr>
        <p:spPr>
          <a:xfrm>
            <a:off x="548640" y="1828800"/>
            <a:ext cx="11064240" cy="1051560"/>
          </a:xfrm>
          <a:prstGeom prst="roundRect">
            <a:avLst>
              <a:gd fmla="val 5217" name="adj"/>
            </a:avLst>
          </a:prstGeom>
          <a:solidFill>
            <a:srgbClr val="FFFFFF"/>
          </a:solidFill>
          <a:ln cap="flat" cmpd="sng" w="12700">
            <a:solidFill>
              <a:srgbClr val="E2DCCE"/>
            </a:solidFill>
            <a:prstDash val="solid"/>
            <a:round/>
            <a:headEnd len="sm" w="sm" type="none"/>
            <a:tailEnd len="sm" w="sm" type="none"/>
          </a:ln>
          <a:effectLst>
            <a:outerShdw blurRad="88900" rotWithShape="0" algn="bl" dir="5400000" dist="38100">
              <a:srgbClr val="000000">
                <a:alpha val="1294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7" name="Google Shape;327;p15"/>
          <p:cNvSpPr/>
          <p:nvPr/>
        </p:nvSpPr>
        <p:spPr>
          <a:xfrm>
            <a:off x="731520" y="2011680"/>
            <a:ext cx="1554480" cy="685800"/>
          </a:xfrm>
          <a:prstGeom prst="roundRect">
            <a:avLst>
              <a:gd fmla="val 6667" name="adj"/>
            </a:avLst>
          </a:prstGeom>
          <a:solidFill>
            <a:srgbClr val="1F4E79"/>
          </a:solidFill>
          <a:ln cap="flat" cmpd="sng" w="12700">
            <a:solidFill>
              <a:srgbClr val="1F4E7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8" name="Google Shape;328;p15"/>
          <p:cNvSpPr/>
          <p:nvPr/>
        </p:nvSpPr>
        <p:spPr>
          <a:xfrm>
            <a:off x="731520" y="2011680"/>
            <a:ext cx="1554480" cy="685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600"/>
              <a:buFont typeface="Calibri"/>
              <a:buNone/>
            </a:pPr>
            <a:r>
              <a:rPr b="1" i="0" lang="en-US" sz="1600" u="none" cap="none" strike="noStrike">
                <a:solidFill>
                  <a:srgbClr val="FFFFFF"/>
                </a:solidFill>
                <a:latin typeface="Calibri"/>
                <a:ea typeface="Calibri"/>
                <a:cs typeface="Calibri"/>
                <a:sym typeface="Calibri"/>
              </a:rPr>
              <a:t>You see</a:t>
            </a:r>
            <a:endParaRPr b="0" i="0" sz="1600" u="none" cap="none" strike="noStrike">
              <a:solidFill>
                <a:schemeClr val="dk1"/>
              </a:solidFill>
              <a:latin typeface="Calibri"/>
              <a:ea typeface="Calibri"/>
              <a:cs typeface="Calibri"/>
              <a:sym typeface="Calibri"/>
            </a:endParaRPr>
          </a:p>
        </p:txBody>
      </p:sp>
      <p:sp>
        <p:nvSpPr>
          <p:cNvPr id="329" name="Google Shape;329;p15"/>
          <p:cNvSpPr/>
          <p:nvPr/>
        </p:nvSpPr>
        <p:spPr>
          <a:xfrm>
            <a:off x="2468880" y="1828800"/>
            <a:ext cx="8961120" cy="1051560"/>
          </a:xfrm>
          <a:prstGeom prst="rect">
            <a:avLst/>
          </a:prstGeom>
          <a:noFill/>
          <a:ln>
            <a:noFill/>
          </a:ln>
        </p:spPr>
        <p:txBody>
          <a:bodyPr anchorCtr="0" anchor="ctr" bIns="0" lIns="0" spcFirstLastPara="1" rIns="0" wrap="square" tIns="0">
            <a:noAutofit/>
          </a:bodyPr>
          <a:lstStyle/>
          <a:p>
            <a:pPr indent="0" lvl="0" marL="0" marR="0" rtl="0" algn="l">
              <a:lnSpc>
                <a:spcPct val="115000"/>
              </a:lnSpc>
              <a:spcBef>
                <a:spcPts val="0"/>
              </a:spcBef>
              <a:spcAft>
                <a:spcPts val="0"/>
              </a:spcAft>
              <a:buClr>
                <a:srgbClr val="1D2536"/>
              </a:buClr>
              <a:buSzPts val="1400"/>
              <a:buFont typeface="Calibri"/>
              <a:buNone/>
            </a:pPr>
            <a:r>
              <a:rPr b="0" i="0" lang="en-US" sz="1400" u="none" cap="none" strike="noStrike">
                <a:solidFill>
                  <a:srgbClr val="1D2536"/>
                </a:solidFill>
                <a:latin typeface="Calibri"/>
                <a:ea typeface="Calibri"/>
                <a:cs typeface="Calibri"/>
                <a:sym typeface="Calibri"/>
              </a:rPr>
              <a:t>The company, the person, the verified email, the score and its evidence, and the drafted email</a:t>
            </a:r>
            <a:endParaRPr b="0" i="0" sz="1400" u="none" cap="none" strike="noStrike">
              <a:solidFill>
                <a:schemeClr val="dk1"/>
              </a:solidFill>
              <a:latin typeface="Calibri"/>
              <a:ea typeface="Calibri"/>
              <a:cs typeface="Calibri"/>
              <a:sym typeface="Calibri"/>
            </a:endParaRPr>
          </a:p>
        </p:txBody>
      </p:sp>
      <p:sp>
        <p:nvSpPr>
          <p:cNvPr id="330" name="Google Shape;330;p15"/>
          <p:cNvSpPr/>
          <p:nvPr/>
        </p:nvSpPr>
        <p:spPr>
          <a:xfrm>
            <a:off x="548640" y="3063240"/>
            <a:ext cx="11064240" cy="1051560"/>
          </a:xfrm>
          <a:prstGeom prst="roundRect">
            <a:avLst>
              <a:gd fmla="val 5217" name="adj"/>
            </a:avLst>
          </a:prstGeom>
          <a:solidFill>
            <a:srgbClr val="FFFFFF"/>
          </a:solidFill>
          <a:ln cap="flat" cmpd="sng" w="12700">
            <a:solidFill>
              <a:srgbClr val="E2DCCE"/>
            </a:solidFill>
            <a:prstDash val="solid"/>
            <a:round/>
            <a:headEnd len="sm" w="sm" type="none"/>
            <a:tailEnd len="sm" w="sm" type="none"/>
          </a:ln>
          <a:effectLst>
            <a:outerShdw blurRad="88900" rotWithShape="0" algn="bl" dir="5400000" dist="38100">
              <a:srgbClr val="000000">
                <a:alpha val="1294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1" name="Google Shape;331;p15"/>
          <p:cNvSpPr/>
          <p:nvPr/>
        </p:nvSpPr>
        <p:spPr>
          <a:xfrm>
            <a:off x="731520" y="3246120"/>
            <a:ext cx="1554480" cy="685800"/>
          </a:xfrm>
          <a:prstGeom prst="roundRect">
            <a:avLst>
              <a:gd fmla="val 6667" name="adj"/>
            </a:avLst>
          </a:prstGeom>
          <a:solidFill>
            <a:srgbClr val="4682B4"/>
          </a:solidFill>
          <a:ln cap="flat" cmpd="sng" w="12700">
            <a:solidFill>
              <a:srgbClr val="4682B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2" name="Google Shape;332;p15"/>
          <p:cNvSpPr/>
          <p:nvPr/>
        </p:nvSpPr>
        <p:spPr>
          <a:xfrm>
            <a:off x="731520" y="3246120"/>
            <a:ext cx="1554480" cy="685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600"/>
              <a:buFont typeface="Calibri"/>
              <a:buNone/>
            </a:pPr>
            <a:r>
              <a:rPr b="1" i="0" lang="en-US" sz="1600" u="none" cap="none" strike="noStrike">
                <a:solidFill>
                  <a:srgbClr val="FFFFFF"/>
                </a:solidFill>
                <a:latin typeface="Calibri"/>
                <a:ea typeface="Calibri"/>
                <a:cs typeface="Calibri"/>
                <a:sym typeface="Calibri"/>
              </a:rPr>
              <a:t>You decide</a:t>
            </a:r>
            <a:endParaRPr b="0" i="0" sz="1600" u="none" cap="none" strike="noStrike">
              <a:solidFill>
                <a:schemeClr val="dk1"/>
              </a:solidFill>
              <a:latin typeface="Calibri"/>
              <a:ea typeface="Calibri"/>
              <a:cs typeface="Calibri"/>
              <a:sym typeface="Calibri"/>
            </a:endParaRPr>
          </a:p>
        </p:txBody>
      </p:sp>
      <p:sp>
        <p:nvSpPr>
          <p:cNvPr id="333" name="Google Shape;333;p15"/>
          <p:cNvSpPr/>
          <p:nvPr/>
        </p:nvSpPr>
        <p:spPr>
          <a:xfrm>
            <a:off x="2468880" y="3063240"/>
            <a:ext cx="8961120" cy="1051560"/>
          </a:xfrm>
          <a:prstGeom prst="rect">
            <a:avLst/>
          </a:prstGeom>
          <a:noFill/>
          <a:ln>
            <a:noFill/>
          </a:ln>
        </p:spPr>
        <p:txBody>
          <a:bodyPr anchorCtr="0" anchor="ctr" bIns="0" lIns="0" spcFirstLastPara="1" rIns="0" wrap="square" tIns="0">
            <a:noAutofit/>
          </a:bodyPr>
          <a:lstStyle/>
          <a:p>
            <a:pPr indent="0" lvl="0" marL="0" marR="0" rtl="0" algn="l">
              <a:lnSpc>
                <a:spcPct val="115000"/>
              </a:lnSpc>
              <a:spcBef>
                <a:spcPts val="0"/>
              </a:spcBef>
              <a:spcAft>
                <a:spcPts val="0"/>
              </a:spcAft>
              <a:buClr>
                <a:srgbClr val="1D2536"/>
              </a:buClr>
              <a:buSzPts val="1400"/>
              <a:buFont typeface="Calibri"/>
              <a:buNone/>
            </a:pPr>
            <a:r>
              <a:rPr b="0" i="0" lang="en-US" sz="1400" u="none" cap="none" strike="noStrike">
                <a:solidFill>
                  <a:srgbClr val="1D2536"/>
                </a:solidFill>
                <a:latin typeface="Calibri"/>
                <a:ea typeface="Calibri"/>
                <a:cs typeface="Calibri"/>
                <a:sym typeface="Calibri"/>
              </a:rPr>
              <a:t>Approve, edit the draft, or reject. Seconds per lead when the evidence is clear</a:t>
            </a:r>
            <a:endParaRPr b="0" i="0" sz="1400" u="none" cap="none" strike="noStrike">
              <a:solidFill>
                <a:schemeClr val="dk1"/>
              </a:solidFill>
              <a:latin typeface="Calibri"/>
              <a:ea typeface="Calibri"/>
              <a:cs typeface="Calibri"/>
              <a:sym typeface="Calibri"/>
            </a:endParaRPr>
          </a:p>
        </p:txBody>
      </p:sp>
      <p:sp>
        <p:nvSpPr>
          <p:cNvPr id="334" name="Google Shape;334;p15"/>
          <p:cNvSpPr/>
          <p:nvPr/>
        </p:nvSpPr>
        <p:spPr>
          <a:xfrm>
            <a:off x="548640" y="4297680"/>
            <a:ext cx="11064240" cy="1051560"/>
          </a:xfrm>
          <a:prstGeom prst="roundRect">
            <a:avLst>
              <a:gd fmla="val 5217" name="adj"/>
            </a:avLst>
          </a:prstGeom>
          <a:solidFill>
            <a:srgbClr val="FFFFFF"/>
          </a:solidFill>
          <a:ln cap="flat" cmpd="sng" w="12700">
            <a:solidFill>
              <a:srgbClr val="E2DCCE"/>
            </a:solidFill>
            <a:prstDash val="solid"/>
            <a:round/>
            <a:headEnd len="sm" w="sm" type="none"/>
            <a:tailEnd len="sm" w="sm" type="none"/>
          </a:ln>
          <a:effectLst>
            <a:outerShdw blurRad="88900" rotWithShape="0" algn="bl" dir="5400000" dist="38100">
              <a:srgbClr val="000000">
                <a:alpha val="1294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5" name="Google Shape;335;p15"/>
          <p:cNvSpPr/>
          <p:nvPr/>
        </p:nvSpPr>
        <p:spPr>
          <a:xfrm>
            <a:off x="731520" y="4480560"/>
            <a:ext cx="1554480" cy="685800"/>
          </a:xfrm>
          <a:prstGeom prst="roundRect">
            <a:avLst>
              <a:gd fmla="val 6667" name="adj"/>
            </a:avLst>
          </a:prstGeom>
          <a:solidFill>
            <a:srgbClr val="1D2536"/>
          </a:solidFill>
          <a:ln cap="flat" cmpd="sng" w="12700">
            <a:solidFill>
              <a:srgbClr val="1D253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6" name="Google Shape;336;p15"/>
          <p:cNvSpPr/>
          <p:nvPr/>
        </p:nvSpPr>
        <p:spPr>
          <a:xfrm>
            <a:off x="731520" y="4480560"/>
            <a:ext cx="1554480" cy="685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600"/>
              <a:buFont typeface="Calibri"/>
              <a:buNone/>
            </a:pPr>
            <a:r>
              <a:rPr b="1" i="0" lang="en-US" sz="1600" u="none" cap="none" strike="noStrike">
                <a:solidFill>
                  <a:srgbClr val="FFFFFF"/>
                </a:solidFill>
                <a:latin typeface="Calibri"/>
                <a:ea typeface="Calibri"/>
                <a:cs typeface="Calibri"/>
                <a:sym typeface="Calibri"/>
              </a:rPr>
              <a:t>You never</a:t>
            </a:r>
            <a:endParaRPr b="0" i="0" sz="1600" u="none" cap="none" strike="noStrike">
              <a:solidFill>
                <a:schemeClr val="dk1"/>
              </a:solidFill>
              <a:latin typeface="Calibri"/>
              <a:ea typeface="Calibri"/>
              <a:cs typeface="Calibri"/>
              <a:sym typeface="Calibri"/>
            </a:endParaRPr>
          </a:p>
        </p:txBody>
      </p:sp>
      <p:sp>
        <p:nvSpPr>
          <p:cNvPr id="337" name="Google Shape;337;p15"/>
          <p:cNvSpPr/>
          <p:nvPr/>
        </p:nvSpPr>
        <p:spPr>
          <a:xfrm>
            <a:off x="2468880" y="4297680"/>
            <a:ext cx="8961120" cy="1051560"/>
          </a:xfrm>
          <a:prstGeom prst="rect">
            <a:avLst/>
          </a:prstGeom>
          <a:noFill/>
          <a:ln>
            <a:noFill/>
          </a:ln>
        </p:spPr>
        <p:txBody>
          <a:bodyPr anchorCtr="0" anchor="ctr" bIns="0" lIns="0" spcFirstLastPara="1" rIns="0" wrap="square" tIns="0">
            <a:noAutofit/>
          </a:bodyPr>
          <a:lstStyle/>
          <a:p>
            <a:pPr indent="0" lvl="0" marL="0" marR="0" rtl="0" algn="l">
              <a:lnSpc>
                <a:spcPct val="115000"/>
              </a:lnSpc>
              <a:spcBef>
                <a:spcPts val="0"/>
              </a:spcBef>
              <a:spcAft>
                <a:spcPts val="0"/>
              </a:spcAft>
              <a:buClr>
                <a:srgbClr val="1D2536"/>
              </a:buClr>
              <a:buSzPts val="1400"/>
              <a:buFont typeface="Calibri"/>
              <a:buNone/>
            </a:pPr>
            <a:r>
              <a:rPr b="0" i="0" lang="en-US" sz="1400" u="none" cap="none" strike="noStrike">
                <a:solidFill>
                  <a:srgbClr val="1D2536"/>
                </a:solidFill>
                <a:latin typeface="Calibri"/>
                <a:ea typeface="Calibri"/>
                <a:cs typeface="Calibri"/>
                <a:sym typeface="Calibri"/>
              </a:rPr>
              <a:t>Search for people, dig up emails, or send to an address that might bounce</a:t>
            </a:r>
            <a:endParaRPr b="0" i="0" sz="1400" u="none" cap="none" strike="noStrike">
              <a:solidFill>
                <a:schemeClr val="dk1"/>
              </a:solidFill>
              <a:latin typeface="Calibri"/>
              <a:ea typeface="Calibri"/>
              <a:cs typeface="Calibri"/>
              <a:sym typeface="Calibri"/>
            </a:endParaRPr>
          </a:p>
        </p:txBody>
      </p:sp>
      <p:sp>
        <p:nvSpPr>
          <p:cNvPr id="338" name="Google Shape;338;p15"/>
          <p:cNvSpPr/>
          <p:nvPr/>
        </p:nvSpPr>
        <p:spPr>
          <a:xfrm>
            <a:off x="548640" y="5806440"/>
            <a:ext cx="11064240"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E7686"/>
              </a:buClr>
              <a:buSzPts val="1300"/>
              <a:buFont typeface="Calibri"/>
              <a:buNone/>
            </a:pPr>
            <a:r>
              <a:rPr b="0" i="1" lang="en-US" sz="1300" u="none" cap="none" strike="noStrike">
                <a:solidFill>
                  <a:srgbClr val="6E7686"/>
                </a:solidFill>
                <a:latin typeface="Calibri"/>
                <a:ea typeface="Calibri"/>
                <a:cs typeface="Calibri"/>
                <a:sym typeface="Calibri"/>
              </a:rPr>
              <a:t>This is the single human checkpoint. Everything else is automated.</a:t>
            </a:r>
            <a:endParaRPr b="0" i="0" sz="1300" u="none" cap="none" strike="noStrike">
              <a:solidFill>
                <a:schemeClr val="dk1"/>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7F1"/>
        </a:solidFill>
      </p:bgPr>
    </p:bg>
    <p:spTree>
      <p:nvGrpSpPr>
        <p:cNvPr id="343" name="Shape 343"/>
        <p:cNvGrpSpPr/>
        <p:nvPr/>
      </p:nvGrpSpPr>
      <p:grpSpPr>
        <a:xfrm>
          <a:off x="0" y="0"/>
          <a:ext cx="0" cy="0"/>
          <a:chOff x="0" y="0"/>
          <a:chExt cx="0" cy="0"/>
        </a:xfrm>
      </p:grpSpPr>
      <p:sp>
        <p:nvSpPr>
          <p:cNvPr id="344" name="Google Shape;344;p16"/>
          <p:cNvSpPr/>
          <p:nvPr/>
        </p:nvSpPr>
        <p:spPr>
          <a:xfrm>
            <a:off x="548640" y="384048"/>
            <a:ext cx="1106424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682B4"/>
              </a:buClr>
              <a:buSzPts val="1200"/>
              <a:buFont typeface="Calibri"/>
              <a:buNone/>
            </a:pPr>
            <a:r>
              <a:rPr b="1" i="0" lang="en-US" sz="1200" u="none" cap="none" strike="noStrike">
                <a:solidFill>
                  <a:srgbClr val="4682B4"/>
                </a:solidFill>
                <a:latin typeface="Calibri"/>
                <a:ea typeface="Calibri"/>
                <a:cs typeface="Calibri"/>
                <a:sym typeface="Calibri"/>
              </a:rPr>
              <a:t>WHAT WE DO NOT DO, AND WHY</a:t>
            </a:r>
            <a:endParaRPr b="0" i="0" sz="1200" u="none" cap="none" strike="noStrike">
              <a:solidFill>
                <a:schemeClr val="dk1"/>
              </a:solidFill>
              <a:latin typeface="Calibri"/>
              <a:ea typeface="Calibri"/>
              <a:cs typeface="Calibri"/>
              <a:sym typeface="Calibri"/>
            </a:endParaRPr>
          </a:p>
        </p:txBody>
      </p:sp>
      <p:sp>
        <p:nvSpPr>
          <p:cNvPr id="345" name="Google Shape;345;p16"/>
          <p:cNvSpPr/>
          <p:nvPr/>
        </p:nvSpPr>
        <p:spPr>
          <a:xfrm>
            <a:off x="548640" y="658368"/>
            <a:ext cx="11064240"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2536"/>
              </a:buClr>
              <a:buSzPts val="2700"/>
              <a:buFont typeface="Calibri"/>
              <a:buNone/>
            </a:pPr>
            <a:r>
              <a:rPr b="1" i="0" lang="en-US" sz="2700" u="none" cap="none" strike="noStrike">
                <a:solidFill>
                  <a:srgbClr val="1D2536"/>
                </a:solidFill>
                <a:latin typeface="Calibri"/>
                <a:ea typeface="Calibri"/>
                <a:cs typeface="Calibri"/>
                <a:sym typeface="Calibri"/>
              </a:rPr>
              <a:t>The lines that keep you safe</a:t>
            </a:r>
            <a:endParaRPr b="0" i="0" sz="2700" u="none" cap="none" strike="noStrike">
              <a:solidFill>
                <a:schemeClr val="dk1"/>
              </a:solidFill>
              <a:latin typeface="Calibri"/>
              <a:ea typeface="Calibri"/>
              <a:cs typeface="Calibri"/>
              <a:sym typeface="Calibri"/>
            </a:endParaRPr>
          </a:p>
        </p:txBody>
      </p:sp>
      <p:sp>
        <p:nvSpPr>
          <p:cNvPr id="346" name="Google Shape;346;p16"/>
          <p:cNvSpPr/>
          <p:nvPr/>
        </p:nvSpPr>
        <p:spPr>
          <a:xfrm>
            <a:off x="548640" y="1691640"/>
            <a:ext cx="3520440" cy="3200400"/>
          </a:xfrm>
          <a:prstGeom prst="roundRect">
            <a:avLst>
              <a:gd fmla="val 2286" name="adj"/>
            </a:avLst>
          </a:prstGeom>
          <a:solidFill>
            <a:srgbClr val="F2EDE3"/>
          </a:solidFill>
          <a:ln cap="flat" cmpd="sng" w="12700">
            <a:solidFill>
              <a:srgbClr val="F2EDE3"/>
            </a:solidFill>
            <a:prstDash val="solid"/>
            <a:round/>
            <a:headEnd len="sm" w="sm" type="none"/>
            <a:tailEnd len="sm" w="sm" type="none"/>
          </a:ln>
          <a:effectLst>
            <a:outerShdw blurRad="88900" rotWithShape="0" algn="bl" dir="5400000" dist="38100">
              <a:srgbClr val="000000">
                <a:alpha val="1294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7" name="Google Shape;347;p16"/>
          <p:cNvSpPr/>
          <p:nvPr/>
        </p:nvSpPr>
        <p:spPr>
          <a:xfrm>
            <a:off x="822960" y="1984248"/>
            <a:ext cx="457200" cy="457200"/>
          </a:xfrm>
          <a:prstGeom prst="ellipse">
            <a:avLst/>
          </a:prstGeom>
          <a:solidFill>
            <a:srgbClr val="1D2536"/>
          </a:solidFill>
          <a:ln cap="flat" cmpd="sng" w="12700">
            <a:solidFill>
              <a:srgbClr val="1D253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8" name="Google Shape;348;p16"/>
          <p:cNvSpPr/>
          <p:nvPr/>
        </p:nvSpPr>
        <p:spPr>
          <a:xfrm>
            <a:off x="822960" y="1984248"/>
            <a:ext cx="45720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500"/>
              <a:buFont typeface="Calibri"/>
              <a:buNone/>
            </a:pPr>
            <a:r>
              <a:rPr b="1" i="0" lang="en-US" sz="1500" u="none" cap="none" strike="noStrike">
                <a:solidFill>
                  <a:srgbClr val="FFFFFF"/>
                </a:solidFill>
                <a:latin typeface="Calibri"/>
                <a:ea typeface="Calibri"/>
                <a:cs typeface="Calibri"/>
                <a:sym typeface="Calibri"/>
              </a:rPr>
              <a:t>X</a:t>
            </a:r>
            <a:endParaRPr b="0" i="0" sz="1500" u="none" cap="none" strike="noStrike">
              <a:solidFill>
                <a:schemeClr val="dk1"/>
              </a:solidFill>
              <a:latin typeface="Calibri"/>
              <a:ea typeface="Calibri"/>
              <a:cs typeface="Calibri"/>
              <a:sym typeface="Calibri"/>
            </a:endParaRPr>
          </a:p>
        </p:txBody>
      </p:sp>
      <p:sp>
        <p:nvSpPr>
          <p:cNvPr id="349" name="Google Shape;349;p16"/>
          <p:cNvSpPr/>
          <p:nvPr/>
        </p:nvSpPr>
        <p:spPr>
          <a:xfrm>
            <a:off x="822960" y="2606040"/>
            <a:ext cx="2971800" cy="1097280"/>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Clr>
                <a:srgbClr val="1D2536"/>
              </a:buClr>
              <a:buSzPts val="1450"/>
              <a:buFont typeface="Calibri"/>
              <a:buNone/>
            </a:pPr>
            <a:r>
              <a:rPr b="1" i="0" lang="en-US" sz="1450" u="none" cap="none" strike="noStrike">
                <a:solidFill>
                  <a:srgbClr val="1D2536"/>
                </a:solidFill>
                <a:latin typeface="Calibri"/>
                <a:ea typeface="Calibri"/>
                <a:cs typeface="Calibri"/>
                <a:sym typeface="Calibri"/>
              </a:rPr>
              <a:t>No login scraping of Instagram, Facebook, X, or LinkedIn</a:t>
            </a:r>
            <a:endParaRPr b="0" i="0" sz="1450" u="none" cap="none" strike="noStrike">
              <a:solidFill>
                <a:schemeClr val="dk1"/>
              </a:solidFill>
              <a:latin typeface="Calibri"/>
              <a:ea typeface="Calibri"/>
              <a:cs typeface="Calibri"/>
              <a:sym typeface="Calibri"/>
            </a:endParaRPr>
          </a:p>
        </p:txBody>
      </p:sp>
      <p:sp>
        <p:nvSpPr>
          <p:cNvPr id="350" name="Google Shape;350;p16"/>
          <p:cNvSpPr/>
          <p:nvPr/>
        </p:nvSpPr>
        <p:spPr>
          <a:xfrm>
            <a:off x="822960" y="3749040"/>
            <a:ext cx="2971800" cy="100584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Clr>
                <a:srgbClr val="6E7686"/>
              </a:buClr>
              <a:buSzPts val="1200"/>
              <a:buFont typeface="Calibri"/>
              <a:buNone/>
            </a:pPr>
            <a:r>
              <a:rPr b="0" i="0" lang="en-US" sz="1200" u="none" cap="none" strike="noStrike">
                <a:solidFill>
                  <a:srgbClr val="6E7686"/>
                </a:solidFill>
                <a:latin typeface="Calibri"/>
                <a:ea typeface="Calibri"/>
                <a:cs typeface="Calibri"/>
                <a:sym typeface="Calibri"/>
              </a:rPr>
              <a:t>It breaks their rules and gets accounts and domains banned.</a:t>
            </a:r>
            <a:endParaRPr b="0" i="0" sz="1200" u="none" cap="none" strike="noStrike">
              <a:solidFill>
                <a:schemeClr val="dk1"/>
              </a:solidFill>
              <a:latin typeface="Calibri"/>
              <a:ea typeface="Calibri"/>
              <a:cs typeface="Calibri"/>
              <a:sym typeface="Calibri"/>
            </a:endParaRPr>
          </a:p>
        </p:txBody>
      </p:sp>
      <p:sp>
        <p:nvSpPr>
          <p:cNvPr id="351" name="Google Shape;351;p16"/>
          <p:cNvSpPr/>
          <p:nvPr/>
        </p:nvSpPr>
        <p:spPr>
          <a:xfrm>
            <a:off x="4389120" y="1691640"/>
            <a:ext cx="3520440" cy="3200400"/>
          </a:xfrm>
          <a:prstGeom prst="roundRect">
            <a:avLst>
              <a:gd fmla="val 2286" name="adj"/>
            </a:avLst>
          </a:prstGeom>
          <a:solidFill>
            <a:srgbClr val="E7EEF5"/>
          </a:solidFill>
          <a:ln cap="flat" cmpd="sng" w="12700">
            <a:solidFill>
              <a:srgbClr val="E7EEF5"/>
            </a:solidFill>
            <a:prstDash val="solid"/>
            <a:round/>
            <a:headEnd len="sm" w="sm" type="none"/>
            <a:tailEnd len="sm" w="sm" type="none"/>
          </a:ln>
          <a:effectLst>
            <a:outerShdw blurRad="88900" rotWithShape="0" algn="bl" dir="5400000" dist="38100">
              <a:srgbClr val="000000">
                <a:alpha val="1294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2" name="Google Shape;352;p16"/>
          <p:cNvSpPr/>
          <p:nvPr/>
        </p:nvSpPr>
        <p:spPr>
          <a:xfrm>
            <a:off x="4663440" y="1984248"/>
            <a:ext cx="457200" cy="457200"/>
          </a:xfrm>
          <a:prstGeom prst="ellipse">
            <a:avLst/>
          </a:prstGeom>
          <a:solidFill>
            <a:srgbClr val="1F4E79"/>
          </a:solidFill>
          <a:ln cap="flat" cmpd="sng" w="12700">
            <a:solidFill>
              <a:srgbClr val="1F4E7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3" name="Google Shape;353;p16"/>
          <p:cNvSpPr/>
          <p:nvPr/>
        </p:nvSpPr>
        <p:spPr>
          <a:xfrm>
            <a:off x="4663440" y="1984248"/>
            <a:ext cx="45720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500"/>
              <a:buFont typeface="Calibri"/>
              <a:buNone/>
            </a:pPr>
            <a:r>
              <a:rPr b="1" i="0" lang="en-US" sz="1500" u="none" cap="none" strike="noStrike">
                <a:solidFill>
                  <a:srgbClr val="FFFFFF"/>
                </a:solidFill>
                <a:latin typeface="Calibri"/>
                <a:ea typeface="Calibri"/>
                <a:cs typeface="Calibri"/>
                <a:sym typeface="Calibri"/>
              </a:rPr>
              <a:t>OK</a:t>
            </a:r>
            <a:endParaRPr b="0" i="0" sz="1500" u="none" cap="none" strike="noStrike">
              <a:solidFill>
                <a:schemeClr val="dk1"/>
              </a:solidFill>
              <a:latin typeface="Calibri"/>
              <a:ea typeface="Calibri"/>
              <a:cs typeface="Calibri"/>
              <a:sym typeface="Calibri"/>
            </a:endParaRPr>
          </a:p>
        </p:txBody>
      </p:sp>
      <p:sp>
        <p:nvSpPr>
          <p:cNvPr id="354" name="Google Shape;354;p16"/>
          <p:cNvSpPr/>
          <p:nvPr/>
        </p:nvSpPr>
        <p:spPr>
          <a:xfrm>
            <a:off x="4663440" y="2606040"/>
            <a:ext cx="2971800" cy="1097280"/>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Clr>
                <a:srgbClr val="1D2536"/>
              </a:buClr>
              <a:buSzPts val="1450"/>
              <a:buFont typeface="Calibri"/>
              <a:buNone/>
            </a:pPr>
            <a:r>
              <a:rPr b="1" i="0" lang="en-US" sz="1450" u="none" cap="none" strike="noStrike">
                <a:solidFill>
                  <a:srgbClr val="1D2536"/>
                </a:solidFill>
                <a:latin typeface="Calibri"/>
                <a:ea typeface="Calibri"/>
                <a:cs typeface="Calibri"/>
                <a:sym typeface="Calibri"/>
              </a:rPr>
              <a:t>We use the free official ad data instead</a:t>
            </a:r>
            <a:endParaRPr b="0" i="0" sz="1450" u="none" cap="none" strike="noStrike">
              <a:solidFill>
                <a:schemeClr val="dk1"/>
              </a:solidFill>
              <a:latin typeface="Calibri"/>
              <a:ea typeface="Calibri"/>
              <a:cs typeface="Calibri"/>
              <a:sym typeface="Calibri"/>
            </a:endParaRPr>
          </a:p>
        </p:txBody>
      </p:sp>
      <p:sp>
        <p:nvSpPr>
          <p:cNvPr id="355" name="Google Shape;355;p16"/>
          <p:cNvSpPr/>
          <p:nvPr/>
        </p:nvSpPr>
        <p:spPr>
          <a:xfrm>
            <a:off x="4663440" y="3749040"/>
            <a:ext cx="2971800" cy="100584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Clr>
                <a:srgbClr val="6E7686"/>
              </a:buClr>
              <a:buSzPts val="1200"/>
              <a:buFont typeface="Calibri"/>
              <a:buNone/>
            </a:pPr>
            <a:r>
              <a:rPr b="0" i="0" lang="en-US" sz="1200" u="none" cap="none" strike="noStrike">
                <a:solidFill>
                  <a:srgbClr val="6E7686"/>
                </a:solidFill>
                <a:latin typeface="Calibri"/>
                <a:ea typeface="Calibri"/>
                <a:cs typeface="Calibri"/>
                <a:sym typeface="Calibri"/>
              </a:rPr>
              <a:t>The Meta Ad Library and Google Ads Transparency show who is advertising, legally and free.</a:t>
            </a:r>
            <a:endParaRPr b="0" i="0" sz="1200" u="none" cap="none" strike="noStrike">
              <a:solidFill>
                <a:schemeClr val="dk1"/>
              </a:solidFill>
              <a:latin typeface="Calibri"/>
              <a:ea typeface="Calibri"/>
              <a:cs typeface="Calibri"/>
              <a:sym typeface="Calibri"/>
            </a:endParaRPr>
          </a:p>
        </p:txBody>
      </p:sp>
      <p:sp>
        <p:nvSpPr>
          <p:cNvPr id="356" name="Google Shape;356;p16"/>
          <p:cNvSpPr/>
          <p:nvPr/>
        </p:nvSpPr>
        <p:spPr>
          <a:xfrm>
            <a:off x="8229600" y="1691640"/>
            <a:ext cx="3520440" cy="3200400"/>
          </a:xfrm>
          <a:prstGeom prst="roundRect">
            <a:avLst>
              <a:gd fmla="val 2286" name="adj"/>
            </a:avLst>
          </a:prstGeom>
          <a:solidFill>
            <a:srgbClr val="E7EEF5"/>
          </a:solidFill>
          <a:ln cap="flat" cmpd="sng" w="12700">
            <a:solidFill>
              <a:srgbClr val="E7EEF5"/>
            </a:solidFill>
            <a:prstDash val="solid"/>
            <a:round/>
            <a:headEnd len="sm" w="sm" type="none"/>
            <a:tailEnd len="sm" w="sm" type="none"/>
          </a:ln>
          <a:effectLst>
            <a:outerShdw blurRad="88900" rotWithShape="0" algn="bl" dir="5400000" dist="38100">
              <a:srgbClr val="000000">
                <a:alpha val="1294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7" name="Google Shape;357;p16"/>
          <p:cNvSpPr/>
          <p:nvPr/>
        </p:nvSpPr>
        <p:spPr>
          <a:xfrm>
            <a:off x="8503920" y="1984248"/>
            <a:ext cx="457200" cy="457200"/>
          </a:xfrm>
          <a:prstGeom prst="ellipse">
            <a:avLst/>
          </a:prstGeom>
          <a:solidFill>
            <a:srgbClr val="4682B4"/>
          </a:solidFill>
          <a:ln cap="flat" cmpd="sng" w="12700">
            <a:solidFill>
              <a:srgbClr val="4682B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8" name="Google Shape;358;p16"/>
          <p:cNvSpPr/>
          <p:nvPr/>
        </p:nvSpPr>
        <p:spPr>
          <a:xfrm>
            <a:off x="8503920" y="1984248"/>
            <a:ext cx="45720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500"/>
              <a:buFont typeface="Calibri"/>
              <a:buNone/>
            </a:pPr>
            <a:r>
              <a:rPr b="1" i="0" lang="en-US" sz="1500" u="none" cap="none" strike="noStrike">
                <a:solidFill>
                  <a:srgbClr val="FFFFFF"/>
                </a:solidFill>
                <a:latin typeface="Calibri"/>
                <a:ea typeface="Calibri"/>
                <a:cs typeface="Calibri"/>
                <a:sym typeface="Calibri"/>
              </a:rPr>
              <a:t>OK</a:t>
            </a:r>
            <a:endParaRPr b="0" i="0" sz="1500" u="none" cap="none" strike="noStrike">
              <a:solidFill>
                <a:schemeClr val="dk1"/>
              </a:solidFill>
              <a:latin typeface="Calibri"/>
              <a:ea typeface="Calibri"/>
              <a:cs typeface="Calibri"/>
              <a:sym typeface="Calibri"/>
            </a:endParaRPr>
          </a:p>
        </p:txBody>
      </p:sp>
      <p:sp>
        <p:nvSpPr>
          <p:cNvPr id="359" name="Google Shape;359;p16"/>
          <p:cNvSpPr/>
          <p:nvPr/>
        </p:nvSpPr>
        <p:spPr>
          <a:xfrm>
            <a:off x="8503920" y="2606040"/>
            <a:ext cx="2971800" cy="1097280"/>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Clr>
                <a:srgbClr val="1D2536"/>
              </a:buClr>
              <a:buSzPts val="1450"/>
              <a:buFont typeface="Calibri"/>
              <a:buNone/>
            </a:pPr>
            <a:r>
              <a:rPr b="1" i="0" lang="en-US" sz="1450" u="none" cap="none" strike="noStrike">
                <a:solidFill>
                  <a:srgbClr val="1D2536"/>
                </a:solidFill>
                <a:latin typeface="Calibri"/>
                <a:ea typeface="Calibri"/>
                <a:cs typeface="Calibri"/>
                <a:sym typeface="Calibri"/>
              </a:rPr>
              <a:t>We verify every email before sending</a:t>
            </a:r>
            <a:endParaRPr b="0" i="0" sz="1450" u="none" cap="none" strike="noStrike">
              <a:solidFill>
                <a:schemeClr val="dk1"/>
              </a:solidFill>
              <a:latin typeface="Calibri"/>
              <a:ea typeface="Calibri"/>
              <a:cs typeface="Calibri"/>
              <a:sym typeface="Calibri"/>
            </a:endParaRPr>
          </a:p>
        </p:txBody>
      </p:sp>
      <p:sp>
        <p:nvSpPr>
          <p:cNvPr id="360" name="Google Shape;360;p16"/>
          <p:cNvSpPr/>
          <p:nvPr/>
        </p:nvSpPr>
        <p:spPr>
          <a:xfrm>
            <a:off x="8503920" y="3749040"/>
            <a:ext cx="2971800" cy="100584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Clr>
                <a:srgbClr val="6E7686"/>
              </a:buClr>
              <a:buSzPts val="1200"/>
              <a:buFont typeface="Calibri"/>
              <a:buNone/>
            </a:pPr>
            <a:r>
              <a:rPr b="0" i="0" lang="en-US" sz="1200" u="none" cap="none" strike="noStrike">
                <a:solidFill>
                  <a:srgbClr val="6E7686"/>
                </a:solidFill>
                <a:latin typeface="Calibri"/>
                <a:ea typeface="Calibri"/>
                <a:cs typeface="Calibri"/>
                <a:sym typeface="Calibri"/>
              </a:rPr>
              <a:t>A verified list keeps bounces under two percent, so your mail lands.</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7F1"/>
        </a:solidFill>
      </p:bgPr>
    </p:bg>
    <p:spTree>
      <p:nvGrpSpPr>
        <p:cNvPr id="365" name="Shape 365"/>
        <p:cNvGrpSpPr/>
        <p:nvPr/>
      </p:nvGrpSpPr>
      <p:grpSpPr>
        <a:xfrm>
          <a:off x="0" y="0"/>
          <a:ext cx="0" cy="0"/>
          <a:chOff x="0" y="0"/>
          <a:chExt cx="0" cy="0"/>
        </a:xfrm>
      </p:grpSpPr>
      <p:sp>
        <p:nvSpPr>
          <p:cNvPr id="366" name="Google Shape;366;p17"/>
          <p:cNvSpPr/>
          <p:nvPr/>
        </p:nvSpPr>
        <p:spPr>
          <a:xfrm>
            <a:off x="548640" y="384048"/>
            <a:ext cx="1106424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682B4"/>
              </a:buClr>
              <a:buSzPts val="1200"/>
              <a:buFont typeface="Calibri"/>
              <a:buNone/>
            </a:pPr>
            <a:r>
              <a:rPr b="1" i="0" lang="en-US" sz="1200" u="none" cap="none" strike="noStrike">
                <a:solidFill>
                  <a:srgbClr val="4682B4"/>
                </a:solidFill>
                <a:latin typeface="Calibri"/>
                <a:ea typeface="Calibri"/>
                <a:cs typeface="Calibri"/>
                <a:sym typeface="Calibri"/>
              </a:rPr>
              <a:t>THE ECONOMICS</a:t>
            </a:r>
            <a:endParaRPr b="0" i="0" sz="1200" u="none" cap="none" strike="noStrike">
              <a:solidFill>
                <a:schemeClr val="dk1"/>
              </a:solidFill>
              <a:latin typeface="Calibri"/>
              <a:ea typeface="Calibri"/>
              <a:cs typeface="Calibri"/>
              <a:sym typeface="Calibri"/>
            </a:endParaRPr>
          </a:p>
        </p:txBody>
      </p:sp>
      <p:sp>
        <p:nvSpPr>
          <p:cNvPr id="367" name="Google Shape;367;p17"/>
          <p:cNvSpPr/>
          <p:nvPr/>
        </p:nvSpPr>
        <p:spPr>
          <a:xfrm>
            <a:off x="548640" y="658368"/>
            <a:ext cx="11064240"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2536"/>
              </a:buClr>
              <a:buSzPts val="2700"/>
              <a:buFont typeface="Calibri"/>
              <a:buNone/>
            </a:pPr>
            <a:r>
              <a:rPr b="1" i="0" lang="en-US" sz="2700" u="none" cap="none" strike="noStrike">
                <a:solidFill>
                  <a:srgbClr val="1D2536"/>
                </a:solidFill>
                <a:latin typeface="Calibri"/>
                <a:ea typeface="Calibri"/>
                <a:cs typeface="Calibri"/>
                <a:sym typeface="Calibri"/>
              </a:rPr>
              <a:t>Your cost, and what to charge tenants</a:t>
            </a:r>
            <a:endParaRPr b="0" i="0" sz="2700" u="none" cap="none" strike="noStrike">
              <a:solidFill>
                <a:schemeClr val="dk1"/>
              </a:solidFill>
              <a:latin typeface="Calibri"/>
              <a:ea typeface="Calibri"/>
              <a:cs typeface="Calibri"/>
              <a:sym typeface="Calibri"/>
            </a:endParaRPr>
          </a:p>
        </p:txBody>
      </p:sp>
      <p:sp>
        <p:nvSpPr>
          <p:cNvPr id="368" name="Google Shape;368;p17"/>
          <p:cNvSpPr/>
          <p:nvPr/>
        </p:nvSpPr>
        <p:spPr>
          <a:xfrm>
            <a:off x="548640" y="1463040"/>
            <a:ext cx="544068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682B4"/>
              </a:buClr>
              <a:buSzPts val="1400"/>
              <a:buFont typeface="Calibri"/>
              <a:buNone/>
            </a:pPr>
            <a:r>
              <a:rPr b="1" i="0" lang="en-US" sz="1400" u="none" cap="none" strike="noStrike">
                <a:solidFill>
                  <a:srgbClr val="4682B4"/>
                </a:solidFill>
                <a:latin typeface="Calibri"/>
                <a:ea typeface="Calibri"/>
                <a:cs typeface="Calibri"/>
                <a:sym typeface="Calibri"/>
              </a:rPr>
              <a:t>Your cost per campaign</a:t>
            </a:r>
            <a:endParaRPr b="0" i="0" sz="1400" u="none" cap="none" strike="noStrike">
              <a:solidFill>
                <a:schemeClr val="dk1"/>
              </a:solidFill>
              <a:latin typeface="Calibri"/>
              <a:ea typeface="Calibri"/>
              <a:cs typeface="Calibri"/>
              <a:sym typeface="Calibri"/>
            </a:endParaRPr>
          </a:p>
        </p:txBody>
      </p:sp>
      <p:sp>
        <p:nvSpPr>
          <p:cNvPr id="369" name="Google Shape;369;p17"/>
          <p:cNvSpPr/>
          <p:nvPr/>
        </p:nvSpPr>
        <p:spPr>
          <a:xfrm>
            <a:off x="548640" y="1828800"/>
            <a:ext cx="5440680" cy="777240"/>
          </a:xfrm>
          <a:prstGeom prst="roundRect">
            <a:avLst>
              <a:gd fmla="val 7059" name="adj"/>
            </a:avLst>
          </a:prstGeom>
          <a:solidFill>
            <a:srgbClr val="FFFFFF"/>
          </a:solidFill>
          <a:ln cap="flat" cmpd="sng" w="12700">
            <a:solidFill>
              <a:srgbClr val="E2DCCE"/>
            </a:solidFill>
            <a:prstDash val="solid"/>
            <a:round/>
            <a:headEnd len="sm" w="sm" type="none"/>
            <a:tailEnd len="sm" w="sm" type="none"/>
          </a:ln>
          <a:effectLst>
            <a:outerShdw blurRad="88900" rotWithShape="0" algn="bl" dir="5400000" dist="38100">
              <a:srgbClr val="000000">
                <a:alpha val="1294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0" name="Google Shape;370;p17"/>
          <p:cNvSpPr/>
          <p:nvPr/>
        </p:nvSpPr>
        <p:spPr>
          <a:xfrm>
            <a:off x="731520" y="1828800"/>
            <a:ext cx="2377440" cy="7772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2536"/>
              </a:buClr>
              <a:buSzPts val="1250"/>
              <a:buFont typeface="Calibri"/>
              <a:buNone/>
            </a:pPr>
            <a:r>
              <a:rPr b="1" i="0" lang="en-US" sz="1250" u="none" cap="none" strike="noStrike">
                <a:solidFill>
                  <a:srgbClr val="1D2536"/>
                </a:solidFill>
                <a:latin typeface="Calibri"/>
                <a:ea typeface="Calibri"/>
                <a:cs typeface="Calibri"/>
                <a:sym typeface="Calibri"/>
              </a:rPr>
              <a:t>100 leads sourced</a:t>
            </a:r>
            <a:endParaRPr b="0" i="0" sz="1250" u="none" cap="none" strike="noStrike">
              <a:solidFill>
                <a:schemeClr val="dk1"/>
              </a:solidFill>
              <a:latin typeface="Calibri"/>
              <a:ea typeface="Calibri"/>
              <a:cs typeface="Calibri"/>
              <a:sym typeface="Calibri"/>
            </a:endParaRPr>
          </a:p>
        </p:txBody>
      </p:sp>
      <p:sp>
        <p:nvSpPr>
          <p:cNvPr id="371" name="Google Shape;371;p17"/>
          <p:cNvSpPr/>
          <p:nvPr/>
        </p:nvSpPr>
        <p:spPr>
          <a:xfrm>
            <a:off x="3108960" y="1828800"/>
            <a:ext cx="1005840" cy="7772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F4E79"/>
              </a:buClr>
              <a:buSzPts val="1700"/>
              <a:buFont typeface="Calibri"/>
              <a:buNone/>
            </a:pPr>
            <a:r>
              <a:rPr b="1" i="0" lang="en-US" sz="1700" u="none" cap="none" strike="noStrike">
                <a:solidFill>
                  <a:srgbClr val="1F4E79"/>
                </a:solidFill>
                <a:latin typeface="Calibri"/>
                <a:ea typeface="Calibri"/>
                <a:cs typeface="Calibri"/>
                <a:sym typeface="Calibri"/>
              </a:rPr>
              <a:t>$25</a:t>
            </a:r>
            <a:endParaRPr b="0" i="0" sz="1700" u="none" cap="none" strike="noStrike">
              <a:solidFill>
                <a:schemeClr val="dk1"/>
              </a:solidFill>
              <a:latin typeface="Calibri"/>
              <a:ea typeface="Calibri"/>
              <a:cs typeface="Calibri"/>
              <a:sym typeface="Calibri"/>
            </a:endParaRPr>
          </a:p>
        </p:txBody>
      </p:sp>
      <p:sp>
        <p:nvSpPr>
          <p:cNvPr id="372" name="Google Shape;372;p17"/>
          <p:cNvSpPr/>
          <p:nvPr/>
        </p:nvSpPr>
        <p:spPr>
          <a:xfrm>
            <a:off x="4114800" y="1828800"/>
            <a:ext cx="1783080" cy="7772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E7686"/>
              </a:buClr>
              <a:buSzPts val="1000"/>
              <a:buFont typeface="Calibri"/>
              <a:buNone/>
            </a:pPr>
            <a:r>
              <a:rPr b="0" i="0" lang="en-US" sz="1000" u="none" cap="none" strike="noStrike">
                <a:solidFill>
                  <a:srgbClr val="6E7686"/>
                </a:solidFill>
                <a:latin typeface="Calibri"/>
                <a:ea typeface="Calibri"/>
                <a:cs typeface="Calibri"/>
                <a:sym typeface="Calibri"/>
              </a:rPr>
              <a:t>$0.66 per qualified lead</a:t>
            </a:r>
            <a:endParaRPr b="0" i="0" sz="1000" u="none" cap="none" strike="noStrike">
              <a:solidFill>
                <a:schemeClr val="dk1"/>
              </a:solidFill>
              <a:latin typeface="Calibri"/>
              <a:ea typeface="Calibri"/>
              <a:cs typeface="Calibri"/>
              <a:sym typeface="Calibri"/>
            </a:endParaRPr>
          </a:p>
        </p:txBody>
      </p:sp>
      <p:sp>
        <p:nvSpPr>
          <p:cNvPr id="373" name="Google Shape;373;p17"/>
          <p:cNvSpPr/>
          <p:nvPr/>
        </p:nvSpPr>
        <p:spPr>
          <a:xfrm>
            <a:off x="548640" y="2715768"/>
            <a:ext cx="5440680" cy="777240"/>
          </a:xfrm>
          <a:prstGeom prst="roundRect">
            <a:avLst>
              <a:gd fmla="val 7059" name="adj"/>
            </a:avLst>
          </a:prstGeom>
          <a:solidFill>
            <a:srgbClr val="FFFFFF"/>
          </a:solidFill>
          <a:ln cap="flat" cmpd="sng" w="12700">
            <a:solidFill>
              <a:srgbClr val="E2DCCE"/>
            </a:solidFill>
            <a:prstDash val="solid"/>
            <a:round/>
            <a:headEnd len="sm" w="sm" type="none"/>
            <a:tailEnd len="sm" w="sm" type="none"/>
          </a:ln>
          <a:effectLst>
            <a:outerShdw blurRad="88900" rotWithShape="0" algn="bl" dir="5400000" dist="38100">
              <a:srgbClr val="000000">
                <a:alpha val="1294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4" name="Google Shape;374;p17"/>
          <p:cNvSpPr/>
          <p:nvPr/>
        </p:nvSpPr>
        <p:spPr>
          <a:xfrm>
            <a:off x="731520" y="2715768"/>
            <a:ext cx="2377440" cy="7772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2536"/>
              </a:buClr>
              <a:buSzPts val="1250"/>
              <a:buFont typeface="Calibri"/>
              <a:buNone/>
            </a:pPr>
            <a:r>
              <a:rPr b="1" i="0" lang="en-US" sz="1250" u="none" cap="none" strike="noStrike">
                <a:solidFill>
                  <a:srgbClr val="1D2536"/>
                </a:solidFill>
                <a:latin typeface="Calibri"/>
                <a:ea typeface="Calibri"/>
                <a:cs typeface="Calibri"/>
                <a:sym typeface="Calibri"/>
              </a:rPr>
              <a:t>200 leads sourced</a:t>
            </a:r>
            <a:endParaRPr b="0" i="0" sz="1250" u="none" cap="none" strike="noStrike">
              <a:solidFill>
                <a:schemeClr val="dk1"/>
              </a:solidFill>
              <a:latin typeface="Calibri"/>
              <a:ea typeface="Calibri"/>
              <a:cs typeface="Calibri"/>
              <a:sym typeface="Calibri"/>
            </a:endParaRPr>
          </a:p>
        </p:txBody>
      </p:sp>
      <p:sp>
        <p:nvSpPr>
          <p:cNvPr id="375" name="Google Shape;375;p17"/>
          <p:cNvSpPr/>
          <p:nvPr/>
        </p:nvSpPr>
        <p:spPr>
          <a:xfrm>
            <a:off x="3108960" y="2715768"/>
            <a:ext cx="1005840" cy="7772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F4E79"/>
              </a:buClr>
              <a:buSzPts val="1700"/>
              <a:buFont typeface="Calibri"/>
              <a:buNone/>
            </a:pPr>
            <a:r>
              <a:rPr b="1" i="0" lang="en-US" sz="1700" u="none" cap="none" strike="noStrike">
                <a:solidFill>
                  <a:srgbClr val="1F4E79"/>
                </a:solidFill>
                <a:latin typeface="Calibri"/>
                <a:ea typeface="Calibri"/>
                <a:cs typeface="Calibri"/>
                <a:sym typeface="Calibri"/>
              </a:rPr>
              <a:t>$50</a:t>
            </a:r>
            <a:endParaRPr b="0" i="0" sz="1700" u="none" cap="none" strike="noStrike">
              <a:solidFill>
                <a:schemeClr val="dk1"/>
              </a:solidFill>
              <a:latin typeface="Calibri"/>
              <a:ea typeface="Calibri"/>
              <a:cs typeface="Calibri"/>
              <a:sym typeface="Calibri"/>
            </a:endParaRPr>
          </a:p>
        </p:txBody>
      </p:sp>
      <p:sp>
        <p:nvSpPr>
          <p:cNvPr id="376" name="Google Shape;376;p17"/>
          <p:cNvSpPr/>
          <p:nvPr/>
        </p:nvSpPr>
        <p:spPr>
          <a:xfrm>
            <a:off x="4114800" y="2715768"/>
            <a:ext cx="1783080" cy="7772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E7686"/>
              </a:buClr>
              <a:buSzPts val="1000"/>
              <a:buFont typeface="Calibri"/>
              <a:buNone/>
            </a:pPr>
            <a:r>
              <a:rPr b="0" i="0" lang="en-US" sz="1000" u="none" cap="none" strike="noStrike">
                <a:solidFill>
                  <a:srgbClr val="6E7686"/>
                </a:solidFill>
                <a:latin typeface="Calibri"/>
                <a:ea typeface="Calibri"/>
                <a:cs typeface="Calibri"/>
                <a:sym typeface="Calibri"/>
              </a:rPr>
              <a:t>$0.67 per qualified lead</a:t>
            </a:r>
            <a:endParaRPr b="0" i="0" sz="1000" u="none" cap="none" strike="noStrike">
              <a:solidFill>
                <a:schemeClr val="dk1"/>
              </a:solidFill>
              <a:latin typeface="Calibri"/>
              <a:ea typeface="Calibri"/>
              <a:cs typeface="Calibri"/>
              <a:sym typeface="Calibri"/>
            </a:endParaRPr>
          </a:p>
        </p:txBody>
      </p:sp>
      <p:sp>
        <p:nvSpPr>
          <p:cNvPr id="377" name="Google Shape;377;p17"/>
          <p:cNvSpPr/>
          <p:nvPr/>
        </p:nvSpPr>
        <p:spPr>
          <a:xfrm>
            <a:off x="548640" y="3602736"/>
            <a:ext cx="5440680" cy="777240"/>
          </a:xfrm>
          <a:prstGeom prst="roundRect">
            <a:avLst>
              <a:gd fmla="val 7059" name="adj"/>
            </a:avLst>
          </a:prstGeom>
          <a:solidFill>
            <a:srgbClr val="FFFFFF"/>
          </a:solidFill>
          <a:ln cap="flat" cmpd="sng" w="12700">
            <a:solidFill>
              <a:srgbClr val="E2DCCE"/>
            </a:solidFill>
            <a:prstDash val="solid"/>
            <a:round/>
            <a:headEnd len="sm" w="sm" type="none"/>
            <a:tailEnd len="sm" w="sm" type="none"/>
          </a:ln>
          <a:effectLst>
            <a:outerShdw blurRad="88900" rotWithShape="0" algn="bl" dir="5400000" dist="38100">
              <a:srgbClr val="000000">
                <a:alpha val="1294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8" name="Google Shape;378;p17"/>
          <p:cNvSpPr/>
          <p:nvPr/>
        </p:nvSpPr>
        <p:spPr>
          <a:xfrm>
            <a:off x="731520" y="3602736"/>
            <a:ext cx="2377440" cy="7772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2536"/>
              </a:buClr>
              <a:buSzPts val="1250"/>
              <a:buFont typeface="Calibri"/>
              <a:buNone/>
            </a:pPr>
            <a:r>
              <a:rPr b="1" i="0" lang="en-US" sz="1250" u="none" cap="none" strike="noStrike">
                <a:solidFill>
                  <a:srgbClr val="1D2536"/>
                </a:solidFill>
                <a:latin typeface="Calibri"/>
                <a:ea typeface="Calibri"/>
                <a:cs typeface="Calibri"/>
                <a:sym typeface="Calibri"/>
              </a:rPr>
              <a:t>500 leads sourced</a:t>
            </a:r>
            <a:endParaRPr b="0" i="0" sz="1250" u="none" cap="none" strike="noStrike">
              <a:solidFill>
                <a:schemeClr val="dk1"/>
              </a:solidFill>
              <a:latin typeface="Calibri"/>
              <a:ea typeface="Calibri"/>
              <a:cs typeface="Calibri"/>
              <a:sym typeface="Calibri"/>
            </a:endParaRPr>
          </a:p>
        </p:txBody>
      </p:sp>
      <p:sp>
        <p:nvSpPr>
          <p:cNvPr id="379" name="Google Shape;379;p17"/>
          <p:cNvSpPr/>
          <p:nvPr/>
        </p:nvSpPr>
        <p:spPr>
          <a:xfrm>
            <a:off x="3108960" y="3602736"/>
            <a:ext cx="1005840" cy="7772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F4E79"/>
              </a:buClr>
              <a:buSzPts val="1700"/>
              <a:buFont typeface="Calibri"/>
              <a:buNone/>
            </a:pPr>
            <a:r>
              <a:rPr b="1" i="0" lang="en-US" sz="1700" u="none" cap="none" strike="noStrike">
                <a:solidFill>
                  <a:srgbClr val="1F4E79"/>
                </a:solidFill>
                <a:latin typeface="Calibri"/>
                <a:ea typeface="Calibri"/>
                <a:cs typeface="Calibri"/>
                <a:sym typeface="Calibri"/>
              </a:rPr>
              <a:t>$125</a:t>
            </a:r>
            <a:endParaRPr b="0" i="0" sz="1700" u="none" cap="none" strike="noStrike">
              <a:solidFill>
                <a:schemeClr val="dk1"/>
              </a:solidFill>
              <a:latin typeface="Calibri"/>
              <a:ea typeface="Calibri"/>
              <a:cs typeface="Calibri"/>
              <a:sym typeface="Calibri"/>
            </a:endParaRPr>
          </a:p>
        </p:txBody>
      </p:sp>
      <p:sp>
        <p:nvSpPr>
          <p:cNvPr id="380" name="Google Shape;380;p17"/>
          <p:cNvSpPr/>
          <p:nvPr/>
        </p:nvSpPr>
        <p:spPr>
          <a:xfrm>
            <a:off x="4114800" y="3602736"/>
            <a:ext cx="1783080" cy="7772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E7686"/>
              </a:buClr>
              <a:buSzPts val="1000"/>
              <a:buFont typeface="Calibri"/>
              <a:buNone/>
            </a:pPr>
            <a:r>
              <a:rPr b="0" i="0" lang="en-US" sz="1000" u="none" cap="none" strike="noStrike">
                <a:solidFill>
                  <a:srgbClr val="6E7686"/>
                </a:solidFill>
                <a:latin typeface="Calibri"/>
                <a:ea typeface="Calibri"/>
                <a:cs typeface="Calibri"/>
                <a:sym typeface="Calibri"/>
              </a:rPr>
              <a:t>$0.66 per qualified lead</a:t>
            </a:r>
            <a:endParaRPr b="0" i="0" sz="1000" u="none" cap="none" strike="noStrike">
              <a:solidFill>
                <a:schemeClr val="dk1"/>
              </a:solidFill>
              <a:latin typeface="Calibri"/>
              <a:ea typeface="Calibri"/>
              <a:cs typeface="Calibri"/>
              <a:sym typeface="Calibri"/>
            </a:endParaRPr>
          </a:p>
        </p:txBody>
      </p:sp>
      <p:sp>
        <p:nvSpPr>
          <p:cNvPr id="381" name="Google Shape;381;p17"/>
          <p:cNvSpPr/>
          <p:nvPr/>
        </p:nvSpPr>
        <p:spPr>
          <a:xfrm>
            <a:off x="548640" y="4526280"/>
            <a:ext cx="544068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E7686"/>
              </a:buClr>
              <a:buSzPts val="1050"/>
              <a:buFont typeface="Calibri"/>
              <a:buNone/>
            </a:pPr>
            <a:r>
              <a:rPr b="0" i="1" lang="en-US" sz="1050" u="none" cap="none" strike="noStrike">
                <a:solidFill>
                  <a:srgbClr val="6E7686"/>
                </a:solidFill>
                <a:latin typeface="Calibri"/>
                <a:ea typeface="Calibri"/>
                <a:cs typeface="Calibri"/>
                <a:sym typeface="Calibri"/>
              </a:rPr>
              <a:t>Biggest driver is the crew audit; Phase 1 measures it, not guesses.</a:t>
            </a:r>
            <a:endParaRPr b="0" i="0" sz="1050" u="none" cap="none" strike="noStrike">
              <a:solidFill>
                <a:schemeClr val="dk1"/>
              </a:solidFill>
              <a:latin typeface="Calibri"/>
              <a:ea typeface="Calibri"/>
              <a:cs typeface="Calibri"/>
              <a:sym typeface="Calibri"/>
            </a:endParaRPr>
          </a:p>
        </p:txBody>
      </p:sp>
      <p:sp>
        <p:nvSpPr>
          <p:cNvPr id="382" name="Google Shape;382;p17"/>
          <p:cNvSpPr/>
          <p:nvPr/>
        </p:nvSpPr>
        <p:spPr>
          <a:xfrm>
            <a:off x="6172200" y="1463040"/>
            <a:ext cx="544068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4E79"/>
              </a:buClr>
              <a:buSzPts val="1400"/>
              <a:buFont typeface="Calibri"/>
              <a:buNone/>
            </a:pPr>
            <a:r>
              <a:rPr b="1" i="0" lang="en-US" sz="1400" u="none" cap="none" strike="noStrike">
                <a:solidFill>
                  <a:srgbClr val="1F4E79"/>
                </a:solidFill>
                <a:latin typeface="Calibri"/>
                <a:ea typeface="Calibri"/>
                <a:cs typeface="Calibri"/>
                <a:sym typeface="Calibri"/>
              </a:rPr>
              <a:t>What to charge a tenant</a:t>
            </a:r>
            <a:endParaRPr b="0" i="0" sz="1400" u="none" cap="none" strike="noStrike">
              <a:solidFill>
                <a:schemeClr val="dk1"/>
              </a:solidFill>
              <a:latin typeface="Calibri"/>
              <a:ea typeface="Calibri"/>
              <a:cs typeface="Calibri"/>
              <a:sym typeface="Calibri"/>
            </a:endParaRPr>
          </a:p>
        </p:txBody>
      </p:sp>
      <p:sp>
        <p:nvSpPr>
          <p:cNvPr id="383" name="Google Shape;383;p17"/>
          <p:cNvSpPr/>
          <p:nvPr/>
        </p:nvSpPr>
        <p:spPr>
          <a:xfrm>
            <a:off x="6172200" y="1828800"/>
            <a:ext cx="5440680" cy="566928"/>
          </a:xfrm>
          <a:prstGeom prst="roundRect">
            <a:avLst>
              <a:gd fmla="val 8065" name="adj"/>
            </a:avLst>
          </a:prstGeom>
          <a:solidFill>
            <a:srgbClr val="FFFFFF"/>
          </a:solidFill>
          <a:ln cap="flat" cmpd="sng" w="12700">
            <a:solidFill>
              <a:srgbClr val="E2DCCE"/>
            </a:solidFill>
            <a:prstDash val="solid"/>
            <a:round/>
            <a:headEnd len="sm" w="sm" type="none"/>
            <a:tailEnd len="sm" w="sm" type="none"/>
          </a:ln>
          <a:effectLst>
            <a:outerShdw blurRad="88900" rotWithShape="0" algn="bl" dir="5400000" dist="38100">
              <a:srgbClr val="000000">
                <a:alpha val="1294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4" name="Google Shape;384;p17"/>
          <p:cNvSpPr/>
          <p:nvPr/>
        </p:nvSpPr>
        <p:spPr>
          <a:xfrm>
            <a:off x="6355080" y="1828800"/>
            <a:ext cx="2103120"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2536"/>
              </a:buClr>
              <a:buSzPts val="1200"/>
              <a:buFont typeface="Calibri"/>
              <a:buNone/>
            </a:pPr>
            <a:r>
              <a:rPr b="1" i="0" lang="en-US" sz="1200" u="none" cap="none" strike="noStrike">
                <a:solidFill>
                  <a:srgbClr val="1D2536"/>
                </a:solidFill>
                <a:latin typeface="Calibri"/>
                <a:ea typeface="Calibri"/>
                <a:cs typeface="Calibri"/>
                <a:sym typeface="Calibri"/>
              </a:rPr>
              <a:t>AltoLumo owner</a:t>
            </a:r>
            <a:endParaRPr b="0" i="0" sz="1200" u="none" cap="none" strike="noStrike">
              <a:solidFill>
                <a:schemeClr val="dk1"/>
              </a:solidFill>
              <a:latin typeface="Calibri"/>
              <a:ea typeface="Calibri"/>
              <a:cs typeface="Calibri"/>
              <a:sym typeface="Calibri"/>
            </a:endParaRPr>
          </a:p>
        </p:txBody>
      </p:sp>
      <p:sp>
        <p:nvSpPr>
          <p:cNvPr id="385" name="Google Shape;385;p17"/>
          <p:cNvSpPr/>
          <p:nvPr/>
        </p:nvSpPr>
        <p:spPr>
          <a:xfrm>
            <a:off x="8412480" y="1828800"/>
            <a:ext cx="1280160" cy="56692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4682B4"/>
              </a:buClr>
              <a:buSzPts val="1300"/>
              <a:buFont typeface="Calibri"/>
              <a:buNone/>
            </a:pPr>
            <a:r>
              <a:rPr b="1" i="0" lang="en-US" sz="1300" u="none" cap="none" strike="noStrike">
                <a:solidFill>
                  <a:srgbClr val="4682B4"/>
                </a:solidFill>
                <a:latin typeface="Calibri"/>
                <a:ea typeface="Calibri"/>
                <a:cs typeface="Calibri"/>
                <a:sym typeface="Calibri"/>
              </a:rPr>
              <a:t>$0</a:t>
            </a:r>
            <a:endParaRPr b="0" i="0" sz="1300" u="none" cap="none" strike="noStrike">
              <a:solidFill>
                <a:schemeClr val="dk1"/>
              </a:solidFill>
              <a:latin typeface="Calibri"/>
              <a:ea typeface="Calibri"/>
              <a:cs typeface="Calibri"/>
              <a:sym typeface="Calibri"/>
            </a:endParaRPr>
          </a:p>
        </p:txBody>
      </p:sp>
      <p:sp>
        <p:nvSpPr>
          <p:cNvPr id="386" name="Google Shape;386;p17"/>
          <p:cNvSpPr/>
          <p:nvPr/>
        </p:nvSpPr>
        <p:spPr>
          <a:xfrm>
            <a:off x="9692640" y="1828800"/>
            <a:ext cx="1828800"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E7686"/>
              </a:buClr>
              <a:buSzPts val="950"/>
              <a:buFont typeface="Calibri"/>
              <a:buNone/>
            </a:pPr>
            <a:r>
              <a:rPr b="0" i="0" lang="en-US" sz="950" u="none" cap="none" strike="noStrike">
                <a:solidFill>
                  <a:srgbClr val="6E7686"/>
                </a:solidFill>
                <a:latin typeface="Calibri"/>
                <a:ea typeface="Calibri"/>
                <a:cs typeface="Calibri"/>
                <a:sym typeface="Calibri"/>
              </a:rPr>
              <a:t>unlimited own use</a:t>
            </a:r>
            <a:endParaRPr b="0" i="0" sz="950" u="none" cap="none" strike="noStrike">
              <a:solidFill>
                <a:schemeClr val="dk1"/>
              </a:solidFill>
              <a:latin typeface="Calibri"/>
              <a:ea typeface="Calibri"/>
              <a:cs typeface="Calibri"/>
              <a:sym typeface="Calibri"/>
            </a:endParaRPr>
          </a:p>
        </p:txBody>
      </p:sp>
      <p:sp>
        <p:nvSpPr>
          <p:cNvPr id="387" name="Google Shape;387;p17"/>
          <p:cNvSpPr/>
          <p:nvPr/>
        </p:nvSpPr>
        <p:spPr>
          <a:xfrm>
            <a:off x="6172200" y="2487168"/>
            <a:ext cx="5440680" cy="566928"/>
          </a:xfrm>
          <a:prstGeom prst="roundRect">
            <a:avLst>
              <a:gd fmla="val 8065" name="adj"/>
            </a:avLst>
          </a:prstGeom>
          <a:solidFill>
            <a:srgbClr val="FFFFFF"/>
          </a:solidFill>
          <a:ln cap="flat" cmpd="sng" w="12700">
            <a:solidFill>
              <a:srgbClr val="E2DCCE"/>
            </a:solidFill>
            <a:prstDash val="solid"/>
            <a:round/>
            <a:headEnd len="sm" w="sm" type="none"/>
            <a:tailEnd len="sm" w="sm" type="none"/>
          </a:ln>
          <a:effectLst>
            <a:outerShdw blurRad="88900" rotWithShape="0" algn="bl" dir="5400000" dist="38100">
              <a:srgbClr val="000000">
                <a:alpha val="1294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8" name="Google Shape;388;p17"/>
          <p:cNvSpPr/>
          <p:nvPr/>
        </p:nvSpPr>
        <p:spPr>
          <a:xfrm>
            <a:off x="6355080" y="2487168"/>
            <a:ext cx="2103120"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2536"/>
              </a:buClr>
              <a:buSzPts val="1200"/>
              <a:buFont typeface="Calibri"/>
              <a:buNone/>
            </a:pPr>
            <a:r>
              <a:rPr b="1" i="0" lang="en-US" sz="1200" u="none" cap="none" strike="noStrike">
                <a:solidFill>
                  <a:srgbClr val="1D2536"/>
                </a:solidFill>
                <a:latin typeface="Calibri"/>
                <a:ea typeface="Calibri"/>
                <a:cs typeface="Calibri"/>
                <a:sym typeface="Calibri"/>
              </a:rPr>
              <a:t>Starter</a:t>
            </a:r>
            <a:endParaRPr b="0" i="0" sz="1200" u="none" cap="none" strike="noStrike">
              <a:solidFill>
                <a:schemeClr val="dk1"/>
              </a:solidFill>
              <a:latin typeface="Calibri"/>
              <a:ea typeface="Calibri"/>
              <a:cs typeface="Calibri"/>
              <a:sym typeface="Calibri"/>
            </a:endParaRPr>
          </a:p>
        </p:txBody>
      </p:sp>
      <p:sp>
        <p:nvSpPr>
          <p:cNvPr id="389" name="Google Shape;389;p17"/>
          <p:cNvSpPr/>
          <p:nvPr/>
        </p:nvSpPr>
        <p:spPr>
          <a:xfrm>
            <a:off x="8412480" y="2487168"/>
            <a:ext cx="1280160" cy="56692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4682B4"/>
              </a:buClr>
              <a:buSzPts val="1300"/>
              <a:buFont typeface="Calibri"/>
              <a:buNone/>
            </a:pPr>
            <a:r>
              <a:rPr b="1" i="0" lang="en-US" sz="1300" u="none" cap="none" strike="noStrike">
                <a:solidFill>
                  <a:srgbClr val="4682B4"/>
                </a:solidFill>
                <a:latin typeface="Calibri"/>
                <a:ea typeface="Calibri"/>
                <a:cs typeface="Calibri"/>
                <a:sym typeface="Calibri"/>
              </a:rPr>
              <a:t>$199/mo</a:t>
            </a:r>
            <a:endParaRPr b="0" i="0" sz="1300" u="none" cap="none" strike="noStrike">
              <a:solidFill>
                <a:schemeClr val="dk1"/>
              </a:solidFill>
              <a:latin typeface="Calibri"/>
              <a:ea typeface="Calibri"/>
              <a:cs typeface="Calibri"/>
              <a:sym typeface="Calibri"/>
            </a:endParaRPr>
          </a:p>
        </p:txBody>
      </p:sp>
      <p:sp>
        <p:nvSpPr>
          <p:cNvPr id="390" name="Google Shape;390;p17"/>
          <p:cNvSpPr/>
          <p:nvPr/>
        </p:nvSpPr>
        <p:spPr>
          <a:xfrm>
            <a:off x="9692640" y="2487168"/>
            <a:ext cx="1828800"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E7686"/>
              </a:buClr>
              <a:buSzPts val="950"/>
              <a:buFont typeface="Calibri"/>
              <a:buNone/>
            </a:pPr>
            <a:r>
              <a:rPr b="0" i="0" lang="en-US" sz="950" u="none" cap="none" strike="noStrike">
                <a:solidFill>
                  <a:srgbClr val="6E7686"/>
                </a:solidFill>
                <a:latin typeface="Calibri"/>
                <a:ea typeface="Calibri"/>
                <a:cs typeface="Calibri"/>
                <a:sym typeface="Calibri"/>
              </a:rPr>
              <a:t>150 leads, then $8 each</a:t>
            </a:r>
            <a:endParaRPr b="0" i="0" sz="950" u="none" cap="none" strike="noStrike">
              <a:solidFill>
                <a:schemeClr val="dk1"/>
              </a:solidFill>
              <a:latin typeface="Calibri"/>
              <a:ea typeface="Calibri"/>
              <a:cs typeface="Calibri"/>
              <a:sym typeface="Calibri"/>
            </a:endParaRPr>
          </a:p>
        </p:txBody>
      </p:sp>
      <p:sp>
        <p:nvSpPr>
          <p:cNvPr id="391" name="Google Shape;391;p17"/>
          <p:cNvSpPr/>
          <p:nvPr/>
        </p:nvSpPr>
        <p:spPr>
          <a:xfrm>
            <a:off x="6172200" y="3145536"/>
            <a:ext cx="5440680" cy="566928"/>
          </a:xfrm>
          <a:prstGeom prst="roundRect">
            <a:avLst>
              <a:gd fmla="val 8065" name="adj"/>
            </a:avLst>
          </a:prstGeom>
          <a:solidFill>
            <a:srgbClr val="FFFFFF"/>
          </a:solidFill>
          <a:ln cap="flat" cmpd="sng" w="12700">
            <a:solidFill>
              <a:srgbClr val="E2DCCE"/>
            </a:solidFill>
            <a:prstDash val="solid"/>
            <a:round/>
            <a:headEnd len="sm" w="sm" type="none"/>
            <a:tailEnd len="sm" w="sm" type="none"/>
          </a:ln>
          <a:effectLst>
            <a:outerShdw blurRad="88900" rotWithShape="0" algn="bl" dir="5400000" dist="38100">
              <a:srgbClr val="000000">
                <a:alpha val="1294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2" name="Google Shape;392;p17"/>
          <p:cNvSpPr/>
          <p:nvPr/>
        </p:nvSpPr>
        <p:spPr>
          <a:xfrm>
            <a:off x="6355080" y="3145536"/>
            <a:ext cx="2103120"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2536"/>
              </a:buClr>
              <a:buSzPts val="1200"/>
              <a:buFont typeface="Calibri"/>
              <a:buNone/>
            </a:pPr>
            <a:r>
              <a:rPr b="1" i="0" lang="en-US" sz="1200" u="none" cap="none" strike="noStrike">
                <a:solidFill>
                  <a:srgbClr val="1D2536"/>
                </a:solidFill>
                <a:latin typeface="Calibri"/>
                <a:ea typeface="Calibri"/>
                <a:cs typeface="Calibri"/>
                <a:sym typeface="Calibri"/>
              </a:rPr>
              <a:t>Pro</a:t>
            </a:r>
            <a:endParaRPr b="0" i="0" sz="1200" u="none" cap="none" strike="noStrike">
              <a:solidFill>
                <a:schemeClr val="dk1"/>
              </a:solidFill>
              <a:latin typeface="Calibri"/>
              <a:ea typeface="Calibri"/>
              <a:cs typeface="Calibri"/>
              <a:sym typeface="Calibri"/>
            </a:endParaRPr>
          </a:p>
        </p:txBody>
      </p:sp>
      <p:sp>
        <p:nvSpPr>
          <p:cNvPr id="393" name="Google Shape;393;p17"/>
          <p:cNvSpPr/>
          <p:nvPr/>
        </p:nvSpPr>
        <p:spPr>
          <a:xfrm>
            <a:off x="8412480" y="3145536"/>
            <a:ext cx="1280160" cy="56692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4682B4"/>
              </a:buClr>
              <a:buSzPts val="1300"/>
              <a:buFont typeface="Calibri"/>
              <a:buNone/>
            </a:pPr>
            <a:r>
              <a:rPr b="1" i="0" lang="en-US" sz="1300" u="none" cap="none" strike="noStrike">
                <a:solidFill>
                  <a:srgbClr val="4682B4"/>
                </a:solidFill>
                <a:latin typeface="Calibri"/>
                <a:ea typeface="Calibri"/>
                <a:cs typeface="Calibri"/>
                <a:sym typeface="Calibri"/>
              </a:rPr>
              <a:t>$499/mo</a:t>
            </a:r>
            <a:endParaRPr b="0" i="0" sz="1300" u="none" cap="none" strike="noStrike">
              <a:solidFill>
                <a:schemeClr val="dk1"/>
              </a:solidFill>
              <a:latin typeface="Calibri"/>
              <a:ea typeface="Calibri"/>
              <a:cs typeface="Calibri"/>
              <a:sym typeface="Calibri"/>
            </a:endParaRPr>
          </a:p>
        </p:txBody>
      </p:sp>
      <p:sp>
        <p:nvSpPr>
          <p:cNvPr id="394" name="Google Shape;394;p17"/>
          <p:cNvSpPr/>
          <p:nvPr/>
        </p:nvSpPr>
        <p:spPr>
          <a:xfrm>
            <a:off x="9692640" y="3145536"/>
            <a:ext cx="1828800"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E7686"/>
              </a:buClr>
              <a:buSzPts val="950"/>
              <a:buFont typeface="Calibri"/>
              <a:buNone/>
            </a:pPr>
            <a:r>
              <a:rPr b="0" i="0" lang="en-US" sz="950" u="none" cap="none" strike="noStrike">
                <a:solidFill>
                  <a:srgbClr val="6E7686"/>
                </a:solidFill>
                <a:latin typeface="Calibri"/>
                <a:ea typeface="Calibri"/>
                <a:cs typeface="Calibri"/>
                <a:sym typeface="Calibri"/>
              </a:rPr>
              <a:t>500 leads, then $6 each</a:t>
            </a:r>
            <a:endParaRPr b="0" i="0" sz="950" u="none" cap="none" strike="noStrike">
              <a:solidFill>
                <a:schemeClr val="dk1"/>
              </a:solidFill>
              <a:latin typeface="Calibri"/>
              <a:ea typeface="Calibri"/>
              <a:cs typeface="Calibri"/>
              <a:sym typeface="Calibri"/>
            </a:endParaRPr>
          </a:p>
        </p:txBody>
      </p:sp>
      <p:sp>
        <p:nvSpPr>
          <p:cNvPr id="395" name="Google Shape;395;p17"/>
          <p:cNvSpPr/>
          <p:nvPr/>
        </p:nvSpPr>
        <p:spPr>
          <a:xfrm>
            <a:off x="6172200" y="3803904"/>
            <a:ext cx="5440680" cy="566928"/>
          </a:xfrm>
          <a:prstGeom prst="roundRect">
            <a:avLst>
              <a:gd fmla="val 8065" name="adj"/>
            </a:avLst>
          </a:prstGeom>
          <a:solidFill>
            <a:srgbClr val="FFFFFF"/>
          </a:solidFill>
          <a:ln cap="flat" cmpd="sng" w="12700">
            <a:solidFill>
              <a:srgbClr val="E2DCCE"/>
            </a:solidFill>
            <a:prstDash val="solid"/>
            <a:round/>
            <a:headEnd len="sm" w="sm" type="none"/>
            <a:tailEnd len="sm" w="sm" type="none"/>
          </a:ln>
          <a:effectLst>
            <a:outerShdw blurRad="88900" rotWithShape="0" algn="bl" dir="5400000" dist="38100">
              <a:srgbClr val="000000">
                <a:alpha val="1294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6" name="Google Shape;396;p17"/>
          <p:cNvSpPr/>
          <p:nvPr/>
        </p:nvSpPr>
        <p:spPr>
          <a:xfrm>
            <a:off x="6355080" y="3803904"/>
            <a:ext cx="2103120"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2536"/>
              </a:buClr>
              <a:buSzPts val="1200"/>
              <a:buFont typeface="Calibri"/>
              <a:buNone/>
            </a:pPr>
            <a:r>
              <a:rPr b="1" i="0" lang="en-US" sz="1200" u="none" cap="none" strike="noStrike">
                <a:solidFill>
                  <a:srgbClr val="1D2536"/>
                </a:solidFill>
                <a:latin typeface="Calibri"/>
                <a:ea typeface="Calibri"/>
                <a:cs typeface="Calibri"/>
                <a:sym typeface="Calibri"/>
              </a:rPr>
              <a:t>Scale</a:t>
            </a:r>
            <a:endParaRPr b="0" i="0" sz="1200" u="none" cap="none" strike="noStrike">
              <a:solidFill>
                <a:schemeClr val="dk1"/>
              </a:solidFill>
              <a:latin typeface="Calibri"/>
              <a:ea typeface="Calibri"/>
              <a:cs typeface="Calibri"/>
              <a:sym typeface="Calibri"/>
            </a:endParaRPr>
          </a:p>
        </p:txBody>
      </p:sp>
      <p:sp>
        <p:nvSpPr>
          <p:cNvPr id="397" name="Google Shape;397;p17"/>
          <p:cNvSpPr/>
          <p:nvPr/>
        </p:nvSpPr>
        <p:spPr>
          <a:xfrm>
            <a:off x="8412480" y="3803904"/>
            <a:ext cx="1280160" cy="56692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4682B4"/>
              </a:buClr>
              <a:buSzPts val="1300"/>
              <a:buFont typeface="Calibri"/>
              <a:buNone/>
            </a:pPr>
            <a:r>
              <a:rPr b="1" i="0" lang="en-US" sz="1300" u="none" cap="none" strike="noStrike">
                <a:solidFill>
                  <a:srgbClr val="4682B4"/>
                </a:solidFill>
                <a:latin typeface="Calibri"/>
                <a:ea typeface="Calibri"/>
                <a:cs typeface="Calibri"/>
                <a:sym typeface="Calibri"/>
              </a:rPr>
              <a:t>$999/mo</a:t>
            </a:r>
            <a:endParaRPr b="0" i="0" sz="1300" u="none" cap="none" strike="noStrike">
              <a:solidFill>
                <a:schemeClr val="dk1"/>
              </a:solidFill>
              <a:latin typeface="Calibri"/>
              <a:ea typeface="Calibri"/>
              <a:cs typeface="Calibri"/>
              <a:sym typeface="Calibri"/>
            </a:endParaRPr>
          </a:p>
        </p:txBody>
      </p:sp>
      <p:sp>
        <p:nvSpPr>
          <p:cNvPr id="398" name="Google Shape;398;p17"/>
          <p:cNvSpPr/>
          <p:nvPr/>
        </p:nvSpPr>
        <p:spPr>
          <a:xfrm>
            <a:off x="9692640" y="3803904"/>
            <a:ext cx="1828800"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E7686"/>
              </a:buClr>
              <a:buSzPts val="950"/>
              <a:buFont typeface="Calibri"/>
              <a:buNone/>
            </a:pPr>
            <a:r>
              <a:rPr b="0" i="0" lang="en-US" sz="950" u="none" cap="none" strike="noStrike">
                <a:solidFill>
                  <a:srgbClr val="6E7686"/>
                </a:solidFill>
                <a:latin typeface="Calibri"/>
                <a:ea typeface="Calibri"/>
                <a:cs typeface="Calibri"/>
                <a:sym typeface="Calibri"/>
              </a:rPr>
              <a:t>1,500 leads, then $5 each</a:t>
            </a:r>
            <a:endParaRPr b="0" i="0" sz="950" u="none" cap="none" strike="noStrike">
              <a:solidFill>
                <a:schemeClr val="dk1"/>
              </a:solidFill>
              <a:latin typeface="Calibri"/>
              <a:ea typeface="Calibri"/>
              <a:cs typeface="Calibri"/>
              <a:sym typeface="Calibri"/>
            </a:endParaRPr>
          </a:p>
        </p:txBody>
      </p:sp>
      <p:sp>
        <p:nvSpPr>
          <p:cNvPr id="399" name="Google Shape;399;p17"/>
          <p:cNvSpPr/>
          <p:nvPr/>
        </p:nvSpPr>
        <p:spPr>
          <a:xfrm>
            <a:off x="6172200" y="4526280"/>
            <a:ext cx="544068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E7686"/>
              </a:buClr>
              <a:buSzPts val="1050"/>
              <a:buFont typeface="Calibri"/>
              <a:buNone/>
            </a:pPr>
            <a:r>
              <a:rPr b="0" i="1" lang="en-US" sz="1050" u="none" cap="none" strike="noStrike">
                <a:solidFill>
                  <a:srgbClr val="6E7686"/>
                </a:solidFill>
                <a:latin typeface="Calibri"/>
                <a:ea typeface="Calibri"/>
                <a:cs typeface="Calibri"/>
                <a:sym typeface="Calibri"/>
              </a:rPr>
              <a:t>At about $1.50 all-in per qualified lead, $5 to $8 is a 3x to 5x margin.</a:t>
            </a:r>
            <a:endParaRPr b="0" i="0" sz="1050" u="none" cap="none" strike="noStrike">
              <a:solidFill>
                <a:schemeClr val="dk1"/>
              </a:solidFill>
              <a:latin typeface="Calibri"/>
              <a:ea typeface="Calibri"/>
              <a:cs typeface="Calibri"/>
              <a:sym typeface="Calibri"/>
            </a:endParaRPr>
          </a:p>
        </p:txBody>
      </p:sp>
      <p:sp>
        <p:nvSpPr>
          <p:cNvPr id="400" name="Google Shape;400;p17"/>
          <p:cNvSpPr/>
          <p:nvPr/>
        </p:nvSpPr>
        <p:spPr>
          <a:xfrm>
            <a:off x="548640" y="5074920"/>
            <a:ext cx="11064240" cy="960120"/>
          </a:xfrm>
          <a:prstGeom prst="roundRect">
            <a:avLst>
              <a:gd fmla="val 6667" name="adj"/>
            </a:avLst>
          </a:prstGeom>
          <a:solidFill>
            <a:srgbClr val="1D2536"/>
          </a:solidFill>
          <a:ln cap="flat" cmpd="sng" w="12700">
            <a:solidFill>
              <a:srgbClr val="1D253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1" name="Google Shape;401;p17"/>
          <p:cNvSpPr/>
          <p:nvPr/>
        </p:nvSpPr>
        <p:spPr>
          <a:xfrm>
            <a:off x="914400" y="5074920"/>
            <a:ext cx="10332720" cy="96012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Clr>
                <a:srgbClr val="9DC3E6"/>
              </a:buClr>
              <a:buSzPts val="1400"/>
              <a:buFont typeface="Calibri"/>
              <a:buNone/>
            </a:pPr>
            <a:r>
              <a:rPr b="1" i="0" lang="en-US" sz="1400" u="none" cap="none" strike="noStrike">
                <a:solidFill>
                  <a:srgbClr val="9DC3E6"/>
                </a:solidFill>
                <a:latin typeface="Calibri"/>
                <a:ea typeface="Calibri"/>
                <a:cs typeface="Calibri"/>
                <a:sym typeface="Calibri"/>
              </a:rPr>
              <a:t>A starting model to validate.  </a:t>
            </a:r>
            <a:r>
              <a:rPr b="0" i="0" lang="en-US" sz="1400" u="none" cap="none" strike="noStrike">
                <a:solidFill>
                  <a:srgbClr val="D9E2EF"/>
                </a:solidFill>
                <a:latin typeface="Calibri"/>
                <a:ea typeface="Calibri"/>
                <a:cs typeface="Calibri"/>
                <a:sym typeface="Calibri"/>
              </a:rPr>
              <a:t>The dominant cost is the crew audit, so we measure it live in Phase 1 before the price is finalized.</a:t>
            </a:r>
            <a:endParaRPr b="0" i="0" sz="1400" u="none" cap="none" strike="noStrike">
              <a:solidFill>
                <a:schemeClr val="dk1"/>
              </a:solidFill>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7F1"/>
        </a:solidFill>
      </p:bgPr>
    </p:bg>
    <p:spTree>
      <p:nvGrpSpPr>
        <p:cNvPr id="406" name="Shape 406"/>
        <p:cNvGrpSpPr/>
        <p:nvPr/>
      </p:nvGrpSpPr>
      <p:grpSpPr>
        <a:xfrm>
          <a:off x="0" y="0"/>
          <a:ext cx="0" cy="0"/>
          <a:chOff x="0" y="0"/>
          <a:chExt cx="0" cy="0"/>
        </a:xfrm>
      </p:grpSpPr>
      <p:sp>
        <p:nvSpPr>
          <p:cNvPr id="407" name="Google Shape;407;p18"/>
          <p:cNvSpPr/>
          <p:nvPr/>
        </p:nvSpPr>
        <p:spPr>
          <a:xfrm>
            <a:off x="548640" y="384048"/>
            <a:ext cx="1106424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682B4"/>
              </a:buClr>
              <a:buSzPts val="1200"/>
              <a:buFont typeface="Calibri"/>
              <a:buNone/>
            </a:pPr>
            <a:r>
              <a:rPr b="1" i="0" lang="en-US" sz="1200" u="none" cap="none" strike="noStrike">
                <a:solidFill>
                  <a:srgbClr val="4682B4"/>
                </a:solidFill>
                <a:latin typeface="Calibri"/>
                <a:ea typeface="Calibri"/>
                <a:cs typeface="Calibri"/>
                <a:sym typeface="Calibri"/>
              </a:rPr>
              <a:t>CONFIRMED IT WORKS</a:t>
            </a:r>
            <a:endParaRPr b="0" i="0" sz="1200" u="none" cap="none" strike="noStrike">
              <a:solidFill>
                <a:schemeClr val="dk1"/>
              </a:solidFill>
              <a:latin typeface="Calibri"/>
              <a:ea typeface="Calibri"/>
              <a:cs typeface="Calibri"/>
              <a:sym typeface="Calibri"/>
            </a:endParaRPr>
          </a:p>
        </p:txBody>
      </p:sp>
      <p:sp>
        <p:nvSpPr>
          <p:cNvPr id="408" name="Google Shape;408;p18"/>
          <p:cNvSpPr/>
          <p:nvPr/>
        </p:nvSpPr>
        <p:spPr>
          <a:xfrm>
            <a:off x="548640" y="658368"/>
            <a:ext cx="11064240"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2536"/>
              </a:buClr>
              <a:buSzPts val="2700"/>
              <a:buFont typeface="Calibri"/>
              <a:buNone/>
            </a:pPr>
            <a:r>
              <a:rPr b="1" i="0" lang="en-US" sz="2700" u="none" cap="none" strike="noStrike">
                <a:solidFill>
                  <a:srgbClr val="1D2536"/>
                </a:solidFill>
                <a:latin typeface="Calibri"/>
                <a:ea typeface="Calibri"/>
                <a:cs typeface="Calibri"/>
                <a:sym typeface="Calibri"/>
              </a:rPr>
              <a:t>Measured output, not assertion</a:t>
            </a:r>
            <a:endParaRPr b="0" i="0" sz="2700" u="none" cap="none" strike="noStrike">
              <a:solidFill>
                <a:schemeClr val="dk1"/>
              </a:solidFill>
              <a:latin typeface="Calibri"/>
              <a:ea typeface="Calibri"/>
              <a:cs typeface="Calibri"/>
              <a:sym typeface="Calibri"/>
            </a:endParaRPr>
          </a:p>
        </p:txBody>
      </p:sp>
      <p:sp>
        <p:nvSpPr>
          <p:cNvPr id="409" name="Google Shape;409;p18"/>
          <p:cNvSpPr/>
          <p:nvPr/>
        </p:nvSpPr>
        <p:spPr>
          <a:xfrm>
            <a:off x="548640" y="1417320"/>
            <a:ext cx="1106424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2536"/>
              </a:buClr>
              <a:buSzPts val="1500"/>
              <a:buFont typeface="Calibri"/>
              <a:buNone/>
            </a:pPr>
            <a:r>
              <a:rPr b="0" i="0" lang="en-US" sz="1500" u="none" cap="none" strike="noStrike">
                <a:solidFill>
                  <a:srgbClr val="1D2536"/>
                </a:solidFill>
                <a:latin typeface="Calibri"/>
                <a:ea typeface="Calibri"/>
                <a:cs typeface="Calibri"/>
                <a:sym typeface="Calibri"/>
              </a:rPr>
              <a:t>Before building the full system, the two provable cores were run today and produced correct results.</a:t>
            </a:r>
            <a:endParaRPr b="0" i="0" sz="1500" u="none" cap="none" strike="noStrike">
              <a:solidFill>
                <a:schemeClr val="dk1"/>
              </a:solidFill>
              <a:latin typeface="Calibri"/>
              <a:ea typeface="Calibri"/>
              <a:cs typeface="Calibri"/>
              <a:sym typeface="Calibri"/>
            </a:endParaRPr>
          </a:p>
        </p:txBody>
      </p:sp>
      <p:sp>
        <p:nvSpPr>
          <p:cNvPr id="410" name="Google Shape;410;p18"/>
          <p:cNvSpPr/>
          <p:nvPr/>
        </p:nvSpPr>
        <p:spPr>
          <a:xfrm>
            <a:off x="548640" y="2057400"/>
            <a:ext cx="5440680" cy="3108960"/>
          </a:xfrm>
          <a:prstGeom prst="roundRect">
            <a:avLst>
              <a:gd fmla="val 2353" name="adj"/>
            </a:avLst>
          </a:prstGeom>
          <a:solidFill>
            <a:srgbClr val="FFFFFF"/>
          </a:solidFill>
          <a:ln cap="flat" cmpd="sng" w="12700">
            <a:solidFill>
              <a:srgbClr val="E2DCCE"/>
            </a:solidFill>
            <a:prstDash val="solid"/>
            <a:round/>
            <a:headEnd len="sm" w="sm" type="none"/>
            <a:tailEnd len="sm" w="sm" type="none"/>
          </a:ln>
          <a:effectLst>
            <a:outerShdw blurRad="88900" rotWithShape="0" algn="bl" dir="5400000" dist="38100">
              <a:srgbClr val="000000">
                <a:alpha val="1294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1" name="Google Shape;411;p18"/>
          <p:cNvSpPr/>
          <p:nvPr/>
        </p:nvSpPr>
        <p:spPr>
          <a:xfrm>
            <a:off x="822960" y="2286000"/>
            <a:ext cx="493776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682B4"/>
              </a:buClr>
              <a:buSzPts val="1700"/>
              <a:buFont typeface="Calibri"/>
              <a:buNone/>
            </a:pPr>
            <a:r>
              <a:rPr b="1" i="0" lang="en-US" sz="1700" u="none" cap="none" strike="noStrike">
                <a:solidFill>
                  <a:srgbClr val="4682B4"/>
                </a:solidFill>
                <a:latin typeface="Calibri"/>
                <a:ea typeface="Calibri"/>
                <a:cs typeface="Calibri"/>
                <a:sym typeface="Calibri"/>
              </a:rPr>
              <a:t>The scoring engine ran</a:t>
            </a:r>
            <a:endParaRPr b="0" i="0" sz="1700" u="none" cap="none" strike="noStrike">
              <a:solidFill>
                <a:schemeClr val="dk1"/>
              </a:solidFill>
              <a:latin typeface="Calibri"/>
              <a:ea typeface="Calibri"/>
              <a:cs typeface="Calibri"/>
              <a:sym typeface="Calibri"/>
            </a:endParaRPr>
          </a:p>
        </p:txBody>
      </p:sp>
      <p:sp>
        <p:nvSpPr>
          <p:cNvPr id="412" name="Google Shape;412;p18"/>
          <p:cNvSpPr/>
          <p:nvPr/>
        </p:nvSpPr>
        <p:spPr>
          <a:xfrm>
            <a:off x="822960" y="2697480"/>
            <a:ext cx="4937760" cy="59436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Clr>
                <a:srgbClr val="6E7686"/>
              </a:buClr>
              <a:buSzPts val="1250"/>
              <a:buFont typeface="Calibri"/>
              <a:buNone/>
            </a:pPr>
            <a:r>
              <a:rPr b="0" i="0" lang="en-US" sz="1250" u="none" cap="none" strike="noStrike">
                <a:solidFill>
                  <a:srgbClr val="6E7686"/>
                </a:solidFill>
                <a:latin typeface="Calibri"/>
                <a:ea typeface="Calibri"/>
                <a:cs typeface="Calibri"/>
                <a:sym typeface="Calibri"/>
              </a:rPr>
              <a:t>Ran the qualification core on a sample Series A startup hiring a Head of Engineering.</a:t>
            </a:r>
            <a:endParaRPr b="0" i="0" sz="1250" u="none" cap="none" strike="noStrike">
              <a:solidFill>
                <a:schemeClr val="dk1"/>
              </a:solidFill>
              <a:latin typeface="Calibri"/>
              <a:ea typeface="Calibri"/>
              <a:cs typeface="Calibri"/>
              <a:sym typeface="Calibri"/>
            </a:endParaRPr>
          </a:p>
        </p:txBody>
      </p:sp>
      <p:sp>
        <p:nvSpPr>
          <p:cNvPr id="413" name="Google Shape;413;p18"/>
          <p:cNvSpPr/>
          <p:nvPr/>
        </p:nvSpPr>
        <p:spPr>
          <a:xfrm>
            <a:off x="822960" y="3429000"/>
            <a:ext cx="301752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2536"/>
              </a:buClr>
              <a:buSzPts val="1200"/>
              <a:buFont typeface="Calibri"/>
              <a:buNone/>
            </a:pPr>
            <a:r>
              <a:rPr b="0" i="0" lang="en-US" sz="1200" u="none" cap="none" strike="noStrike">
                <a:solidFill>
                  <a:srgbClr val="1D2536"/>
                </a:solidFill>
                <a:latin typeface="Calibri"/>
                <a:ea typeface="Calibri"/>
                <a:cs typeface="Calibri"/>
                <a:sym typeface="Calibri"/>
              </a:rPr>
              <a:t>BANT total</a:t>
            </a:r>
            <a:endParaRPr b="0" i="0" sz="1200" u="none" cap="none" strike="noStrike">
              <a:solidFill>
                <a:schemeClr val="dk1"/>
              </a:solidFill>
              <a:latin typeface="Calibri"/>
              <a:ea typeface="Calibri"/>
              <a:cs typeface="Calibri"/>
              <a:sym typeface="Calibri"/>
            </a:endParaRPr>
          </a:p>
        </p:txBody>
      </p:sp>
      <p:sp>
        <p:nvSpPr>
          <p:cNvPr id="414" name="Google Shape;414;p18"/>
          <p:cNvSpPr/>
          <p:nvPr/>
        </p:nvSpPr>
        <p:spPr>
          <a:xfrm>
            <a:off x="3840480" y="3429000"/>
            <a:ext cx="1965960" cy="32004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1D2536"/>
              </a:buClr>
              <a:buSzPts val="1200"/>
              <a:buFont typeface="Calibri"/>
              <a:buNone/>
            </a:pPr>
            <a:r>
              <a:rPr b="1" i="0" lang="en-US" sz="1200" u="none" cap="none" strike="noStrike">
                <a:solidFill>
                  <a:srgbClr val="1D2536"/>
                </a:solidFill>
                <a:latin typeface="Calibri"/>
                <a:ea typeface="Calibri"/>
                <a:cs typeface="Calibri"/>
                <a:sym typeface="Calibri"/>
              </a:rPr>
              <a:t>75 / 100</a:t>
            </a:r>
            <a:endParaRPr b="0" i="0" sz="1200" u="none" cap="none" strike="noStrike">
              <a:solidFill>
                <a:schemeClr val="dk1"/>
              </a:solidFill>
              <a:latin typeface="Calibri"/>
              <a:ea typeface="Calibri"/>
              <a:cs typeface="Calibri"/>
              <a:sym typeface="Calibri"/>
            </a:endParaRPr>
          </a:p>
        </p:txBody>
      </p:sp>
      <p:sp>
        <p:nvSpPr>
          <p:cNvPr id="415" name="Google Shape;415;p18"/>
          <p:cNvSpPr/>
          <p:nvPr/>
        </p:nvSpPr>
        <p:spPr>
          <a:xfrm>
            <a:off x="822960" y="3831336"/>
            <a:ext cx="301752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2536"/>
              </a:buClr>
              <a:buSzPts val="1200"/>
              <a:buFont typeface="Calibri"/>
              <a:buNone/>
            </a:pPr>
            <a:r>
              <a:rPr b="0" i="0" lang="en-US" sz="1200" u="none" cap="none" strike="noStrike">
                <a:solidFill>
                  <a:srgbClr val="1D2536"/>
                </a:solidFill>
                <a:latin typeface="Calibri"/>
                <a:ea typeface="Calibri"/>
                <a:cs typeface="Calibri"/>
                <a:sym typeface="Calibri"/>
              </a:rPr>
              <a:t>Budget 19  Authority 23</a:t>
            </a:r>
            <a:endParaRPr b="0" i="0" sz="1200" u="none" cap="none" strike="noStrike">
              <a:solidFill>
                <a:schemeClr val="dk1"/>
              </a:solidFill>
              <a:latin typeface="Calibri"/>
              <a:ea typeface="Calibri"/>
              <a:cs typeface="Calibri"/>
              <a:sym typeface="Calibri"/>
            </a:endParaRPr>
          </a:p>
        </p:txBody>
      </p:sp>
      <p:sp>
        <p:nvSpPr>
          <p:cNvPr id="416" name="Google Shape;416;p18"/>
          <p:cNvSpPr/>
          <p:nvPr/>
        </p:nvSpPr>
        <p:spPr>
          <a:xfrm>
            <a:off x="3840480" y="3831336"/>
            <a:ext cx="1965960" cy="32004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1D2536"/>
              </a:buClr>
              <a:buSzPts val="1200"/>
              <a:buFont typeface="Calibri"/>
              <a:buNone/>
            </a:pPr>
            <a:r>
              <a:rPr b="1" i="0" lang="en-US" sz="1200" u="none" cap="none" strike="noStrike">
                <a:solidFill>
                  <a:srgbClr val="1D2536"/>
                </a:solidFill>
                <a:latin typeface="Calibri"/>
                <a:ea typeface="Calibri"/>
                <a:cs typeface="Calibri"/>
                <a:sym typeface="Calibri"/>
              </a:rPr>
              <a:t>Need 16  Timeline 17</a:t>
            </a:r>
            <a:endParaRPr b="0" i="0" sz="1200" u="none" cap="none" strike="noStrike">
              <a:solidFill>
                <a:schemeClr val="dk1"/>
              </a:solidFill>
              <a:latin typeface="Calibri"/>
              <a:ea typeface="Calibri"/>
              <a:cs typeface="Calibri"/>
              <a:sym typeface="Calibri"/>
            </a:endParaRPr>
          </a:p>
        </p:txBody>
      </p:sp>
      <p:sp>
        <p:nvSpPr>
          <p:cNvPr id="417" name="Google Shape;417;p18"/>
          <p:cNvSpPr/>
          <p:nvPr/>
        </p:nvSpPr>
        <p:spPr>
          <a:xfrm>
            <a:off x="822960" y="4233672"/>
            <a:ext cx="301752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2536"/>
              </a:buClr>
              <a:buSzPts val="1200"/>
              <a:buFont typeface="Calibri"/>
              <a:buNone/>
            </a:pPr>
            <a:r>
              <a:rPr b="0" i="0" lang="en-US" sz="1200" u="none" cap="none" strike="noStrike">
                <a:solidFill>
                  <a:srgbClr val="1D2536"/>
                </a:solidFill>
                <a:latin typeface="Calibri"/>
                <a:ea typeface="Calibri"/>
                <a:cs typeface="Calibri"/>
                <a:sym typeface="Calibri"/>
              </a:rPr>
              <a:t>MEDDIC completeness</a:t>
            </a:r>
            <a:endParaRPr b="0" i="0" sz="1200" u="none" cap="none" strike="noStrike">
              <a:solidFill>
                <a:schemeClr val="dk1"/>
              </a:solidFill>
              <a:latin typeface="Calibri"/>
              <a:ea typeface="Calibri"/>
              <a:cs typeface="Calibri"/>
              <a:sym typeface="Calibri"/>
            </a:endParaRPr>
          </a:p>
        </p:txBody>
      </p:sp>
      <p:sp>
        <p:nvSpPr>
          <p:cNvPr id="418" name="Google Shape;418;p18"/>
          <p:cNvSpPr/>
          <p:nvPr/>
        </p:nvSpPr>
        <p:spPr>
          <a:xfrm>
            <a:off x="3840480" y="4233672"/>
            <a:ext cx="1965960" cy="32004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1D2536"/>
              </a:buClr>
              <a:buSzPts val="1200"/>
              <a:buFont typeface="Calibri"/>
              <a:buNone/>
            </a:pPr>
            <a:r>
              <a:rPr b="1" i="0" lang="en-US" sz="1200" u="none" cap="none" strike="noStrike">
                <a:solidFill>
                  <a:srgbClr val="1D2536"/>
                </a:solidFill>
                <a:latin typeface="Calibri"/>
                <a:ea typeface="Calibri"/>
                <a:cs typeface="Calibri"/>
                <a:sym typeface="Calibri"/>
              </a:rPr>
              <a:t>83%</a:t>
            </a:r>
            <a:endParaRPr b="0" i="0" sz="1200" u="none" cap="none" strike="noStrike">
              <a:solidFill>
                <a:schemeClr val="dk1"/>
              </a:solidFill>
              <a:latin typeface="Calibri"/>
              <a:ea typeface="Calibri"/>
              <a:cs typeface="Calibri"/>
              <a:sym typeface="Calibri"/>
            </a:endParaRPr>
          </a:p>
        </p:txBody>
      </p:sp>
      <p:sp>
        <p:nvSpPr>
          <p:cNvPr id="419" name="Google Shape;419;p18"/>
          <p:cNvSpPr/>
          <p:nvPr/>
        </p:nvSpPr>
        <p:spPr>
          <a:xfrm>
            <a:off x="822960" y="4636008"/>
            <a:ext cx="301752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2536"/>
              </a:buClr>
              <a:buSzPts val="1200"/>
              <a:buFont typeface="Calibri"/>
              <a:buNone/>
            </a:pPr>
            <a:r>
              <a:rPr b="0" i="0" lang="en-US" sz="1200" u="none" cap="none" strike="noStrike">
                <a:solidFill>
                  <a:srgbClr val="1D2536"/>
                </a:solidFill>
                <a:latin typeface="Calibri"/>
                <a:ea typeface="Calibri"/>
                <a:cs typeface="Calibri"/>
                <a:sym typeface="Calibri"/>
              </a:rPr>
              <a:t>Grade</a:t>
            </a:r>
            <a:endParaRPr b="0" i="0" sz="1200" u="none" cap="none" strike="noStrike">
              <a:solidFill>
                <a:schemeClr val="dk1"/>
              </a:solidFill>
              <a:latin typeface="Calibri"/>
              <a:ea typeface="Calibri"/>
              <a:cs typeface="Calibri"/>
              <a:sym typeface="Calibri"/>
            </a:endParaRPr>
          </a:p>
        </p:txBody>
      </p:sp>
      <p:sp>
        <p:nvSpPr>
          <p:cNvPr id="420" name="Google Shape;420;p18"/>
          <p:cNvSpPr/>
          <p:nvPr/>
        </p:nvSpPr>
        <p:spPr>
          <a:xfrm>
            <a:off x="3840480" y="4636008"/>
            <a:ext cx="1965960" cy="32004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1F4E79"/>
              </a:buClr>
              <a:buSzPts val="1200"/>
              <a:buFont typeface="Calibri"/>
              <a:buNone/>
            </a:pPr>
            <a:r>
              <a:rPr b="1" i="0" lang="en-US" sz="1200" u="none" cap="none" strike="noStrike">
                <a:solidFill>
                  <a:srgbClr val="1F4E79"/>
                </a:solidFill>
                <a:latin typeface="Calibri"/>
                <a:ea typeface="Calibri"/>
                <a:cs typeface="Calibri"/>
                <a:sym typeface="Calibri"/>
              </a:rPr>
              <a:t>A, high confidence</a:t>
            </a:r>
            <a:endParaRPr b="0" i="0" sz="1200" u="none" cap="none" strike="noStrike">
              <a:solidFill>
                <a:schemeClr val="dk1"/>
              </a:solidFill>
              <a:latin typeface="Calibri"/>
              <a:ea typeface="Calibri"/>
              <a:cs typeface="Calibri"/>
              <a:sym typeface="Calibri"/>
            </a:endParaRPr>
          </a:p>
        </p:txBody>
      </p:sp>
      <p:sp>
        <p:nvSpPr>
          <p:cNvPr id="421" name="Google Shape;421;p18"/>
          <p:cNvSpPr/>
          <p:nvPr/>
        </p:nvSpPr>
        <p:spPr>
          <a:xfrm>
            <a:off x="6172200" y="2057400"/>
            <a:ext cx="5440680" cy="3108960"/>
          </a:xfrm>
          <a:prstGeom prst="roundRect">
            <a:avLst>
              <a:gd fmla="val 2353" name="adj"/>
            </a:avLst>
          </a:prstGeom>
          <a:solidFill>
            <a:srgbClr val="FFFFFF"/>
          </a:solidFill>
          <a:ln cap="flat" cmpd="sng" w="12700">
            <a:solidFill>
              <a:srgbClr val="E2DCCE"/>
            </a:solidFill>
            <a:prstDash val="solid"/>
            <a:round/>
            <a:headEnd len="sm" w="sm" type="none"/>
            <a:tailEnd len="sm" w="sm" type="none"/>
          </a:ln>
          <a:effectLst>
            <a:outerShdw blurRad="88900" rotWithShape="0" algn="bl" dir="5400000" dist="38100">
              <a:srgbClr val="000000">
                <a:alpha val="1294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2" name="Google Shape;422;p18"/>
          <p:cNvSpPr/>
          <p:nvPr/>
        </p:nvSpPr>
        <p:spPr>
          <a:xfrm>
            <a:off x="6446520" y="2286000"/>
            <a:ext cx="493776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4E79"/>
              </a:buClr>
              <a:buSzPts val="1700"/>
              <a:buFont typeface="Calibri"/>
              <a:buNone/>
            </a:pPr>
            <a:r>
              <a:rPr b="1" i="0" lang="en-US" sz="1700" u="none" cap="none" strike="noStrike">
                <a:solidFill>
                  <a:srgbClr val="1F4E79"/>
                </a:solidFill>
                <a:latin typeface="Calibri"/>
                <a:ea typeface="Calibri"/>
                <a:cs typeface="Calibri"/>
                <a:sym typeface="Calibri"/>
              </a:rPr>
              <a:t>The economics check out</a:t>
            </a:r>
            <a:endParaRPr b="0" i="0" sz="1700" u="none" cap="none" strike="noStrike">
              <a:solidFill>
                <a:schemeClr val="dk1"/>
              </a:solidFill>
              <a:latin typeface="Calibri"/>
              <a:ea typeface="Calibri"/>
              <a:cs typeface="Calibri"/>
              <a:sym typeface="Calibri"/>
            </a:endParaRPr>
          </a:p>
        </p:txBody>
      </p:sp>
      <p:sp>
        <p:nvSpPr>
          <p:cNvPr id="423" name="Google Shape;423;p18"/>
          <p:cNvSpPr/>
          <p:nvPr/>
        </p:nvSpPr>
        <p:spPr>
          <a:xfrm>
            <a:off x="6446520" y="2697480"/>
            <a:ext cx="4937760" cy="45720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Clr>
                <a:srgbClr val="6E7686"/>
              </a:buClr>
              <a:buSzPts val="1250"/>
              <a:buFont typeface="Calibri"/>
              <a:buNone/>
            </a:pPr>
            <a:r>
              <a:rPr b="0" i="0" lang="en-US" sz="1250" u="none" cap="none" strike="noStrike">
                <a:solidFill>
                  <a:srgbClr val="6E7686"/>
                </a:solidFill>
                <a:latin typeface="Calibri"/>
                <a:ea typeface="Calibri"/>
                <a:cs typeface="Calibri"/>
                <a:sym typeface="Calibri"/>
              </a:rPr>
              <a:t>Re-ran the cost model against its own assumptions.</a:t>
            </a:r>
            <a:endParaRPr b="0" i="0" sz="1250" u="none" cap="none" strike="noStrike">
              <a:solidFill>
                <a:schemeClr val="dk1"/>
              </a:solidFill>
              <a:latin typeface="Calibri"/>
              <a:ea typeface="Calibri"/>
              <a:cs typeface="Calibri"/>
              <a:sym typeface="Calibri"/>
            </a:endParaRPr>
          </a:p>
        </p:txBody>
      </p:sp>
      <p:sp>
        <p:nvSpPr>
          <p:cNvPr id="424" name="Google Shape;424;p18"/>
          <p:cNvSpPr/>
          <p:nvPr/>
        </p:nvSpPr>
        <p:spPr>
          <a:xfrm>
            <a:off x="6446520" y="3291840"/>
            <a:ext cx="301752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2536"/>
              </a:buClr>
              <a:buSzPts val="1200"/>
              <a:buFont typeface="Calibri"/>
              <a:buNone/>
            </a:pPr>
            <a:r>
              <a:rPr b="0" i="0" lang="en-US" sz="1200" u="none" cap="none" strike="noStrike">
                <a:solidFill>
                  <a:srgbClr val="1D2536"/>
                </a:solidFill>
                <a:latin typeface="Calibri"/>
                <a:ea typeface="Calibri"/>
                <a:cs typeface="Calibri"/>
                <a:sym typeface="Calibri"/>
              </a:rPr>
              <a:t>Per qualified lead</a:t>
            </a:r>
            <a:endParaRPr b="0" i="0" sz="1200" u="none" cap="none" strike="noStrike">
              <a:solidFill>
                <a:schemeClr val="dk1"/>
              </a:solidFill>
              <a:latin typeface="Calibri"/>
              <a:ea typeface="Calibri"/>
              <a:cs typeface="Calibri"/>
              <a:sym typeface="Calibri"/>
            </a:endParaRPr>
          </a:p>
        </p:txBody>
      </p:sp>
      <p:sp>
        <p:nvSpPr>
          <p:cNvPr id="425" name="Google Shape;425;p18"/>
          <p:cNvSpPr/>
          <p:nvPr/>
        </p:nvSpPr>
        <p:spPr>
          <a:xfrm>
            <a:off x="9464040" y="3291840"/>
            <a:ext cx="1965960" cy="32004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1F4E79"/>
              </a:buClr>
              <a:buSzPts val="1200"/>
              <a:buFont typeface="Calibri"/>
              <a:buNone/>
            </a:pPr>
            <a:r>
              <a:rPr b="1" i="0" lang="en-US" sz="1200" u="none" cap="none" strike="noStrike">
                <a:solidFill>
                  <a:srgbClr val="1F4E79"/>
                </a:solidFill>
                <a:latin typeface="Calibri"/>
                <a:ea typeface="Calibri"/>
                <a:cs typeface="Calibri"/>
                <a:sym typeface="Calibri"/>
              </a:rPr>
              <a:t>about $0.66</a:t>
            </a:r>
            <a:endParaRPr b="0" i="0" sz="1200" u="none" cap="none" strike="noStrike">
              <a:solidFill>
                <a:schemeClr val="dk1"/>
              </a:solidFill>
              <a:latin typeface="Calibri"/>
              <a:ea typeface="Calibri"/>
              <a:cs typeface="Calibri"/>
              <a:sym typeface="Calibri"/>
            </a:endParaRPr>
          </a:p>
        </p:txBody>
      </p:sp>
      <p:sp>
        <p:nvSpPr>
          <p:cNvPr id="426" name="Google Shape;426;p18"/>
          <p:cNvSpPr/>
          <p:nvPr/>
        </p:nvSpPr>
        <p:spPr>
          <a:xfrm>
            <a:off x="6446520" y="3712464"/>
            <a:ext cx="301752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2536"/>
              </a:buClr>
              <a:buSzPts val="1200"/>
              <a:buFont typeface="Calibri"/>
              <a:buNone/>
            </a:pPr>
            <a:r>
              <a:rPr b="0" i="0" lang="en-US" sz="1200" u="none" cap="none" strike="noStrike">
                <a:solidFill>
                  <a:srgbClr val="1D2536"/>
                </a:solidFill>
                <a:latin typeface="Calibri"/>
                <a:ea typeface="Calibri"/>
                <a:cs typeface="Calibri"/>
                <a:sym typeface="Calibri"/>
              </a:rPr>
              <a:t>Across 100, 200, 500 leads</a:t>
            </a:r>
            <a:endParaRPr b="0" i="0" sz="1200" u="none" cap="none" strike="noStrike">
              <a:solidFill>
                <a:schemeClr val="dk1"/>
              </a:solidFill>
              <a:latin typeface="Calibri"/>
              <a:ea typeface="Calibri"/>
              <a:cs typeface="Calibri"/>
              <a:sym typeface="Calibri"/>
            </a:endParaRPr>
          </a:p>
        </p:txBody>
      </p:sp>
      <p:sp>
        <p:nvSpPr>
          <p:cNvPr id="427" name="Google Shape;427;p18"/>
          <p:cNvSpPr/>
          <p:nvPr/>
        </p:nvSpPr>
        <p:spPr>
          <a:xfrm>
            <a:off x="9464040" y="3712464"/>
            <a:ext cx="1965960" cy="32004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1F4E79"/>
              </a:buClr>
              <a:buSzPts val="1200"/>
              <a:buFont typeface="Calibri"/>
              <a:buNone/>
            </a:pPr>
            <a:r>
              <a:rPr b="1" i="0" lang="en-US" sz="1200" u="none" cap="none" strike="noStrike">
                <a:solidFill>
                  <a:srgbClr val="1F4E79"/>
                </a:solidFill>
                <a:latin typeface="Calibri"/>
                <a:ea typeface="Calibri"/>
                <a:cs typeface="Calibri"/>
                <a:sym typeface="Calibri"/>
              </a:rPr>
              <a:t>holds steady</a:t>
            </a:r>
            <a:endParaRPr b="0" i="0" sz="1200" u="none" cap="none" strike="noStrike">
              <a:solidFill>
                <a:schemeClr val="dk1"/>
              </a:solidFill>
              <a:latin typeface="Calibri"/>
              <a:ea typeface="Calibri"/>
              <a:cs typeface="Calibri"/>
              <a:sym typeface="Calibri"/>
            </a:endParaRPr>
          </a:p>
        </p:txBody>
      </p:sp>
      <p:sp>
        <p:nvSpPr>
          <p:cNvPr id="428" name="Google Shape;428;p18"/>
          <p:cNvSpPr/>
          <p:nvPr/>
        </p:nvSpPr>
        <p:spPr>
          <a:xfrm>
            <a:off x="6446520" y="4133088"/>
            <a:ext cx="301752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2536"/>
              </a:buClr>
              <a:buSzPts val="1200"/>
              <a:buFont typeface="Calibri"/>
              <a:buNone/>
            </a:pPr>
            <a:r>
              <a:rPr b="0" i="0" lang="en-US" sz="1200" u="none" cap="none" strike="noStrike">
                <a:solidFill>
                  <a:srgbClr val="1D2536"/>
                </a:solidFill>
                <a:latin typeface="Calibri"/>
                <a:ea typeface="Calibri"/>
                <a:cs typeface="Calibri"/>
                <a:sym typeface="Calibri"/>
              </a:rPr>
              <a:t>Charge $5 to $8</a:t>
            </a:r>
            <a:endParaRPr b="0" i="0" sz="1200" u="none" cap="none" strike="noStrike">
              <a:solidFill>
                <a:schemeClr val="dk1"/>
              </a:solidFill>
              <a:latin typeface="Calibri"/>
              <a:ea typeface="Calibri"/>
              <a:cs typeface="Calibri"/>
              <a:sym typeface="Calibri"/>
            </a:endParaRPr>
          </a:p>
        </p:txBody>
      </p:sp>
      <p:sp>
        <p:nvSpPr>
          <p:cNvPr id="429" name="Google Shape;429;p18"/>
          <p:cNvSpPr/>
          <p:nvPr/>
        </p:nvSpPr>
        <p:spPr>
          <a:xfrm>
            <a:off x="9464040" y="4133088"/>
            <a:ext cx="1965960" cy="32004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1F4E79"/>
              </a:buClr>
              <a:buSzPts val="1200"/>
              <a:buFont typeface="Calibri"/>
              <a:buNone/>
            </a:pPr>
            <a:r>
              <a:rPr b="1" i="0" lang="en-US" sz="1200" u="none" cap="none" strike="noStrike">
                <a:solidFill>
                  <a:srgbClr val="1F4E79"/>
                </a:solidFill>
                <a:latin typeface="Calibri"/>
                <a:ea typeface="Calibri"/>
                <a:cs typeface="Calibri"/>
                <a:sym typeface="Calibri"/>
              </a:rPr>
              <a:t>3x to 5x margin</a:t>
            </a:r>
            <a:endParaRPr b="0" i="0" sz="1200" u="none" cap="none" strike="noStrike">
              <a:solidFill>
                <a:schemeClr val="dk1"/>
              </a:solidFill>
              <a:latin typeface="Calibri"/>
              <a:ea typeface="Calibri"/>
              <a:cs typeface="Calibri"/>
              <a:sym typeface="Calibri"/>
            </a:endParaRPr>
          </a:p>
        </p:txBody>
      </p:sp>
      <p:sp>
        <p:nvSpPr>
          <p:cNvPr id="430" name="Google Shape;430;p18"/>
          <p:cNvSpPr/>
          <p:nvPr/>
        </p:nvSpPr>
        <p:spPr>
          <a:xfrm>
            <a:off x="6446520" y="4553712"/>
            <a:ext cx="301752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2536"/>
              </a:buClr>
              <a:buSzPts val="1200"/>
              <a:buFont typeface="Calibri"/>
              <a:buNone/>
            </a:pPr>
            <a:r>
              <a:rPr b="0" i="0" lang="en-US" sz="1200" u="none" cap="none" strike="noStrike">
                <a:solidFill>
                  <a:srgbClr val="1D2536"/>
                </a:solidFill>
                <a:latin typeface="Calibri"/>
                <a:ea typeface="Calibri"/>
                <a:cs typeface="Calibri"/>
                <a:sym typeface="Calibri"/>
              </a:rPr>
              <a:t>Verified</a:t>
            </a:r>
            <a:endParaRPr b="0" i="0" sz="1200" u="none" cap="none" strike="noStrike">
              <a:solidFill>
                <a:schemeClr val="dk1"/>
              </a:solidFill>
              <a:latin typeface="Calibri"/>
              <a:ea typeface="Calibri"/>
              <a:cs typeface="Calibri"/>
              <a:sym typeface="Calibri"/>
            </a:endParaRPr>
          </a:p>
        </p:txBody>
      </p:sp>
      <p:sp>
        <p:nvSpPr>
          <p:cNvPr id="431" name="Google Shape;431;p18"/>
          <p:cNvSpPr/>
          <p:nvPr/>
        </p:nvSpPr>
        <p:spPr>
          <a:xfrm>
            <a:off x="9464040" y="4553712"/>
            <a:ext cx="1965960" cy="32004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E7686"/>
              </a:buClr>
              <a:buSzPts val="1200"/>
              <a:buFont typeface="Calibri"/>
              <a:buNone/>
            </a:pPr>
            <a:r>
              <a:rPr b="1" i="0" lang="en-US" sz="1200" u="none" cap="none" strike="noStrike">
                <a:solidFill>
                  <a:srgbClr val="6E7686"/>
                </a:solidFill>
                <a:latin typeface="Calibri"/>
                <a:ea typeface="Calibri"/>
                <a:cs typeface="Calibri"/>
                <a:sym typeface="Calibri"/>
              </a:rPr>
              <a:t>arithmetically</a:t>
            </a:r>
            <a:endParaRPr b="0" i="0" sz="1200" u="none" cap="none" strike="noStrike">
              <a:solidFill>
                <a:schemeClr val="dk1"/>
              </a:solidFill>
              <a:latin typeface="Calibri"/>
              <a:ea typeface="Calibri"/>
              <a:cs typeface="Calibri"/>
              <a:sym typeface="Calibri"/>
            </a:endParaRPr>
          </a:p>
        </p:txBody>
      </p:sp>
      <p:sp>
        <p:nvSpPr>
          <p:cNvPr id="432" name="Google Shape;432;p18"/>
          <p:cNvSpPr/>
          <p:nvPr/>
        </p:nvSpPr>
        <p:spPr>
          <a:xfrm>
            <a:off x="548640" y="5349240"/>
            <a:ext cx="1106424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E7686"/>
              </a:buClr>
              <a:buSzPts val="1250"/>
              <a:buFont typeface="Calibri"/>
              <a:buNone/>
            </a:pPr>
            <a:r>
              <a:rPr b="0" i="1" lang="en-US" sz="1250" u="none" cap="none" strike="noStrike">
                <a:solidFill>
                  <a:srgbClr val="6E7686"/>
                </a:solidFill>
                <a:latin typeface="Calibri"/>
                <a:ea typeface="Calibri"/>
                <a:cs typeface="Calibri"/>
                <a:sym typeface="Calibri"/>
              </a:rPr>
              <a:t>These are the heart of the system, verified today. The full build is the plan on the next slide.</a:t>
            </a:r>
            <a:endParaRPr b="0" i="0" sz="1250" u="none" cap="none" strike="noStrike">
              <a:solidFill>
                <a:schemeClr val="dk1"/>
              </a:solidFill>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7F1"/>
        </a:solidFill>
      </p:bgPr>
    </p:bg>
    <p:spTree>
      <p:nvGrpSpPr>
        <p:cNvPr id="437" name="Shape 437"/>
        <p:cNvGrpSpPr/>
        <p:nvPr/>
      </p:nvGrpSpPr>
      <p:grpSpPr>
        <a:xfrm>
          <a:off x="0" y="0"/>
          <a:ext cx="0" cy="0"/>
          <a:chOff x="0" y="0"/>
          <a:chExt cx="0" cy="0"/>
        </a:xfrm>
      </p:grpSpPr>
      <p:sp>
        <p:nvSpPr>
          <p:cNvPr id="438" name="Google Shape;438;p19"/>
          <p:cNvSpPr/>
          <p:nvPr/>
        </p:nvSpPr>
        <p:spPr>
          <a:xfrm>
            <a:off x="548640" y="384048"/>
            <a:ext cx="1106424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682B4"/>
              </a:buClr>
              <a:buSzPts val="1200"/>
              <a:buFont typeface="Calibri"/>
              <a:buNone/>
            </a:pPr>
            <a:r>
              <a:rPr b="1" i="0" lang="en-US" sz="1200" u="none" cap="none" strike="noStrike">
                <a:solidFill>
                  <a:srgbClr val="4682B4"/>
                </a:solidFill>
                <a:latin typeface="Calibri"/>
                <a:ea typeface="Calibri"/>
                <a:cs typeface="Calibri"/>
                <a:sym typeface="Calibri"/>
              </a:rPr>
              <a:t>HOW WE BUILD IT</a:t>
            </a:r>
            <a:endParaRPr b="0" i="0" sz="1200" u="none" cap="none" strike="noStrike">
              <a:solidFill>
                <a:schemeClr val="dk1"/>
              </a:solidFill>
              <a:latin typeface="Calibri"/>
              <a:ea typeface="Calibri"/>
              <a:cs typeface="Calibri"/>
              <a:sym typeface="Calibri"/>
            </a:endParaRPr>
          </a:p>
        </p:txBody>
      </p:sp>
      <p:sp>
        <p:nvSpPr>
          <p:cNvPr id="439" name="Google Shape;439;p19"/>
          <p:cNvSpPr/>
          <p:nvPr/>
        </p:nvSpPr>
        <p:spPr>
          <a:xfrm>
            <a:off x="548640" y="658368"/>
            <a:ext cx="11064240"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2536"/>
              </a:buClr>
              <a:buSzPts val="2700"/>
              <a:buFont typeface="Calibri"/>
              <a:buNone/>
            </a:pPr>
            <a:r>
              <a:rPr b="1" i="0" lang="en-US" sz="2700" u="none" cap="none" strike="noStrike">
                <a:solidFill>
                  <a:srgbClr val="1D2536"/>
                </a:solidFill>
                <a:latin typeface="Calibri"/>
                <a:ea typeface="Calibri"/>
                <a:cs typeface="Calibri"/>
                <a:sym typeface="Calibri"/>
              </a:rPr>
              <a:t>Five phases, revenue first</a:t>
            </a:r>
            <a:endParaRPr b="0" i="0" sz="2700" u="none" cap="none" strike="noStrike">
              <a:solidFill>
                <a:schemeClr val="dk1"/>
              </a:solidFill>
              <a:latin typeface="Calibri"/>
              <a:ea typeface="Calibri"/>
              <a:cs typeface="Calibri"/>
              <a:sym typeface="Calibri"/>
            </a:endParaRPr>
          </a:p>
        </p:txBody>
      </p:sp>
      <p:sp>
        <p:nvSpPr>
          <p:cNvPr id="440" name="Google Shape;440;p19"/>
          <p:cNvSpPr/>
          <p:nvPr/>
        </p:nvSpPr>
        <p:spPr>
          <a:xfrm>
            <a:off x="548640" y="1600200"/>
            <a:ext cx="11064240" cy="841248"/>
          </a:xfrm>
          <a:prstGeom prst="roundRect">
            <a:avLst>
              <a:gd fmla="val 6522" name="adj"/>
            </a:avLst>
          </a:prstGeom>
          <a:solidFill>
            <a:srgbClr val="FFFFFF"/>
          </a:solidFill>
          <a:ln cap="flat" cmpd="sng" w="12700">
            <a:solidFill>
              <a:srgbClr val="E2DCCE"/>
            </a:solidFill>
            <a:prstDash val="solid"/>
            <a:round/>
            <a:headEnd len="sm" w="sm" type="none"/>
            <a:tailEnd len="sm" w="sm" type="none"/>
          </a:ln>
          <a:effectLst>
            <a:outerShdw blurRad="88900" rotWithShape="0" algn="bl" dir="5400000" dist="38100">
              <a:srgbClr val="000000">
                <a:alpha val="1294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1" name="Google Shape;441;p19"/>
          <p:cNvSpPr/>
          <p:nvPr/>
        </p:nvSpPr>
        <p:spPr>
          <a:xfrm>
            <a:off x="777240" y="1792224"/>
            <a:ext cx="457200" cy="457200"/>
          </a:xfrm>
          <a:prstGeom prst="ellipse">
            <a:avLst/>
          </a:prstGeom>
          <a:solidFill>
            <a:srgbClr val="4682B4"/>
          </a:solidFill>
          <a:ln cap="flat" cmpd="sng" w="12700">
            <a:solidFill>
              <a:srgbClr val="4682B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2" name="Google Shape;442;p19"/>
          <p:cNvSpPr/>
          <p:nvPr/>
        </p:nvSpPr>
        <p:spPr>
          <a:xfrm>
            <a:off x="777240" y="1792224"/>
            <a:ext cx="45720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800"/>
              <a:buFont typeface="Calibri"/>
              <a:buNone/>
            </a:pPr>
            <a:r>
              <a:rPr b="1" i="0" lang="en-US" sz="1800" u="none" cap="none" strike="noStrike">
                <a:solidFill>
                  <a:srgbClr val="FFFFFF"/>
                </a:solidFill>
                <a:latin typeface="Calibri"/>
                <a:ea typeface="Calibri"/>
                <a:cs typeface="Calibri"/>
                <a:sym typeface="Calibri"/>
              </a:rPr>
              <a:t>1</a:t>
            </a:r>
            <a:endParaRPr b="0" i="0" sz="1800" u="none" cap="none" strike="noStrike">
              <a:solidFill>
                <a:schemeClr val="dk1"/>
              </a:solidFill>
              <a:latin typeface="Calibri"/>
              <a:ea typeface="Calibri"/>
              <a:cs typeface="Calibri"/>
              <a:sym typeface="Calibri"/>
            </a:endParaRPr>
          </a:p>
        </p:txBody>
      </p:sp>
      <p:sp>
        <p:nvSpPr>
          <p:cNvPr id="443" name="Google Shape;443;p19"/>
          <p:cNvSpPr/>
          <p:nvPr/>
        </p:nvSpPr>
        <p:spPr>
          <a:xfrm>
            <a:off x="1417320" y="1600200"/>
            <a:ext cx="3108960" cy="8412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2536"/>
              </a:buClr>
              <a:buSzPts val="1500"/>
              <a:buFont typeface="Calibri"/>
              <a:buNone/>
            </a:pPr>
            <a:r>
              <a:rPr b="1" i="0" lang="en-US" sz="1500" u="none" cap="none" strike="noStrike">
                <a:solidFill>
                  <a:srgbClr val="1D2536"/>
                </a:solidFill>
                <a:latin typeface="Calibri"/>
                <a:ea typeface="Calibri"/>
                <a:cs typeface="Calibri"/>
                <a:sym typeface="Calibri"/>
              </a:rPr>
              <a:t>Local MVP crew</a:t>
            </a:r>
            <a:endParaRPr b="0" i="0" sz="1500" u="none" cap="none" strike="noStrike">
              <a:solidFill>
                <a:schemeClr val="dk1"/>
              </a:solidFill>
              <a:latin typeface="Calibri"/>
              <a:ea typeface="Calibri"/>
              <a:cs typeface="Calibri"/>
              <a:sym typeface="Calibri"/>
            </a:endParaRPr>
          </a:p>
        </p:txBody>
      </p:sp>
      <p:sp>
        <p:nvSpPr>
          <p:cNvPr id="444" name="Google Shape;444;p19"/>
          <p:cNvSpPr/>
          <p:nvPr/>
        </p:nvSpPr>
        <p:spPr>
          <a:xfrm>
            <a:off x="4572000" y="1600200"/>
            <a:ext cx="6858000" cy="841248"/>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Clr>
                <a:srgbClr val="6E7686"/>
              </a:buClr>
              <a:buSzPts val="1200"/>
              <a:buFont typeface="Calibri"/>
              <a:buNone/>
            </a:pPr>
            <a:r>
              <a:rPr b="0" i="0" lang="en-US" sz="1200" u="none" cap="none" strike="noStrike">
                <a:solidFill>
                  <a:srgbClr val="6E7686"/>
                </a:solidFill>
                <a:latin typeface="Calibri"/>
                <a:ea typeface="Calibri"/>
                <a:cs typeface="Calibri"/>
                <a:sym typeface="Calibri"/>
              </a:rPr>
              <a:t>Work warm and conference leads from the command line. Claude subscription only.</a:t>
            </a:r>
            <a:endParaRPr b="0" i="0" sz="1200" u="none" cap="none" strike="noStrike">
              <a:solidFill>
                <a:schemeClr val="dk1"/>
              </a:solidFill>
              <a:latin typeface="Calibri"/>
              <a:ea typeface="Calibri"/>
              <a:cs typeface="Calibri"/>
              <a:sym typeface="Calibri"/>
            </a:endParaRPr>
          </a:p>
        </p:txBody>
      </p:sp>
      <p:sp>
        <p:nvSpPr>
          <p:cNvPr id="445" name="Google Shape;445;p19"/>
          <p:cNvSpPr/>
          <p:nvPr/>
        </p:nvSpPr>
        <p:spPr>
          <a:xfrm>
            <a:off x="548640" y="2551176"/>
            <a:ext cx="11064240" cy="841248"/>
          </a:xfrm>
          <a:prstGeom prst="roundRect">
            <a:avLst>
              <a:gd fmla="val 6522" name="adj"/>
            </a:avLst>
          </a:prstGeom>
          <a:solidFill>
            <a:srgbClr val="FFFFFF"/>
          </a:solidFill>
          <a:ln cap="flat" cmpd="sng" w="12700">
            <a:solidFill>
              <a:srgbClr val="E2DCCE"/>
            </a:solidFill>
            <a:prstDash val="solid"/>
            <a:round/>
            <a:headEnd len="sm" w="sm" type="none"/>
            <a:tailEnd len="sm" w="sm" type="none"/>
          </a:ln>
          <a:effectLst>
            <a:outerShdw blurRad="88900" rotWithShape="0" algn="bl" dir="5400000" dist="38100">
              <a:srgbClr val="000000">
                <a:alpha val="1294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6" name="Google Shape;446;p19"/>
          <p:cNvSpPr/>
          <p:nvPr/>
        </p:nvSpPr>
        <p:spPr>
          <a:xfrm>
            <a:off x="777240" y="2743200"/>
            <a:ext cx="457200" cy="457200"/>
          </a:xfrm>
          <a:prstGeom prst="ellipse">
            <a:avLst/>
          </a:prstGeom>
          <a:solidFill>
            <a:srgbClr val="4682B4"/>
          </a:solidFill>
          <a:ln cap="flat" cmpd="sng" w="12700">
            <a:solidFill>
              <a:srgbClr val="4682B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7" name="Google Shape;447;p19"/>
          <p:cNvSpPr/>
          <p:nvPr/>
        </p:nvSpPr>
        <p:spPr>
          <a:xfrm>
            <a:off x="777240" y="2743200"/>
            <a:ext cx="45720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800"/>
              <a:buFont typeface="Calibri"/>
              <a:buNone/>
            </a:pPr>
            <a:r>
              <a:rPr b="1" i="0" lang="en-US" sz="1800" u="none" cap="none" strike="noStrike">
                <a:solidFill>
                  <a:srgbClr val="FFFFFF"/>
                </a:solidFill>
                <a:latin typeface="Calibri"/>
                <a:ea typeface="Calibri"/>
                <a:cs typeface="Calibri"/>
                <a:sym typeface="Calibri"/>
              </a:rPr>
              <a:t>2</a:t>
            </a:r>
            <a:endParaRPr b="0" i="0" sz="1800" u="none" cap="none" strike="noStrike">
              <a:solidFill>
                <a:schemeClr val="dk1"/>
              </a:solidFill>
              <a:latin typeface="Calibri"/>
              <a:ea typeface="Calibri"/>
              <a:cs typeface="Calibri"/>
              <a:sym typeface="Calibri"/>
            </a:endParaRPr>
          </a:p>
        </p:txBody>
      </p:sp>
      <p:sp>
        <p:nvSpPr>
          <p:cNvPr id="448" name="Google Shape;448;p19"/>
          <p:cNvSpPr/>
          <p:nvPr/>
        </p:nvSpPr>
        <p:spPr>
          <a:xfrm>
            <a:off x="1417320" y="2551176"/>
            <a:ext cx="3108960" cy="8412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2536"/>
              </a:buClr>
              <a:buSzPts val="1500"/>
              <a:buFont typeface="Calibri"/>
              <a:buNone/>
            </a:pPr>
            <a:r>
              <a:rPr b="1" i="0" lang="en-US" sz="1500" u="none" cap="none" strike="noStrike">
                <a:solidFill>
                  <a:srgbClr val="1D2536"/>
                </a:solidFill>
                <a:latin typeface="Calibri"/>
                <a:ea typeface="Calibri"/>
                <a:cs typeface="Calibri"/>
                <a:sym typeface="Calibri"/>
              </a:rPr>
              <a:t>Lead Engine + pipeline</a:t>
            </a:r>
            <a:endParaRPr b="0" i="0" sz="1500" u="none" cap="none" strike="noStrike">
              <a:solidFill>
                <a:schemeClr val="dk1"/>
              </a:solidFill>
              <a:latin typeface="Calibri"/>
              <a:ea typeface="Calibri"/>
              <a:cs typeface="Calibri"/>
              <a:sym typeface="Calibri"/>
            </a:endParaRPr>
          </a:p>
        </p:txBody>
      </p:sp>
      <p:sp>
        <p:nvSpPr>
          <p:cNvPr id="449" name="Google Shape;449;p19"/>
          <p:cNvSpPr/>
          <p:nvPr/>
        </p:nvSpPr>
        <p:spPr>
          <a:xfrm>
            <a:off x="4572000" y="2551176"/>
            <a:ext cx="6858000" cy="841248"/>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Clr>
                <a:srgbClr val="6E7686"/>
              </a:buClr>
              <a:buSzPts val="1200"/>
              <a:buFont typeface="Calibri"/>
              <a:buNone/>
            </a:pPr>
            <a:r>
              <a:rPr b="0" i="0" lang="en-US" sz="1200" u="none" cap="none" strike="noStrike">
                <a:solidFill>
                  <a:srgbClr val="6E7686"/>
                </a:solidFill>
                <a:latin typeface="Calibri"/>
                <a:ea typeface="Calibri"/>
                <a:cs typeface="Calibri"/>
                <a:sym typeface="Calibri"/>
              </a:rPr>
              <a:t>Find, verify, score, feed. Supabase and the console board. The machine sources leads.</a:t>
            </a:r>
            <a:endParaRPr b="0" i="0" sz="1200" u="none" cap="none" strike="noStrike">
              <a:solidFill>
                <a:schemeClr val="dk1"/>
              </a:solidFill>
              <a:latin typeface="Calibri"/>
              <a:ea typeface="Calibri"/>
              <a:cs typeface="Calibri"/>
              <a:sym typeface="Calibri"/>
            </a:endParaRPr>
          </a:p>
        </p:txBody>
      </p:sp>
      <p:sp>
        <p:nvSpPr>
          <p:cNvPr id="450" name="Google Shape;450;p19"/>
          <p:cNvSpPr/>
          <p:nvPr/>
        </p:nvSpPr>
        <p:spPr>
          <a:xfrm>
            <a:off x="548640" y="3502152"/>
            <a:ext cx="11064240" cy="841248"/>
          </a:xfrm>
          <a:prstGeom prst="roundRect">
            <a:avLst>
              <a:gd fmla="val 6522" name="adj"/>
            </a:avLst>
          </a:prstGeom>
          <a:solidFill>
            <a:srgbClr val="FFFFFF"/>
          </a:solidFill>
          <a:ln cap="flat" cmpd="sng" w="12700">
            <a:solidFill>
              <a:srgbClr val="E2DCCE"/>
            </a:solidFill>
            <a:prstDash val="solid"/>
            <a:round/>
            <a:headEnd len="sm" w="sm" type="none"/>
            <a:tailEnd len="sm" w="sm" type="none"/>
          </a:ln>
          <a:effectLst>
            <a:outerShdw blurRad="88900" rotWithShape="0" algn="bl" dir="5400000" dist="38100">
              <a:srgbClr val="000000">
                <a:alpha val="1294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1" name="Google Shape;451;p19"/>
          <p:cNvSpPr/>
          <p:nvPr/>
        </p:nvSpPr>
        <p:spPr>
          <a:xfrm>
            <a:off x="777240" y="3694176"/>
            <a:ext cx="457200" cy="457200"/>
          </a:xfrm>
          <a:prstGeom prst="ellipse">
            <a:avLst/>
          </a:prstGeom>
          <a:solidFill>
            <a:srgbClr val="4682B4"/>
          </a:solidFill>
          <a:ln cap="flat" cmpd="sng" w="12700">
            <a:solidFill>
              <a:srgbClr val="4682B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2" name="Google Shape;452;p19"/>
          <p:cNvSpPr/>
          <p:nvPr/>
        </p:nvSpPr>
        <p:spPr>
          <a:xfrm>
            <a:off x="777240" y="3694176"/>
            <a:ext cx="45720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800"/>
              <a:buFont typeface="Calibri"/>
              <a:buNone/>
            </a:pPr>
            <a:r>
              <a:rPr b="1" i="0" lang="en-US" sz="1800" u="none" cap="none" strike="noStrike">
                <a:solidFill>
                  <a:srgbClr val="FFFFFF"/>
                </a:solidFill>
                <a:latin typeface="Calibri"/>
                <a:ea typeface="Calibri"/>
                <a:cs typeface="Calibri"/>
                <a:sym typeface="Calibri"/>
              </a:rPr>
              <a:t>3</a:t>
            </a:r>
            <a:endParaRPr b="0" i="0" sz="1800" u="none" cap="none" strike="noStrike">
              <a:solidFill>
                <a:schemeClr val="dk1"/>
              </a:solidFill>
              <a:latin typeface="Calibri"/>
              <a:ea typeface="Calibri"/>
              <a:cs typeface="Calibri"/>
              <a:sym typeface="Calibri"/>
            </a:endParaRPr>
          </a:p>
        </p:txBody>
      </p:sp>
      <p:sp>
        <p:nvSpPr>
          <p:cNvPr id="453" name="Google Shape;453;p19"/>
          <p:cNvSpPr/>
          <p:nvPr/>
        </p:nvSpPr>
        <p:spPr>
          <a:xfrm>
            <a:off x="1417320" y="3502152"/>
            <a:ext cx="3108960" cy="8412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2536"/>
              </a:buClr>
              <a:buSzPts val="1500"/>
              <a:buFont typeface="Calibri"/>
              <a:buNone/>
            </a:pPr>
            <a:r>
              <a:rPr b="1" i="0" lang="en-US" sz="1500" u="none" cap="none" strike="noStrike">
                <a:solidFill>
                  <a:srgbClr val="1D2536"/>
                </a:solidFill>
                <a:latin typeface="Calibri"/>
                <a:ea typeface="Calibri"/>
                <a:cs typeface="Calibri"/>
                <a:sym typeface="Calibri"/>
              </a:rPr>
              <a:t>Autopilot + review</a:t>
            </a:r>
            <a:endParaRPr b="0" i="0" sz="1500" u="none" cap="none" strike="noStrike">
              <a:solidFill>
                <a:schemeClr val="dk1"/>
              </a:solidFill>
              <a:latin typeface="Calibri"/>
              <a:ea typeface="Calibri"/>
              <a:cs typeface="Calibri"/>
              <a:sym typeface="Calibri"/>
            </a:endParaRPr>
          </a:p>
        </p:txBody>
      </p:sp>
      <p:sp>
        <p:nvSpPr>
          <p:cNvPr id="454" name="Google Shape;454;p19"/>
          <p:cNvSpPr/>
          <p:nvPr/>
        </p:nvSpPr>
        <p:spPr>
          <a:xfrm>
            <a:off x="4572000" y="3502152"/>
            <a:ext cx="6858000" cy="841248"/>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Clr>
                <a:srgbClr val="6E7686"/>
              </a:buClr>
              <a:buSzPts val="1200"/>
              <a:buFont typeface="Calibri"/>
              <a:buNone/>
            </a:pPr>
            <a:r>
              <a:rPr b="0" i="0" lang="en-US" sz="1200" u="none" cap="none" strike="noStrike">
                <a:solidFill>
                  <a:srgbClr val="6E7686"/>
                </a:solidFill>
                <a:latin typeface="Calibri"/>
                <a:ea typeface="Calibri"/>
                <a:cs typeface="Calibri"/>
                <a:sym typeface="Calibri"/>
              </a:rPr>
              <a:t>Signals, scheduled runs, MCP, and the review-before-send queue. Runs on its own.</a:t>
            </a:r>
            <a:endParaRPr b="0" i="0" sz="1200" u="none" cap="none" strike="noStrike">
              <a:solidFill>
                <a:schemeClr val="dk1"/>
              </a:solidFill>
              <a:latin typeface="Calibri"/>
              <a:ea typeface="Calibri"/>
              <a:cs typeface="Calibri"/>
              <a:sym typeface="Calibri"/>
            </a:endParaRPr>
          </a:p>
        </p:txBody>
      </p:sp>
      <p:sp>
        <p:nvSpPr>
          <p:cNvPr id="455" name="Google Shape;455;p19"/>
          <p:cNvSpPr/>
          <p:nvPr/>
        </p:nvSpPr>
        <p:spPr>
          <a:xfrm>
            <a:off x="548640" y="4453128"/>
            <a:ext cx="11064240" cy="841248"/>
          </a:xfrm>
          <a:prstGeom prst="roundRect">
            <a:avLst>
              <a:gd fmla="val 6522" name="adj"/>
            </a:avLst>
          </a:prstGeom>
          <a:solidFill>
            <a:srgbClr val="FFFFFF"/>
          </a:solidFill>
          <a:ln cap="flat" cmpd="sng" w="12700">
            <a:solidFill>
              <a:srgbClr val="E2DCCE"/>
            </a:solidFill>
            <a:prstDash val="solid"/>
            <a:round/>
            <a:headEnd len="sm" w="sm" type="none"/>
            <a:tailEnd len="sm" w="sm" type="none"/>
          </a:ln>
          <a:effectLst>
            <a:outerShdw blurRad="88900" rotWithShape="0" algn="bl" dir="5400000" dist="38100">
              <a:srgbClr val="000000">
                <a:alpha val="1294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6" name="Google Shape;456;p19"/>
          <p:cNvSpPr/>
          <p:nvPr/>
        </p:nvSpPr>
        <p:spPr>
          <a:xfrm>
            <a:off x="777240" y="4645152"/>
            <a:ext cx="457200" cy="457200"/>
          </a:xfrm>
          <a:prstGeom prst="ellipse">
            <a:avLst/>
          </a:prstGeom>
          <a:solidFill>
            <a:srgbClr val="1F4E79"/>
          </a:solidFill>
          <a:ln cap="flat" cmpd="sng" w="12700">
            <a:solidFill>
              <a:srgbClr val="1F4E7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7" name="Google Shape;457;p19"/>
          <p:cNvSpPr/>
          <p:nvPr/>
        </p:nvSpPr>
        <p:spPr>
          <a:xfrm>
            <a:off x="777240" y="4645152"/>
            <a:ext cx="45720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800"/>
              <a:buFont typeface="Calibri"/>
              <a:buNone/>
            </a:pPr>
            <a:r>
              <a:rPr b="1" i="0" lang="en-US" sz="1800" u="none" cap="none" strike="noStrike">
                <a:solidFill>
                  <a:srgbClr val="FFFFFF"/>
                </a:solidFill>
                <a:latin typeface="Calibri"/>
                <a:ea typeface="Calibri"/>
                <a:cs typeface="Calibri"/>
                <a:sym typeface="Calibri"/>
              </a:rPr>
              <a:t>4</a:t>
            </a:r>
            <a:endParaRPr b="0" i="0" sz="1800" u="none" cap="none" strike="noStrike">
              <a:solidFill>
                <a:schemeClr val="dk1"/>
              </a:solidFill>
              <a:latin typeface="Calibri"/>
              <a:ea typeface="Calibri"/>
              <a:cs typeface="Calibri"/>
              <a:sym typeface="Calibri"/>
            </a:endParaRPr>
          </a:p>
        </p:txBody>
      </p:sp>
      <p:sp>
        <p:nvSpPr>
          <p:cNvPr id="458" name="Google Shape;458;p19"/>
          <p:cNvSpPr/>
          <p:nvPr/>
        </p:nvSpPr>
        <p:spPr>
          <a:xfrm>
            <a:off x="1417320" y="4453128"/>
            <a:ext cx="3108960" cy="8412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2536"/>
              </a:buClr>
              <a:buSzPts val="1500"/>
              <a:buFont typeface="Calibri"/>
              <a:buNone/>
            </a:pPr>
            <a:r>
              <a:rPr b="1" i="0" lang="en-US" sz="1500" u="none" cap="none" strike="noStrike">
                <a:solidFill>
                  <a:srgbClr val="1D2536"/>
                </a:solidFill>
                <a:latin typeface="Calibri"/>
                <a:ea typeface="Calibri"/>
                <a:cs typeface="Calibri"/>
                <a:sym typeface="Calibri"/>
              </a:rPr>
              <a:t>Full integration</a:t>
            </a:r>
            <a:endParaRPr b="0" i="0" sz="1500" u="none" cap="none" strike="noStrike">
              <a:solidFill>
                <a:schemeClr val="dk1"/>
              </a:solidFill>
              <a:latin typeface="Calibri"/>
              <a:ea typeface="Calibri"/>
              <a:cs typeface="Calibri"/>
              <a:sym typeface="Calibri"/>
            </a:endParaRPr>
          </a:p>
        </p:txBody>
      </p:sp>
      <p:sp>
        <p:nvSpPr>
          <p:cNvPr id="459" name="Google Shape;459;p19"/>
          <p:cNvSpPr/>
          <p:nvPr/>
        </p:nvSpPr>
        <p:spPr>
          <a:xfrm>
            <a:off x="4572000" y="4453128"/>
            <a:ext cx="6858000" cy="841248"/>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Clr>
                <a:srgbClr val="6E7686"/>
              </a:buClr>
              <a:buSzPts val="1200"/>
              <a:buFont typeface="Calibri"/>
              <a:buNone/>
            </a:pPr>
            <a:r>
              <a:rPr b="0" i="0" lang="en-US" sz="1200" u="none" cap="none" strike="noStrike">
                <a:solidFill>
                  <a:srgbClr val="6E7686"/>
                </a:solidFill>
                <a:latin typeface="Calibri"/>
                <a:ea typeface="Calibri"/>
                <a:cs typeface="Calibri"/>
                <a:sym typeface="Calibri"/>
              </a:rPr>
              <a:t>Inbound funnel on Vercel, full console, natural-language sourcing. Launch ready.</a:t>
            </a:r>
            <a:endParaRPr b="0" i="0" sz="1200" u="none" cap="none" strike="noStrike">
              <a:solidFill>
                <a:schemeClr val="dk1"/>
              </a:solidFill>
              <a:latin typeface="Calibri"/>
              <a:ea typeface="Calibri"/>
              <a:cs typeface="Calibri"/>
              <a:sym typeface="Calibri"/>
            </a:endParaRPr>
          </a:p>
        </p:txBody>
      </p:sp>
      <p:sp>
        <p:nvSpPr>
          <p:cNvPr id="460" name="Google Shape;460;p19"/>
          <p:cNvSpPr/>
          <p:nvPr/>
        </p:nvSpPr>
        <p:spPr>
          <a:xfrm>
            <a:off x="548640" y="5404104"/>
            <a:ext cx="11064240" cy="841248"/>
          </a:xfrm>
          <a:prstGeom prst="roundRect">
            <a:avLst>
              <a:gd fmla="val 6522" name="adj"/>
            </a:avLst>
          </a:prstGeom>
          <a:solidFill>
            <a:srgbClr val="FFFFFF"/>
          </a:solidFill>
          <a:ln cap="flat" cmpd="sng" w="12700">
            <a:solidFill>
              <a:srgbClr val="E2DCCE"/>
            </a:solidFill>
            <a:prstDash val="solid"/>
            <a:round/>
            <a:headEnd len="sm" w="sm" type="none"/>
            <a:tailEnd len="sm" w="sm" type="none"/>
          </a:ln>
          <a:effectLst>
            <a:outerShdw blurRad="88900" rotWithShape="0" algn="bl" dir="5400000" dist="38100">
              <a:srgbClr val="000000">
                <a:alpha val="1294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1" name="Google Shape;461;p19"/>
          <p:cNvSpPr/>
          <p:nvPr/>
        </p:nvSpPr>
        <p:spPr>
          <a:xfrm>
            <a:off x="777240" y="5596128"/>
            <a:ext cx="457200" cy="457200"/>
          </a:xfrm>
          <a:prstGeom prst="ellipse">
            <a:avLst/>
          </a:prstGeom>
          <a:solidFill>
            <a:srgbClr val="1F4E79"/>
          </a:solidFill>
          <a:ln cap="flat" cmpd="sng" w="12700">
            <a:solidFill>
              <a:srgbClr val="1F4E7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2" name="Google Shape;462;p19"/>
          <p:cNvSpPr/>
          <p:nvPr/>
        </p:nvSpPr>
        <p:spPr>
          <a:xfrm>
            <a:off x="777240" y="5596128"/>
            <a:ext cx="45720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800"/>
              <a:buFont typeface="Calibri"/>
              <a:buNone/>
            </a:pPr>
            <a:r>
              <a:rPr b="1" i="0" lang="en-US" sz="1800" u="none" cap="none" strike="noStrike">
                <a:solidFill>
                  <a:srgbClr val="FFFFFF"/>
                </a:solidFill>
                <a:latin typeface="Calibri"/>
                <a:ea typeface="Calibri"/>
                <a:cs typeface="Calibri"/>
                <a:sym typeface="Calibri"/>
              </a:rPr>
              <a:t>5</a:t>
            </a:r>
            <a:endParaRPr b="0" i="0" sz="1800" u="none" cap="none" strike="noStrike">
              <a:solidFill>
                <a:schemeClr val="dk1"/>
              </a:solidFill>
              <a:latin typeface="Calibri"/>
              <a:ea typeface="Calibri"/>
              <a:cs typeface="Calibri"/>
              <a:sym typeface="Calibri"/>
            </a:endParaRPr>
          </a:p>
        </p:txBody>
      </p:sp>
      <p:sp>
        <p:nvSpPr>
          <p:cNvPr id="463" name="Google Shape;463;p19"/>
          <p:cNvSpPr/>
          <p:nvPr/>
        </p:nvSpPr>
        <p:spPr>
          <a:xfrm>
            <a:off x="1417320" y="5404104"/>
            <a:ext cx="3108960" cy="8412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2536"/>
              </a:buClr>
              <a:buSzPts val="1500"/>
              <a:buFont typeface="Calibri"/>
              <a:buNone/>
            </a:pPr>
            <a:r>
              <a:rPr b="1" i="0" lang="en-US" sz="1500" u="none" cap="none" strike="noStrike">
                <a:solidFill>
                  <a:srgbClr val="1D2536"/>
                </a:solidFill>
                <a:latin typeface="Calibri"/>
                <a:ea typeface="Calibri"/>
                <a:cs typeface="Calibri"/>
                <a:sym typeface="Calibri"/>
              </a:rPr>
              <a:t>Multi-tenant</a:t>
            </a:r>
            <a:endParaRPr b="0" i="0" sz="1500" u="none" cap="none" strike="noStrike">
              <a:solidFill>
                <a:schemeClr val="dk1"/>
              </a:solidFill>
              <a:latin typeface="Calibri"/>
              <a:ea typeface="Calibri"/>
              <a:cs typeface="Calibri"/>
              <a:sym typeface="Calibri"/>
            </a:endParaRPr>
          </a:p>
        </p:txBody>
      </p:sp>
      <p:sp>
        <p:nvSpPr>
          <p:cNvPr id="464" name="Google Shape;464;p19"/>
          <p:cNvSpPr/>
          <p:nvPr/>
        </p:nvSpPr>
        <p:spPr>
          <a:xfrm>
            <a:off x="4572000" y="5404104"/>
            <a:ext cx="6858000" cy="841248"/>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Clr>
                <a:srgbClr val="6E7686"/>
              </a:buClr>
              <a:buSzPts val="1200"/>
              <a:buFont typeface="Calibri"/>
              <a:buNone/>
            </a:pPr>
            <a:r>
              <a:rPr b="0" i="0" lang="en-US" sz="1200" u="none" cap="none" strike="noStrike">
                <a:solidFill>
                  <a:srgbClr val="6E7686"/>
                </a:solidFill>
                <a:latin typeface="Calibri"/>
                <a:ea typeface="Calibri"/>
                <a:cs typeface="Calibri"/>
                <a:sym typeface="Calibri"/>
              </a:rPr>
              <a:t>Others pay to use it, with their own profiles and billing. AltoLumo stays free.</a:t>
            </a:r>
            <a:endParaRPr b="0" i="0" sz="1200" u="none" cap="none" strike="noStrike">
              <a:solidFill>
                <a:schemeClr val="dk1"/>
              </a:solidFill>
              <a:latin typeface="Calibri"/>
              <a:ea typeface="Calibri"/>
              <a:cs typeface="Calibri"/>
              <a:sym typeface="Calibri"/>
            </a:endParaRPr>
          </a:p>
        </p:txBody>
      </p:sp>
      <p:sp>
        <p:nvSpPr>
          <p:cNvPr id="465" name="Google Shape;465;p19"/>
          <p:cNvSpPr/>
          <p:nvPr/>
        </p:nvSpPr>
        <p:spPr>
          <a:xfrm>
            <a:off x="548640" y="6309360"/>
            <a:ext cx="11064240" cy="3200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E7686"/>
              </a:buClr>
              <a:buSzPts val="1200"/>
              <a:buFont typeface="Calibri"/>
              <a:buNone/>
            </a:pPr>
            <a:r>
              <a:rPr b="0" i="1" lang="en-US" sz="1200" u="none" cap="none" strike="noStrike">
                <a:solidFill>
                  <a:srgbClr val="6E7686"/>
                </a:solidFill>
                <a:latin typeface="Calibri"/>
                <a:ea typeface="Calibri"/>
                <a:cs typeface="Calibri"/>
                <a:sym typeface="Calibri"/>
              </a:rPr>
              <a:t>A revenue-capable system exists at the end of Phase 1, a self-running one at Phase 3.</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D2536"/>
        </a:solidFill>
      </p:bgPr>
    </p:bg>
    <p:spTree>
      <p:nvGrpSpPr>
        <p:cNvPr id="470" name="Shape 470"/>
        <p:cNvGrpSpPr/>
        <p:nvPr/>
      </p:nvGrpSpPr>
      <p:grpSpPr>
        <a:xfrm>
          <a:off x="0" y="0"/>
          <a:ext cx="0" cy="0"/>
          <a:chOff x="0" y="0"/>
          <a:chExt cx="0" cy="0"/>
        </a:xfrm>
      </p:grpSpPr>
      <p:sp>
        <p:nvSpPr>
          <p:cNvPr id="471" name="Google Shape;471;p20"/>
          <p:cNvSpPr/>
          <p:nvPr/>
        </p:nvSpPr>
        <p:spPr>
          <a:xfrm>
            <a:off x="-1280160" y="4206240"/>
            <a:ext cx="3840480" cy="3840480"/>
          </a:xfrm>
          <a:prstGeom prst="ellipse">
            <a:avLst/>
          </a:prstGeom>
          <a:solidFill>
            <a:srgbClr val="4682B4">
              <a:alpha val="34117"/>
            </a:srgbClr>
          </a:solidFill>
          <a:ln cap="flat" cmpd="sng" w="12700">
            <a:solidFill>
              <a:srgbClr val="4682B4">
                <a:alpha val="34117"/>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2" name="Google Shape;472;p20"/>
          <p:cNvSpPr/>
          <p:nvPr/>
        </p:nvSpPr>
        <p:spPr>
          <a:xfrm>
            <a:off x="10332720" y="-1280160"/>
            <a:ext cx="3291840" cy="3291840"/>
          </a:xfrm>
          <a:prstGeom prst="ellipse">
            <a:avLst/>
          </a:prstGeom>
          <a:solidFill>
            <a:srgbClr val="4682B4">
              <a:alpha val="30196"/>
            </a:srgbClr>
          </a:solidFill>
          <a:ln cap="flat" cmpd="sng" w="12700">
            <a:solidFill>
              <a:srgbClr val="4682B4">
                <a:alpha val="30196"/>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3" name="Google Shape;473;p20"/>
          <p:cNvSpPr/>
          <p:nvPr/>
        </p:nvSpPr>
        <p:spPr>
          <a:xfrm>
            <a:off x="731520" y="1280160"/>
            <a:ext cx="100584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DC3E6"/>
              </a:buClr>
              <a:buSzPts val="1300"/>
              <a:buFont typeface="Calibri"/>
              <a:buNone/>
            </a:pPr>
            <a:r>
              <a:rPr b="1" i="0" lang="en-US" sz="1300" u="none" cap="none" strike="noStrike">
                <a:solidFill>
                  <a:srgbClr val="9DC3E6"/>
                </a:solidFill>
                <a:latin typeface="Calibri"/>
                <a:ea typeface="Calibri"/>
                <a:cs typeface="Calibri"/>
                <a:sym typeface="Calibri"/>
              </a:rPr>
              <a:t>READY TO BUILD</a:t>
            </a:r>
            <a:endParaRPr b="0" i="0" sz="1300" u="none" cap="none" strike="noStrike">
              <a:solidFill>
                <a:schemeClr val="dk1"/>
              </a:solidFill>
              <a:latin typeface="Calibri"/>
              <a:ea typeface="Calibri"/>
              <a:cs typeface="Calibri"/>
              <a:sym typeface="Calibri"/>
            </a:endParaRPr>
          </a:p>
        </p:txBody>
      </p:sp>
      <p:sp>
        <p:nvSpPr>
          <p:cNvPr id="474" name="Google Shape;474;p20"/>
          <p:cNvSpPr/>
          <p:nvPr/>
        </p:nvSpPr>
        <p:spPr>
          <a:xfrm>
            <a:off x="731520" y="1691640"/>
            <a:ext cx="10607040" cy="914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3400"/>
              <a:buFont typeface="Calibri"/>
              <a:buNone/>
            </a:pPr>
            <a:r>
              <a:rPr b="1" i="0" lang="en-US" sz="3400" u="none" cap="none" strike="noStrike">
                <a:solidFill>
                  <a:srgbClr val="FFFFFF"/>
                </a:solidFill>
                <a:latin typeface="Calibri"/>
                <a:ea typeface="Calibri"/>
                <a:cs typeface="Calibri"/>
                <a:sym typeface="Calibri"/>
              </a:rPr>
              <a:t>The whole system, on one page</a:t>
            </a:r>
            <a:endParaRPr b="0" i="0" sz="3400" u="none" cap="none" strike="noStrike">
              <a:solidFill>
                <a:schemeClr val="dk1"/>
              </a:solidFill>
              <a:latin typeface="Calibri"/>
              <a:ea typeface="Calibri"/>
              <a:cs typeface="Calibri"/>
              <a:sym typeface="Calibri"/>
            </a:endParaRPr>
          </a:p>
        </p:txBody>
      </p:sp>
      <p:sp>
        <p:nvSpPr>
          <p:cNvPr id="475" name="Google Shape;475;p20"/>
          <p:cNvSpPr/>
          <p:nvPr/>
        </p:nvSpPr>
        <p:spPr>
          <a:xfrm>
            <a:off x="749808" y="2697480"/>
            <a:ext cx="9966960" cy="86868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Clr>
                <a:srgbClr val="A9B4C4"/>
              </a:buClr>
              <a:buSzPts val="1500"/>
              <a:buFont typeface="Calibri"/>
              <a:buNone/>
            </a:pPr>
            <a:r>
              <a:rPr b="0" i="0" lang="en-US" sz="1500" u="none" cap="none" strike="noStrike">
                <a:solidFill>
                  <a:srgbClr val="A9B4C4"/>
                </a:solidFill>
                <a:latin typeface="Calibri"/>
                <a:ea typeface="Calibri"/>
                <a:cs typeface="Calibri"/>
                <a:sym typeface="Calibri"/>
              </a:rPr>
              <a:t>It finds real companies, verifies their emails, sees who is ready to buy, scores them, works them, and lines up drafts. You review and approve before any send. Built to serve AltoLumo first, and to be sold to others later.</a:t>
            </a:r>
            <a:endParaRPr b="0" i="0" sz="1500" u="none" cap="none" strike="noStrike">
              <a:solidFill>
                <a:schemeClr val="dk1"/>
              </a:solidFill>
              <a:latin typeface="Calibri"/>
              <a:ea typeface="Calibri"/>
              <a:cs typeface="Calibri"/>
              <a:sym typeface="Calibri"/>
            </a:endParaRPr>
          </a:p>
        </p:txBody>
      </p:sp>
      <p:sp>
        <p:nvSpPr>
          <p:cNvPr id="476" name="Google Shape;476;p20"/>
          <p:cNvSpPr/>
          <p:nvPr/>
        </p:nvSpPr>
        <p:spPr>
          <a:xfrm>
            <a:off x="777240" y="3703320"/>
            <a:ext cx="502920" cy="502920"/>
          </a:xfrm>
          <a:prstGeom prst="ellipse">
            <a:avLst/>
          </a:prstGeom>
          <a:solidFill>
            <a:srgbClr val="4682B4"/>
          </a:solidFill>
          <a:ln cap="flat" cmpd="sng" w="12700">
            <a:solidFill>
              <a:srgbClr val="4682B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7" name="Google Shape;477;p20"/>
          <p:cNvSpPr/>
          <p:nvPr/>
        </p:nvSpPr>
        <p:spPr>
          <a:xfrm>
            <a:off x="777240" y="3703320"/>
            <a:ext cx="502920" cy="5029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D2536"/>
              </a:buClr>
              <a:buSzPts val="2000"/>
              <a:buFont typeface="Calibri"/>
              <a:buNone/>
            </a:pPr>
            <a:r>
              <a:rPr b="1" i="0" lang="en-US" sz="2000" u="none" cap="none" strike="noStrike">
                <a:solidFill>
                  <a:srgbClr val="1D2536"/>
                </a:solidFill>
                <a:latin typeface="Calibri"/>
                <a:ea typeface="Calibri"/>
                <a:cs typeface="Calibri"/>
                <a:sym typeface="Calibri"/>
              </a:rPr>
              <a:t>1</a:t>
            </a:r>
            <a:endParaRPr b="0" i="0" sz="2000" u="none" cap="none" strike="noStrike">
              <a:solidFill>
                <a:schemeClr val="dk1"/>
              </a:solidFill>
              <a:latin typeface="Calibri"/>
              <a:ea typeface="Calibri"/>
              <a:cs typeface="Calibri"/>
              <a:sym typeface="Calibri"/>
            </a:endParaRPr>
          </a:p>
        </p:txBody>
      </p:sp>
      <p:sp>
        <p:nvSpPr>
          <p:cNvPr id="478" name="Google Shape;478;p20"/>
          <p:cNvSpPr/>
          <p:nvPr/>
        </p:nvSpPr>
        <p:spPr>
          <a:xfrm>
            <a:off x="1463040" y="3703320"/>
            <a:ext cx="1005840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9E2EF"/>
              </a:buClr>
              <a:buSzPts val="1500"/>
              <a:buFont typeface="Calibri"/>
              <a:buNone/>
            </a:pPr>
            <a:r>
              <a:rPr b="0" i="0" lang="en-US" sz="1500" u="none" cap="none" strike="noStrike">
                <a:solidFill>
                  <a:srgbClr val="D9E2EF"/>
                </a:solidFill>
                <a:latin typeface="Calibri"/>
                <a:ea typeface="Calibri"/>
                <a:cs typeface="Calibri"/>
                <a:sym typeface="Calibri"/>
              </a:rPr>
              <a:t>Confirm the ICP profiles and turn on the first sources</a:t>
            </a:r>
            <a:endParaRPr b="0" i="0" sz="1500" u="none" cap="none" strike="noStrike">
              <a:solidFill>
                <a:schemeClr val="dk1"/>
              </a:solidFill>
              <a:latin typeface="Calibri"/>
              <a:ea typeface="Calibri"/>
              <a:cs typeface="Calibri"/>
              <a:sym typeface="Calibri"/>
            </a:endParaRPr>
          </a:p>
        </p:txBody>
      </p:sp>
      <p:sp>
        <p:nvSpPr>
          <p:cNvPr id="479" name="Google Shape;479;p20"/>
          <p:cNvSpPr/>
          <p:nvPr/>
        </p:nvSpPr>
        <p:spPr>
          <a:xfrm>
            <a:off x="777240" y="4453128"/>
            <a:ext cx="502920" cy="502920"/>
          </a:xfrm>
          <a:prstGeom prst="ellipse">
            <a:avLst/>
          </a:prstGeom>
          <a:solidFill>
            <a:srgbClr val="4682B4"/>
          </a:solidFill>
          <a:ln cap="flat" cmpd="sng" w="12700">
            <a:solidFill>
              <a:srgbClr val="4682B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0" name="Google Shape;480;p20"/>
          <p:cNvSpPr/>
          <p:nvPr/>
        </p:nvSpPr>
        <p:spPr>
          <a:xfrm>
            <a:off x="777240" y="4453128"/>
            <a:ext cx="502920" cy="5029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D2536"/>
              </a:buClr>
              <a:buSzPts val="2000"/>
              <a:buFont typeface="Calibri"/>
              <a:buNone/>
            </a:pPr>
            <a:r>
              <a:rPr b="1" i="0" lang="en-US" sz="2000" u="none" cap="none" strike="noStrike">
                <a:solidFill>
                  <a:srgbClr val="1D2536"/>
                </a:solidFill>
                <a:latin typeface="Calibri"/>
                <a:ea typeface="Calibri"/>
                <a:cs typeface="Calibri"/>
                <a:sym typeface="Calibri"/>
              </a:rPr>
              <a:t>2</a:t>
            </a:r>
            <a:endParaRPr b="0" i="0" sz="2000" u="none" cap="none" strike="noStrike">
              <a:solidFill>
                <a:schemeClr val="dk1"/>
              </a:solidFill>
              <a:latin typeface="Calibri"/>
              <a:ea typeface="Calibri"/>
              <a:cs typeface="Calibri"/>
              <a:sym typeface="Calibri"/>
            </a:endParaRPr>
          </a:p>
        </p:txBody>
      </p:sp>
      <p:sp>
        <p:nvSpPr>
          <p:cNvPr id="481" name="Google Shape;481;p20"/>
          <p:cNvSpPr/>
          <p:nvPr/>
        </p:nvSpPr>
        <p:spPr>
          <a:xfrm>
            <a:off x="1463040" y="4453128"/>
            <a:ext cx="1005840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9E2EF"/>
              </a:buClr>
              <a:buSzPts val="1500"/>
              <a:buFont typeface="Calibri"/>
              <a:buNone/>
            </a:pPr>
            <a:r>
              <a:rPr b="0" i="0" lang="en-US" sz="1500" u="none" cap="none" strike="noStrike">
                <a:solidFill>
                  <a:srgbClr val="D9E2EF"/>
                </a:solidFill>
                <a:latin typeface="Calibri"/>
                <a:ea typeface="Calibri"/>
                <a:cs typeface="Calibri"/>
                <a:sym typeface="Calibri"/>
              </a:rPr>
              <a:t>Phase 1: install the crew, run it on warm and conference leads</a:t>
            </a:r>
            <a:endParaRPr b="0" i="0" sz="1500" u="none" cap="none" strike="noStrike">
              <a:solidFill>
                <a:schemeClr val="dk1"/>
              </a:solidFill>
              <a:latin typeface="Calibri"/>
              <a:ea typeface="Calibri"/>
              <a:cs typeface="Calibri"/>
              <a:sym typeface="Calibri"/>
            </a:endParaRPr>
          </a:p>
        </p:txBody>
      </p:sp>
      <p:sp>
        <p:nvSpPr>
          <p:cNvPr id="482" name="Google Shape;482;p20"/>
          <p:cNvSpPr/>
          <p:nvPr/>
        </p:nvSpPr>
        <p:spPr>
          <a:xfrm>
            <a:off x="777240" y="5202936"/>
            <a:ext cx="502920" cy="502920"/>
          </a:xfrm>
          <a:prstGeom prst="ellipse">
            <a:avLst/>
          </a:prstGeom>
          <a:solidFill>
            <a:srgbClr val="4682B4"/>
          </a:solidFill>
          <a:ln cap="flat" cmpd="sng" w="12700">
            <a:solidFill>
              <a:srgbClr val="4682B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3" name="Google Shape;483;p20"/>
          <p:cNvSpPr/>
          <p:nvPr/>
        </p:nvSpPr>
        <p:spPr>
          <a:xfrm>
            <a:off x="777240" y="5202936"/>
            <a:ext cx="502920" cy="5029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D2536"/>
              </a:buClr>
              <a:buSzPts val="2000"/>
              <a:buFont typeface="Calibri"/>
              <a:buNone/>
            </a:pPr>
            <a:r>
              <a:rPr b="1" i="0" lang="en-US" sz="2000" u="none" cap="none" strike="noStrike">
                <a:solidFill>
                  <a:srgbClr val="1D2536"/>
                </a:solidFill>
                <a:latin typeface="Calibri"/>
                <a:ea typeface="Calibri"/>
                <a:cs typeface="Calibri"/>
                <a:sym typeface="Calibri"/>
              </a:rPr>
              <a:t>3</a:t>
            </a:r>
            <a:endParaRPr b="0" i="0" sz="2000" u="none" cap="none" strike="noStrike">
              <a:solidFill>
                <a:schemeClr val="dk1"/>
              </a:solidFill>
              <a:latin typeface="Calibri"/>
              <a:ea typeface="Calibri"/>
              <a:cs typeface="Calibri"/>
              <a:sym typeface="Calibri"/>
            </a:endParaRPr>
          </a:p>
        </p:txBody>
      </p:sp>
      <p:sp>
        <p:nvSpPr>
          <p:cNvPr id="484" name="Google Shape;484;p20"/>
          <p:cNvSpPr/>
          <p:nvPr/>
        </p:nvSpPr>
        <p:spPr>
          <a:xfrm>
            <a:off x="1463040" y="5202936"/>
            <a:ext cx="1005840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9E2EF"/>
              </a:buClr>
              <a:buSzPts val="1500"/>
              <a:buFont typeface="Calibri"/>
              <a:buNone/>
            </a:pPr>
            <a:r>
              <a:rPr b="0" i="0" lang="en-US" sz="1500" u="none" cap="none" strike="noStrike">
                <a:solidFill>
                  <a:srgbClr val="D9E2EF"/>
                </a:solidFill>
                <a:latin typeface="Calibri"/>
                <a:ea typeface="Calibri"/>
                <a:cs typeface="Calibri"/>
                <a:sym typeface="Calibri"/>
              </a:rPr>
              <a:t>Phase 2 onward: the engine sources, you review before send</a:t>
            </a:r>
            <a:endParaRPr b="0" i="0" sz="1500" u="none" cap="none" strike="noStrike">
              <a:solidFill>
                <a:schemeClr val="dk1"/>
              </a:solidFill>
              <a:latin typeface="Calibri"/>
              <a:ea typeface="Calibri"/>
              <a:cs typeface="Calibri"/>
              <a:sym typeface="Calibri"/>
            </a:endParaRPr>
          </a:p>
        </p:txBody>
      </p:sp>
      <p:cxnSp>
        <p:nvCxnSpPr>
          <p:cNvPr id="485" name="Google Shape;485;p20"/>
          <p:cNvCxnSpPr/>
          <p:nvPr/>
        </p:nvCxnSpPr>
        <p:spPr>
          <a:xfrm>
            <a:off x="777240" y="6172200"/>
            <a:ext cx="3108960" cy="0"/>
          </a:xfrm>
          <a:prstGeom prst="straightConnector1">
            <a:avLst/>
          </a:prstGeom>
          <a:noFill/>
          <a:ln cap="flat" cmpd="sng" w="25400">
            <a:solidFill>
              <a:srgbClr val="9DC3E6"/>
            </a:solidFill>
            <a:prstDash val="solid"/>
            <a:round/>
            <a:headEnd len="sm" w="sm" type="none"/>
            <a:tailEnd len="sm" w="sm" type="none"/>
          </a:ln>
        </p:spPr>
      </p:cxnSp>
      <p:sp>
        <p:nvSpPr>
          <p:cNvPr id="486" name="Google Shape;486;p20"/>
          <p:cNvSpPr/>
          <p:nvPr/>
        </p:nvSpPr>
        <p:spPr>
          <a:xfrm>
            <a:off x="749808" y="6309360"/>
            <a:ext cx="100584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A9B4C4"/>
              </a:buClr>
              <a:buSzPts val="1200"/>
              <a:buFont typeface="Calibri"/>
              <a:buNone/>
            </a:pPr>
            <a:r>
              <a:rPr b="0" i="0" lang="en-US" sz="1200" u="none" cap="none" strike="noStrike">
                <a:solidFill>
                  <a:srgbClr val="A9B4C4"/>
                </a:solidFill>
                <a:latin typeface="Calibri"/>
                <a:ea typeface="Calibri"/>
                <a:cs typeface="Calibri"/>
                <a:sym typeface="Calibri"/>
              </a:rPr>
              <a:t>Atrium System v8     Complete overview     Kenneth Benavides</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