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510816E-5A55-4CBC-883F-2B9CA7725E70}">
  <a:tblStyle styleId="{0510816E-5A55-4CBC-883F-2B9CA7725E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6" name="Google Shape;56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10" Type="http://schemas.openxmlformats.org/officeDocument/2006/relationships/image" Target="../media/image4.png"/><Relationship Id="rId9"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www.pexels.com/photo/portrait-of-smiling-woman-in-business-attire-31869537/" TargetMode="External"/><Relationship Id="rId4" Type="http://schemas.openxmlformats.org/officeDocument/2006/relationships/hyperlink" Target="https://www.pexels.com/photo/man-in-gray-suit-wearing-eyeglasses-10816007/" TargetMode="External"/><Relationship Id="rId10" Type="http://schemas.openxmlformats.org/officeDocument/2006/relationships/hyperlink" Target="https://www.pexels.com/photo/elegant-woman-smiling-10174456/" TargetMode="External"/><Relationship Id="rId9" Type="http://schemas.openxmlformats.org/officeDocument/2006/relationships/hyperlink" Target="https://www.pexels.com/photo/professional-portrait-of-smiling-woman-in-studio-38197025/" TargetMode="External"/><Relationship Id="rId5" Type="http://schemas.openxmlformats.org/officeDocument/2006/relationships/hyperlink" Target="https://www.pexels.com/photo/professional-portrait-of-smiling-businesswoman-34381970/" TargetMode="External"/><Relationship Id="rId6" Type="http://schemas.openxmlformats.org/officeDocument/2006/relationships/hyperlink" Target="https://www.pexels.com/photo/portrait-of-a-man-in-a-black-suit-14589344/" TargetMode="External"/><Relationship Id="rId7" Type="http://schemas.openxmlformats.org/officeDocument/2006/relationships/hyperlink" Target="https://www.pexels.com/photo/elegantly-dressed-woman-in-a-jacket-15780889/" TargetMode="External"/><Relationship Id="rId8" Type="http://schemas.openxmlformats.org/officeDocument/2006/relationships/hyperlink" Target="https://www.pexels.com/photo/portrait-of-smiling-man-in-shirt-18032391/"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sp>
        <p:nvSpPr>
          <p:cNvPr id="16" name="Google Shape;16;p3"/>
          <p:cNvSpPr/>
          <p:nvPr/>
        </p:nvSpPr>
        <p:spPr>
          <a:xfrm>
            <a:off x="9692640" y="-1554480"/>
            <a:ext cx="4389120" cy="4389120"/>
          </a:xfrm>
          <a:prstGeom prst="ellipse">
            <a:avLst/>
          </a:prstGeom>
          <a:solidFill>
            <a:srgbClr val="2E5E8C">
              <a:alpha val="38039"/>
            </a:srgbClr>
          </a:solidFill>
          <a:ln cap="flat" cmpd="sng" w="12700">
            <a:solidFill>
              <a:srgbClr val="2E5E8C">
                <a:alpha val="3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789920" y="4206240"/>
            <a:ext cx="3108960" cy="3108960"/>
          </a:xfrm>
          <a:prstGeom prst="ellipse">
            <a:avLst/>
          </a:prstGeom>
          <a:solidFill>
            <a:srgbClr val="E1A140">
              <a:alpha val="30196"/>
            </a:srgbClr>
          </a:solidFill>
          <a:ln cap="flat" cmpd="sng" w="12700">
            <a:solidFill>
              <a:srgbClr val="E1A14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31520" y="169164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400"/>
              <a:buFont typeface="Calibri"/>
              <a:buNone/>
            </a:pPr>
            <a:r>
              <a:rPr b="1" i="0" lang="en-US" sz="1400" u="none" cap="none" strike="noStrike">
                <a:solidFill>
                  <a:srgbClr val="E1A140"/>
                </a:solidFill>
                <a:latin typeface="Calibri"/>
                <a:ea typeface="Calibri"/>
                <a:cs typeface="Calibri"/>
                <a:sym typeface="Calibri"/>
              </a:rPr>
              <a:t>THE AI SALES TEAM, EXPLAINED</a:t>
            </a:r>
            <a:endParaRPr b="0" i="0" sz="1400" u="none" cap="none" strike="noStrike">
              <a:solidFill>
                <a:schemeClr val="dk1"/>
              </a:solidFill>
              <a:latin typeface="Calibri"/>
              <a:ea typeface="Calibri"/>
              <a:cs typeface="Calibri"/>
              <a:sym typeface="Calibri"/>
            </a:endParaRPr>
          </a:p>
        </p:txBody>
      </p:sp>
      <p:sp>
        <p:nvSpPr>
          <p:cNvPr id="19" name="Google Shape;19;p3"/>
          <p:cNvSpPr/>
          <p:nvPr/>
        </p:nvSpPr>
        <p:spPr>
          <a:xfrm>
            <a:off x="731520" y="2103120"/>
            <a:ext cx="1042416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From one GitHub repo to your sales team</a:t>
            </a:r>
            <a:endParaRPr b="0" i="0" sz="4400" u="none" cap="none" strike="noStrike">
              <a:solidFill>
                <a:schemeClr val="dk1"/>
              </a:solidFill>
              <a:latin typeface="Calibri"/>
              <a:ea typeface="Calibri"/>
              <a:cs typeface="Calibri"/>
              <a:sym typeface="Calibri"/>
            </a:endParaRPr>
          </a:p>
        </p:txBody>
      </p:sp>
      <p:sp>
        <p:nvSpPr>
          <p:cNvPr id="20" name="Google Shape;20;p3"/>
          <p:cNvSpPr/>
          <p:nvPr/>
        </p:nvSpPr>
        <p:spPr>
          <a:xfrm>
            <a:off x="749808" y="3611880"/>
            <a:ext cx="9692640" cy="914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94A3B8"/>
              </a:buClr>
              <a:buSzPts val="1500"/>
              <a:buFont typeface="Calibri"/>
              <a:buNone/>
            </a:pPr>
            <a:r>
              <a:rPr b="0" i="0" lang="en-US" sz="1500" u="none" cap="none" strike="noStrike">
                <a:solidFill>
                  <a:srgbClr val="94A3B8"/>
                </a:solidFill>
                <a:latin typeface="Calibri"/>
                <a:ea typeface="Calibri"/>
                <a:cs typeface="Calibri"/>
                <a:sym typeface="Calibri"/>
              </a:rPr>
              <a:t>An overview guide to ai-sales-team-claude: who the salespeople are, what each component does, how the Kajiro coach sharpens them, and two paths to run it. First a local MVP, then a full Vercel build.</a:t>
            </a:r>
            <a:endParaRPr b="0" i="0" sz="1500" u="none" cap="none" strike="noStrike">
              <a:solidFill>
                <a:schemeClr val="dk1"/>
              </a:solidFill>
              <a:latin typeface="Calibri"/>
              <a:ea typeface="Calibri"/>
              <a:cs typeface="Calibri"/>
              <a:sym typeface="Calibri"/>
            </a:endParaRPr>
          </a:p>
        </p:txBody>
      </p:sp>
      <p:cxnSp>
        <p:nvCxnSpPr>
          <p:cNvPr id="21" name="Google Shape;21;p3"/>
          <p:cNvCxnSpPr/>
          <p:nvPr/>
        </p:nvCxnSpPr>
        <p:spPr>
          <a:xfrm>
            <a:off x="777240" y="5029200"/>
            <a:ext cx="3108960" cy="0"/>
          </a:xfrm>
          <a:prstGeom prst="straightConnector1">
            <a:avLst/>
          </a:prstGeom>
          <a:noFill/>
          <a:ln cap="flat" cmpd="sng" w="25400">
            <a:solidFill>
              <a:srgbClr val="E1A140"/>
            </a:solidFill>
            <a:prstDash val="solid"/>
            <a:round/>
            <a:headEnd len="sm" w="sm" type="none"/>
            <a:tailEnd len="sm" w="sm" type="none"/>
          </a:ln>
        </p:spPr>
      </p:cxnSp>
      <p:sp>
        <p:nvSpPr>
          <p:cNvPr id="22" name="Google Shape;22;p3"/>
          <p:cNvSpPr/>
          <p:nvPr/>
        </p:nvSpPr>
        <p:spPr>
          <a:xfrm>
            <a:off x="749808" y="5193792"/>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300"/>
              <a:buFont typeface="Calibri"/>
              <a:buNone/>
            </a:pPr>
            <a:r>
              <a:rPr b="1" i="0" lang="en-US" sz="1300" u="none" cap="none" strike="noStrike">
                <a:solidFill>
                  <a:srgbClr val="E1A140"/>
                </a:solidFill>
                <a:latin typeface="Calibri"/>
                <a:ea typeface="Calibri"/>
                <a:cs typeface="Calibri"/>
                <a:sym typeface="Calibri"/>
              </a:rPr>
              <a:t>AltoLumo Sales Leads</a:t>
            </a:r>
            <a:r>
              <a:rPr b="0" i="0" lang="en-US" sz="1300" u="none" cap="none" strike="noStrike">
                <a:solidFill>
                  <a:srgbClr val="94A3B8"/>
                </a:solidFill>
                <a:latin typeface="Calibri"/>
                <a:ea typeface="Calibri"/>
                <a:cs typeface="Calibri"/>
                <a:sym typeface="Calibri"/>
              </a:rPr>
              <a:t>     Overview guide     Kenneth Benavides     July 5, 2026</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 name="Shape 27"/>
        <p:cNvGrpSpPr/>
        <p:nvPr/>
      </p:nvGrpSpPr>
      <p:grpSpPr>
        <a:xfrm>
          <a:off x="0" y="0"/>
          <a:ext cx="0" cy="0"/>
          <a:chOff x="0" y="0"/>
          <a:chExt cx="0" cy="0"/>
        </a:xfrm>
      </p:grpSpPr>
      <p:sp>
        <p:nvSpPr>
          <p:cNvPr id="28" name="Google Shape;28;p4"/>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CORE IDEA</a:t>
            </a:r>
            <a:endParaRPr b="0" i="0" sz="1200" u="none" cap="none" strike="noStrike">
              <a:solidFill>
                <a:schemeClr val="dk1"/>
              </a:solidFill>
              <a:latin typeface="Calibri"/>
              <a:ea typeface="Calibri"/>
              <a:cs typeface="Calibri"/>
              <a:sym typeface="Calibri"/>
            </a:endParaRPr>
          </a:p>
        </p:txBody>
      </p:sp>
      <p:sp>
        <p:nvSpPr>
          <p:cNvPr id="29" name="Google Shape;29;p4"/>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The repo is a sales team, running inside Claude Code</a:t>
            </a:r>
            <a:endParaRPr b="0" i="0" sz="2700" u="none" cap="none" strike="noStrike">
              <a:solidFill>
                <a:schemeClr val="dk1"/>
              </a:solidFill>
              <a:latin typeface="Calibri"/>
              <a:ea typeface="Calibri"/>
              <a:cs typeface="Calibri"/>
              <a:sym typeface="Calibri"/>
            </a:endParaRPr>
          </a:p>
        </p:txBody>
      </p:sp>
      <p:sp>
        <p:nvSpPr>
          <p:cNvPr id="30" name="Google Shape;30;p4"/>
          <p:cNvSpPr/>
          <p:nvPr/>
        </p:nvSpPr>
        <p:spPr>
          <a:xfrm>
            <a:off x="548640" y="1417320"/>
            <a:ext cx="11064240" cy="10058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0F172A"/>
              </a:buClr>
              <a:buSzPts val="1500"/>
              <a:buFont typeface="Calibri"/>
              <a:buNone/>
            </a:pPr>
            <a:r>
              <a:rPr b="0" i="0" lang="en-US" sz="1500" u="none" cap="none" strike="noStrike">
                <a:solidFill>
                  <a:srgbClr val="0F172A"/>
                </a:solidFill>
                <a:latin typeface="Calibri"/>
                <a:ea typeface="Calibri"/>
                <a:cs typeface="Calibri"/>
                <a:sym typeface="Calibri"/>
              </a:rPr>
              <a:t>ai-sales-team-claude is not an app you deploy. It is a set of Claude Code skills, agents, scripts, and templates that install under your Claude config directory. Together they behave like a small sales org: a manager who takes the order, five specialists who do the work in parallel, a scoring engine, and a collateral library. This guide names each one and shows what they contribute.</a:t>
            </a:r>
            <a:endParaRPr b="0" i="0" sz="1500" u="none" cap="none" strike="noStrike">
              <a:solidFill>
                <a:schemeClr val="dk1"/>
              </a:solidFill>
              <a:latin typeface="Calibri"/>
              <a:ea typeface="Calibri"/>
              <a:cs typeface="Calibri"/>
              <a:sym typeface="Calibri"/>
            </a:endParaRPr>
          </a:p>
        </p:txBody>
      </p:sp>
      <p:sp>
        <p:nvSpPr>
          <p:cNvPr id="31" name="Google Shape;31;p4"/>
          <p:cNvSpPr/>
          <p:nvPr/>
        </p:nvSpPr>
        <p:spPr>
          <a:xfrm>
            <a:off x="548640" y="2743200"/>
            <a:ext cx="3520440" cy="1645920"/>
          </a:xfrm>
          <a:prstGeom prst="roundRect">
            <a:avLst>
              <a:gd fmla="val 388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804672" y="3017520"/>
            <a:ext cx="146304" cy="146304"/>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1097280" y="2944368"/>
            <a:ext cx="2788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mbria"/>
              <a:buNone/>
            </a:pPr>
            <a:r>
              <a:rPr b="1" i="0" lang="en-US" sz="1700" u="none" cap="none" strike="noStrike">
                <a:solidFill>
                  <a:srgbClr val="0F172A"/>
                </a:solidFill>
                <a:latin typeface="Cambria"/>
                <a:ea typeface="Cambria"/>
                <a:cs typeface="Cambria"/>
                <a:sym typeface="Cambria"/>
              </a:rPr>
              <a:t>1 orchestrator</a:t>
            </a:r>
            <a:endParaRPr b="0" i="0" sz="1700" u="none" cap="none" strike="noStrike">
              <a:solidFill>
                <a:schemeClr val="dk1"/>
              </a:solidFill>
              <a:latin typeface="Calibri"/>
              <a:ea typeface="Calibri"/>
              <a:cs typeface="Calibri"/>
              <a:sym typeface="Calibri"/>
            </a:endParaRPr>
          </a:p>
        </p:txBody>
      </p:sp>
      <p:sp>
        <p:nvSpPr>
          <p:cNvPr id="34" name="Google Shape;34;p4"/>
          <p:cNvSpPr/>
          <p:nvPr/>
        </p:nvSpPr>
        <p:spPr>
          <a:xfrm>
            <a:off x="822960" y="3456432"/>
            <a:ext cx="297180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The manager who routes 14 commands</a:t>
            </a:r>
            <a:endParaRPr b="0" i="0" sz="1300" u="none" cap="none" strike="noStrike">
              <a:solidFill>
                <a:schemeClr val="dk1"/>
              </a:solidFill>
              <a:latin typeface="Calibri"/>
              <a:ea typeface="Calibri"/>
              <a:cs typeface="Calibri"/>
              <a:sym typeface="Calibri"/>
            </a:endParaRPr>
          </a:p>
        </p:txBody>
      </p:sp>
      <p:sp>
        <p:nvSpPr>
          <p:cNvPr id="35" name="Google Shape;35;p4"/>
          <p:cNvSpPr/>
          <p:nvPr/>
        </p:nvSpPr>
        <p:spPr>
          <a:xfrm>
            <a:off x="4389120" y="2743200"/>
            <a:ext cx="3520440" cy="1645920"/>
          </a:xfrm>
          <a:prstGeom prst="roundRect">
            <a:avLst>
              <a:gd fmla="val 388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4645152" y="3017520"/>
            <a:ext cx="146304" cy="146304"/>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4937760" y="2944368"/>
            <a:ext cx="2788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mbria"/>
              <a:buNone/>
            </a:pPr>
            <a:r>
              <a:rPr b="1" i="0" lang="en-US" sz="1700" u="none" cap="none" strike="noStrike">
                <a:solidFill>
                  <a:srgbClr val="0F172A"/>
                </a:solidFill>
                <a:latin typeface="Cambria"/>
                <a:ea typeface="Cambria"/>
                <a:cs typeface="Cambria"/>
                <a:sym typeface="Cambria"/>
              </a:rPr>
              <a:t>5 parallel agents</a:t>
            </a:r>
            <a:endParaRPr b="0" i="0" sz="1700" u="none" cap="none" strike="noStrike">
              <a:solidFill>
                <a:schemeClr val="dk1"/>
              </a:solidFill>
              <a:latin typeface="Calibri"/>
              <a:ea typeface="Calibri"/>
              <a:cs typeface="Calibri"/>
              <a:sym typeface="Calibri"/>
            </a:endParaRPr>
          </a:p>
        </p:txBody>
      </p:sp>
      <p:sp>
        <p:nvSpPr>
          <p:cNvPr id="38" name="Google Shape;38;p4"/>
          <p:cNvSpPr/>
          <p:nvPr/>
        </p:nvSpPr>
        <p:spPr>
          <a:xfrm>
            <a:off x="4663440" y="3456432"/>
            <a:ext cx="297180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The specialists who audit a prospect at once</a:t>
            </a:r>
            <a:endParaRPr b="0" i="0" sz="1300" u="none" cap="none" strike="noStrike">
              <a:solidFill>
                <a:schemeClr val="dk1"/>
              </a:solidFill>
              <a:latin typeface="Calibri"/>
              <a:ea typeface="Calibri"/>
              <a:cs typeface="Calibri"/>
              <a:sym typeface="Calibri"/>
            </a:endParaRPr>
          </a:p>
        </p:txBody>
      </p:sp>
      <p:sp>
        <p:nvSpPr>
          <p:cNvPr id="39" name="Google Shape;39;p4"/>
          <p:cNvSpPr/>
          <p:nvPr/>
        </p:nvSpPr>
        <p:spPr>
          <a:xfrm>
            <a:off x="8229600" y="2743200"/>
            <a:ext cx="3520440" cy="1645920"/>
          </a:xfrm>
          <a:prstGeom prst="roundRect">
            <a:avLst>
              <a:gd fmla="val 388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8485632" y="3017520"/>
            <a:ext cx="146304" cy="146304"/>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8778240" y="2944368"/>
            <a:ext cx="2788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700"/>
              <a:buFont typeface="Cambria"/>
              <a:buNone/>
            </a:pPr>
            <a:r>
              <a:rPr b="1" i="0" lang="en-US" sz="1700" u="none" cap="none" strike="noStrike">
                <a:solidFill>
                  <a:srgbClr val="0F172A"/>
                </a:solidFill>
                <a:latin typeface="Cambria"/>
                <a:ea typeface="Cambria"/>
                <a:cs typeface="Cambria"/>
                <a:sym typeface="Cambria"/>
              </a:rPr>
              <a:t>4 scripts + 6 templates</a:t>
            </a:r>
            <a:endParaRPr b="0" i="0" sz="1700" u="none" cap="none" strike="noStrike">
              <a:solidFill>
                <a:schemeClr val="dk1"/>
              </a:solidFill>
              <a:latin typeface="Calibri"/>
              <a:ea typeface="Calibri"/>
              <a:cs typeface="Calibri"/>
              <a:sym typeface="Calibri"/>
            </a:endParaRPr>
          </a:p>
        </p:txBody>
      </p:sp>
      <p:sp>
        <p:nvSpPr>
          <p:cNvPr id="42" name="Google Shape;42;p4"/>
          <p:cNvSpPr/>
          <p:nvPr/>
        </p:nvSpPr>
        <p:spPr>
          <a:xfrm>
            <a:off x="8503920" y="3456432"/>
            <a:ext cx="2971800" cy="7772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The back office and the collateral library</a:t>
            </a:r>
            <a:endParaRPr b="0" i="0" sz="1300" u="none" cap="none" strike="noStrike">
              <a:solidFill>
                <a:schemeClr val="dk1"/>
              </a:solidFill>
              <a:latin typeface="Calibri"/>
              <a:ea typeface="Calibri"/>
              <a:cs typeface="Calibri"/>
              <a:sym typeface="Calibri"/>
            </a:endParaRPr>
          </a:p>
        </p:txBody>
      </p:sp>
      <p:sp>
        <p:nvSpPr>
          <p:cNvPr id="43" name="Google Shape;43;p4"/>
          <p:cNvSpPr/>
          <p:nvPr/>
        </p:nvSpPr>
        <p:spPr>
          <a:xfrm>
            <a:off x="548640" y="4709160"/>
            <a:ext cx="11064240" cy="1234440"/>
          </a:xfrm>
          <a:prstGeom prst="roundRect">
            <a:avLst>
              <a:gd fmla="val 5185"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914400" y="4800600"/>
            <a:ext cx="10332720" cy="10515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450"/>
              <a:buFont typeface="Calibri"/>
              <a:buNone/>
            </a:pPr>
            <a:r>
              <a:rPr b="1" i="0" lang="en-US" sz="1450" u="none" cap="none" strike="noStrike">
                <a:solidFill>
                  <a:srgbClr val="E1A140"/>
                </a:solidFill>
                <a:latin typeface="Calibri"/>
                <a:ea typeface="Calibri"/>
                <a:cs typeface="Calibri"/>
                <a:sym typeface="Calibri"/>
              </a:rPr>
              <a:t>Plus two standing skills you already run.  </a:t>
            </a:r>
            <a:r>
              <a:rPr b="0" i="0" lang="en-US" sz="1450" u="none" cap="none" strike="noStrike">
                <a:solidFill>
                  <a:srgbClr val="E2E8F0"/>
                </a:solidFill>
                <a:latin typeface="Calibri"/>
                <a:ea typeface="Calibri"/>
                <a:cs typeface="Calibri"/>
                <a:sym typeface="Calibri"/>
              </a:rPr>
              <a:t>Kajiro Prompt Optimizer Pro is the sales coach that sharpens every prompt before it runs, and Elicitation Widget is the intake coordinator that greets leads with structured questions.</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 name="Shape 49"/>
        <p:cNvGrpSpPr/>
        <p:nvPr/>
      </p:nvGrpSpPr>
      <p:grpSpPr>
        <a:xfrm>
          <a:off x="0" y="0"/>
          <a:ext cx="0" cy="0"/>
          <a:chOff x="0" y="0"/>
          <a:chExt cx="0" cy="0"/>
        </a:xfrm>
      </p:grpSpPr>
      <p:sp>
        <p:nvSpPr>
          <p:cNvPr id="50" name="Google Shape;50;p5"/>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REPO ANATOMY, VERIFIED AGAINST A FRESH CLONE</a:t>
            </a:r>
            <a:endParaRPr b="0" i="0" sz="1200" u="none" cap="none" strike="noStrike">
              <a:solidFill>
                <a:schemeClr val="dk1"/>
              </a:solidFill>
              <a:latin typeface="Calibri"/>
              <a:ea typeface="Calibri"/>
              <a:cs typeface="Calibri"/>
              <a:sym typeface="Calibri"/>
            </a:endParaRPr>
          </a:p>
        </p:txBody>
      </p:sp>
      <p:sp>
        <p:nvSpPr>
          <p:cNvPr id="51" name="Google Shape;51;p5"/>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What is actually in the box</a:t>
            </a:r>
            <a:endParaRPr b="0" i="0" sz="2700" u="none" cap="none" strike="noStrike">
              <a:solidFill>
                <a:schemeClr val="dk1"/>
              </a:solidFill>
              <a:latin typeface="Calibri"/>
              <a:ea typeface="Calibri"/>
              <a:cs typeface="Calibri"/>
              <a:sym typeface="Calibri"/>
            </a:endParaRPr>
          </a:p>
        </p:txBody>
      </p:sp>
      <p:sp>
        <p:nvSpPr>
          <p:cNvPr id="52" name="Google Shape;52;p5"/>
          <p:cNvSpPr/>
          <p:nvPr/>
        </p:nvSpPr>
        <p:spPr>
          <a:xfrm>
            <a:off x="548640" y="1554480"/>
            <a:ext cx="11064240" cy="713232"/>
          </a:xfrm>
          <a:prstGeom prst="roundRect">
            <a:avLst>
              <a:gd fmla="val 641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777240" y="1554480"/>
            <a:ext cx="33832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250"/>
              <a:buFont typeface="Courier New"/>
              <a:buNone/>
            </a:pPr>
            <a:r>
              <a:rPr b="1" i="0" lang="en-US" sz="1250" u="none" cap="none" strike="noStrike">
                <a:solidFill>
                  <a:srgbClr val="2E5E8C"/>
                </a:solidFill>
                <a:latin typeface="Courier New"/>
                <a:ea typeface="Courier New"/>
                <a:cs typeface="Courier New"/>
                <a:sym typeface="Courier New"/>
              </a:rPr>
              <a:t>sales/SKILL.md</a:t>
            </a:r>
            <a:endParaRPr b="0" i="0" sz="1250" u="none" cap="none" strike="noStrike">
              <a:solidFill>
                <a:schemeClr val="dk1"/>
              </a:solidFill>
              <a:latin typeface="Calibri"/>
              <a:ea typeface="Calibri"/>
              <a:cs typeface="Calibri"/>
              <a:sym typeface="Calibri"/>
            </a:endParaRPr>
          </a:p>
        </p:txBody>
      </p:sp>
      <p:sp>
        <p:nvSpPr>
          <p:cNvPr id="54" name="Google Shape;54;p5"/>
          <p:cNvSpPr/>
          <p:nvPr/>
        </p:nvSpPr>
        <p:spPr>
          <a:xfrm>
            <a:off x="4297680" y="1554480"/>
            <a:ext cx="2103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1 orchestrator</a:t>
            </a:r>
            <a:endParaRPr b="0" i="0" sz="1300" u="none" cap="none" strike="noStrike">
              <a:solidFill>
                <a:schemeClr val="dk1"/>
              </a:solidFill>
              <a:latin typeface="Calibri"/>
              <a:ea typeface="Calibri"/>
              <a:cs typeface="Calibri"/>
              <a:sym typeface="Calibri"/>
            </a:endParaRPr>
          </a:p>
        </p:txBody>
      </p:sp>
      <p:sp>
        <p:nvSpPr>
          <p:cNvPr id="55" name="Google Shape;55;p5"/>
          <p:cNvSpPr/>
          <p:nvPr/>
        </p:nvSpPr>
        <p:spPr>
          <a:xfrm>
            <a:off x="6492240" y="1554480"/>
            <a:ext cx="49377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Routes 14 commands, runs the prospect flow</a:t>
            </a:r>
            <a:endParaRPr b="0" i="0" sz="1200" u="none" cap="none" strike="noStrike">
              <a:solidFill>
                <a:schemeClr val="dk1"/>
              </a:solidFill>
              <a:latin typeface="Calibri"/>
              <a:ea typeface="Calibri"/>
              <a:cs typeface="Calibri"/>
              <a:sym typeface="Calibri"/>
            </a:endParaRPr>
          </a:p>
        </p:txBody>
      </p:sp>
      <p:sp>
        <p:nvSpPr>
          <p:cNvPr id="56" name="Google Shape;56;p5"/>
          <p:cNvSpPr/>
          <p:nvPr/>
        </p:nvSpPr>
        <p:spPr>
          <a:xfrm>
            <a:off x="548640" y="2395728"/>
            <a:ext cx="11064240" cy="713232"/>
          </a:xfrm>
          <a:prstGeom prst="roundRect">
            <a:avLst>
              <a:gd fmla="val 641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777240" y="2395728"/>
            <a:ext cx="33832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250"/>
              <a:buFont typeface="Courier New"/>
              <a:buNone/>
            </a:pPr>
            <a:r>
              <a:rPr b="1" i="0" lang="en-US" sz="1250" u="none" cap="none" strike="noStrike">
                <a:solidFill>
                  <a:srgbClr val="2E5E8C"/>
                </a:solidFill>
                <a:latin typeface="Courier New"/>
                <a:ea typeface="Courier New"/>
                <a:cs typeface="Courier New"/>
                <a:sym typeface="Courier New"/>
              </a:rPr>
              <a:t>skills/ (13 folders)</a:t>
            </a:r>
            <a:endParaRPr b="0" i="0" sz="1250" u="none" cap="none" strike="noStrike">
              <a:solidFill>
                <a:schemeClr val="dk1"/>
              </a:solidFill>
              <a:latin typeface="Calibri"/>
              <a:ea typeface="Calibri"/>
              <a:cs typeface="Calibri"/>
              <a:sym typeface="Calibri"/>
            </a:endParaRPr>
          </a:p>
        </p:txBody>
      </p:sp>
      <p:sp>
        <p:nvSpPr>
          <p:cNvPr id="58" name="Google Shape;58;p5"/>
          <p:cNvSpPr/>
          <p:nvPr/>
        </p:nvSpPr>
        <p:spPr>
          <a:xfrm>
            <a:off x="4297680" y="2395728"/>
            <a:ext cx="2103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13 sub-skills</a:t>
            </a:r>
            <a:endParaRPr b="0" i="0" sz="1300" u="none" cap="none" strike="noStrike">
              <a:solidFill>
                <a:schemeClr val="dk1"/>
              </a:solidFill>
              <a:latin typeface="Calibri"/>
              <a:ea typeface="Calibri"/>
              <a:cs typeface="Calibri"/>
              <a:sym typeface="Calibri"/>
            </a:endParaRPr>
          </a:p>
        </p:txBody>
      </p:sp>
      <p:sp>
        <p:nvSpPr>
          <p:cNvPr id="59" name="Google Shape;59;p5"/>
          <p:cNvSpPr/>
          <p:nvPr/>
        </p:nvSpPr>
        <p:spPr>
          <a:xfrm>
            <a:off x="6492240" y="2395728"/>
            <a:ext cx="49377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research, qualify, contacts, outreach, prep, and more</a:t>
            </a:r>
            <a:endParaRPr b="0" i="0" sz="1200" u="none" cap="none" strike="noStrike">
              <a:solidFill>
                <a:schemeClr val="dk1"/>
              </a:solidFill>
              <a:latin typeface="Calibri"/>
              <a:ea typeface="Calibri"/>
              <a:cs typeface="Calibri"/>
              <a:sym typeface="Calibri"/>
            </a:endParaRPr>
          </a:p>
        </p:txBody>
      </p:sp>
      <p:sp>
        <p:nvSpPr>
          <p:cNvPr id="60" name="Google Shape;60;p5"/>
          <p:cNvSpPr/>
          <p:nvPr/>
        </p:nvSpPr>
        <p:spPr>
          <a:xfrm>
            <a:off x="548640" y="3236976"/>
            <a:ext cx="11064240" cy="713232"/>
          </a:xfrm>
          <a:prstGeom prst="roundRect">
            <a:avLst>
              <a:gd fmla="val 641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777240" y="3236976"/>
            <a:ext cx="33832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250"/>
              <a:buFont typeface="Courier New"/>
              <a:buNone/>
            </a:pPr>
            <a:r>
              <a:rPr b="1" i="0" lang="en-US" sz="1250" u="none" cap="none" strike="noStrike">
                <a:solidFill>
                  <a:srgbClr val="2E5E8C"/>
                </a:solidFill>
                <a:latin typeface="Courier New"/>
                <a:ea typeface="Courier New"/>
                <a:cs typeface="Courier New"/>
                <a:sym typeface="Courier New"/>
              </a:rPr>
              <a:t>agents/ (5 files)</a:t>
            </a:r>
            <a:endParaRPr b="0" i="0" sz="1250" u="none" cap="none" strike="noStrike">
              <a:solidFill>
                <a:schemeClr val="dk1"/>
              </a:solidFill>
              <a:latin typeface="Calibri"/>
              <a:ea typeface="Calibri"/>
              <a:cs typeface="Calibri"/>
              <a:sym typeface="Calibri"/>
            </a:endParaRPr>
          </a:p>
        </p:txBody>
      </p:sp>
      <p:sp>
        <p:nvSpPr>
          <p:cNvPr id="62" name="Google Shape;62;p5"/>
          <p:cNvSpPr/>
          <p:nvPr/>
        </p:nvSpPr>
        <p:spPr>
          <a:xfrm>
            <a:off x="4297680" y="3236976"/>
            <a:ext cx="2103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5 parallel agents</a:t>
            </a:r>
            <a:endParaRPr b="0" i="0" sz="1300" u="none" cap="none" strike="noStrike">
              <a:solidFill>
                <a:schemeClr val="dk1"/>
              </a:solidFill>
              <a:latin typeface="Calibri"/>
              <a:ea typeface="Calibri"/>
              <a:cs typeface="Calibri"/>
              <a:sym typeface="Calibri"/>
            </a:endParaRPr>
          </a:p>
        </p:txBody>
      </p:sp>
      <p:sp>
        <p:nvSpPr>
          <p:cNvPr id="63" name="Google Shape;63;p5"/>
          <p:cNvSpPr/>
          <p:nvPr/>
        </p:nvSpPr>
        <p:spPr>
          <a:xfrm>
            <a:off x="6492240" y="3236976"/>
            <a:ext cx="49377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company, contacts, opportunity, competitive, strategy</a:t>
            </a:r>
            <a:endParaRPr b="0" i="0" sz="1200" u="none" cap="none" strike="noStrike">
              <a:solidFill>
                <a:schemeClr val="dk1"/>
              </a:solidFill>
              <a:latin typeface="Calibri"/>
              <a:ea typeface="Calibri"/>
              <a:cs typeface="Calibri"/>
              <a:sym typeface="Calibri"/>
            </a:endParaRPr>
          </a:p>
        </p:txBody>
      </p:sp>
      <p:sp>
        <p:nvSpPr>
          <p:cNvPr id="64" name="Google Shape;64;p5"/>
          <p:cNvSpPr/>
          <p:nvPr/>
        </p:nvSpPr>
        <p:spPr>
          <a:xfrm>
            <a:off x="548640" y="4078224"/>
            <a:ext cx="11064240" cy="713232"/>
          </a:xfrm>
          <a:prstGeom prst="roundRect">
            <a:avLst>
              <a:gd fmla="val 641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777240" y="4078224"/>
            <a:ext cx="33832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250"/>
              <a:buFont typeface="Courier New"/>
              <a:buNone/>
            </a:pPr>
            <a:r>
              <a:rPr b="1" i="0" lang="en-US" sz="1250" u="none" cap="none" strike="noStrike">
                <a:solidFill>
                  <a:srgbClr val="2E5E8C"/>
                </a:solidFill>
                <a:latin typeface="Courier New"/>
                <a:ea typeface="Courier New"/>
                <a:cs typeface="Courier New"/>
                <a:sym typeface="Courier New"/>
              </a:rPr>
              <a:t>scripts/ (4 files)</a:t>
            </a:r>
            <a:endParaRPr b="0" i="0" sz="1250" u="none" cap="none" strike="noStrike">
              <a:solidFill>
                <a:schemeClr val="dk1"/>
              </a:solidFill>
              <a:latin typeface="Calibri"/>
              <a:ea typeface="Calibri"/>
              <a:cs typeface="Calibri"/>
              <a:sym typeface="Calibri"/>
            </a:endParaRPr>
          </a:p>
        </p:txBody>
      </p:sp>
      <p:sp>
        <p:nvSpPr>
          <p:cNvPr id="66" name="Google Shape;66;p5"/>
          <p:cNvSpPr/>
          <p:nvPr/>
        </p:nvSpPr>
        <p:spPr>
          <a:xfrm>
            <a:off x="4297680" y="4078224"/>
            <a:ext cx="2103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4 Python scripts</a:t>
            </a:r>
            <a:endParaRPr b="0" i="0" sz="1300" u="none" cap="none" strike="noStrike">
              <a:solidFill>
                <a:schemeClr val="dk1"/>
              </a:solidFill>
              <a:latin typeface="Calibri"/>
              <a:ea typeface="Calibri"/>
              <a:cs typeface="Calibri"/>
              <a:sym typeface="Calibri"/>
            </a:endParaRPr>
          </a:p>
        </p:txBody>
      </p:sp>
      <p:sp>
        <p:nvSpPr>
          <p:cNvPr id="67" name="Google Shape;67;p5"/>
          <p:cNvSpPr/>
          <p:nvPr/>
        </p:nvSpPr>
        <p:spPr>
          <a:xfrm>
            <a:off x="6492240" y="4078224"/>
            <a:ext cx="49377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analyze_prospect, lead_scorer, contact_finder, generate_pdf_report</a:t>
            </a:r>
            <a:endParaRPr b="0" i="0" sz="1200" u="none" cap="none" strike="noStrike">
              <a:solidFill>
                <a:schemeClr val="dk1"/>
              </a:solidFill>
              <a:latin typeface="Calibri"/>
              <a:ea typeface="Calibri"/>
              <a:cs typeface="Calibri"/>
              <a:sym typeface="Calibri"/>
            </a:endParaRPr>
          </a:p>
        </p:txBody>
      </p:sp>
      <p:sp>
        <p:nvSpPr>
          <p:cNvPr id="68" name="Google Shape;68;p5"/>
          <p:cNvSpPr/>
          <p:nvPr/>
        </p:nvSpPr>
        <p:spPr>
          <a:xfrm>
            <a:off x="548640" y="4919472"/>
            <a:ext cx="11064240" cy="713232"/>
          </a:xfrm>
          <a:prstGeom prst="roundRect">
            <a:avLst>
              <a:gd fmla="val 641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777240" y="4919472"/>
            <a:ext cx="33832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250"/>
              <a:buFont typeface="Courier New"/>
              <a:buNone/>
            </a:pPr>
            <a:r>
              <a:rPr b="1" i="0" lang="en-US" sz="1250" u="none" cap="none" strike="noStrike">
                <a:solidFill>
                  <a:srgbClr val="2E5E8C"/>
                </a:solidFill>
                <a:latin typeface="Courier New"/>
                <a:ea typeface="Courier New"/>
                <a:cs typeface="Courier New"/>
                <a:sym typeface="Courier New"/>
              </a:rPr>
              <a:t>templates/ (6 files)</a:t>
            </a:r>
            <a:endParaRPr b="0" i="0" sz="1250" u="none" cap="none" strike="noStrike">
              <a:solidFill>
                <a:schemeClr val="dk1"/>
              </a:solidFill>
              <a:latin typeface="Calibri"/>
              <a:ea typeface="Calibri"/>
              <a:cs typeface="Calibri"/>
              <a:sym typeface="Calibri"/>
            </a:endParaRPr>
          </a:p>
        </p:txBody>
      </p:sp>
      <p:sp>
        <p:nvSpPr>
          <p:cNvPr id="70" name="Google Shape;70;p5"/>
          <p:cNvSpPr/>
          <p:nvPr/>
        </p:nvSpPr>
        <p:spPr>
          <a:xfrm>
            <a:off x="4297680" y="4919472"/>
            <a:ext cx="2103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6 templates</a:t>
            </a:r>
            <a:endParaRPr b="0" i="0" sz="1300" u="none" cap="none" strike="noStrike">
              <a:solidFill>
                <a:schemeClr val="dk1"/>
              </a:solidFill>
              <a:latin typeface="Calibri"/>
              <a:ea typeface="Calibri"/>
              <a:cs typeface="Calibri"/>
              <a:sym typeface="Calibri"/>
            </a:endParaRPr>
          </a:p>
        </p:txBody>
      </p:sp>
      <p:sp>
        <p:nvSpPr>
          <p:cNvPr id="71" name="Google Shape;71;p5"/>
          <p:cNvSpPr/>
          <p:nvPr/>
        </p:nvSpPr>
        <p:spPr>
          <a:xfrm>
            <a:off x="6492240" y="4919472"/>
            <a:ext cx="49377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cold, warm, referral, meeting-prep, proposal, objection</a:t>
            </a:r>
            <a:endParaRPr b="0" i="0" sz="1200" u="none" cap="none" strike="noStrike">
              <a:solidFill>
                <a:schemeClr val="dk1"/>
              </a:solidFill>
              <a:latin typeface="Calibri"/>
              <a:ea typeface="Calibri"/>
              <a:cs typeface="Calibri"/>
              <a:sym typeface="Calibri"/>
            </a:endParaRPr>
          </a:p>
        </p:txBody>
      </p:sp>
      <p:sp>
        <p:nvSpPr>
          <p:cNvPr id="72" name="Google Shape;72;p5"/>
          <p:cNvSpPr/>
          <p:nvPr/>
        </p:nvSpPr>
        <p:spPr>
          <a:xfrm>
            <a:off x="548640" y="5760720"/>
            <a:ext cx="11064240" cy="713232"/>
          </a:xfrm>
          <a:prstGeom prst="roundRect">
            <a:avLst>
              <a:gd fmla="val 641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777240" y="5760720"/>
            <a:ext cx="338328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250"/>
              <a:buFont typeface="Courier New"/>
              <a:buNone/>
            </a:pPr>
            <a:r>
              <a:rPr b="1" i="0" lang="en-US" sz="1250" u="none" cap="none" strike="noStrike">
                <a:solidFill>
                  <a:srgbClr val="2E5E8C"/>
                </a:solidFill>
                <a:latin typeface="Courier New"/>
                <a:ea typeface="Courier New"/>
                <a:cs typeface="Courier New"/>
                <a:sym typeface="Courier New"/>
              </a:rPr>
              <a:t>install.sh + requirements.txt</a:t>
            </a:r>
            <a:endParaRPr b="0" i="0" sz="1250" u="none" cap="none" strike="noStrike">
              <a:solidFill>
                <a:schemeClr val="dk1"/>
              </a:solidFill>
              <a:latin typeface="Calibri"/>
              <a:ea typeface="Calibri"/>
              <a:cs typeface="Calibri"/>
              <a:sym typeface="Calibri"/>
            </a:endParaRPr>
          </a:p>
        </p:txBody>
      </p:sp>
      <p:sp>
        <p:nvSpPr>
          <p:cNvPr id="74" name="Google Shape;74;p5"/>
          <p:cNvSpPr/>
          <p:nvPr/>
        </p:nvSpPr>
        <p:spPr>
          <a:xfrm>
            <a:off x="4297680" y="5760720"/>
            <a:ext cx="210312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installer</a:t>
            </a:r>
            <a:endParaRPr b="0" i="0" sz="1300" u="none" cap="none" strike="noStrike">
              <a:solidFill>
                <a:schemeClr val="dk1"/>
              </a:solidFill>
              <a:latin typeface="Calibri"/>
              <a:ea typeface="Calibri"/>
              <a:cs typeface="Calibri"/>
              <a:sym typeface="Calibri"/>
            </a:endParaRPr>
          </a:p>
        </p:txBody>
      </p:sp>
      <p:sp>
        <p:nvSpPr>
          <p:cNvPr id="75" name="Google Shape;75;p5"/>
          <p:cNvSpPr/>
          <p:nvPr/>
        </p:nvSpPr>
        <p:spPr>
          <a:xfrm>
            <a:off x="6492240" y="5760720"/>
            <a:ext cx="493776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Copies skills to the Claude config dir; pip installs 3 deps</a:t>
            </a:r>
            <a:endParaRPr b="0" i="0" sz="1200" u="none" cap="none" strike="noStrike">
              <a:solidFill>
                <a:schemeClr val="dk1"/>
              </a:solidFill>
              <a:latin typeface="Calibri"/>
              <a:ea typeface="Calibri"/>
              <a:cs typeface="Calibri"/>
              <a:sym typeface="Calibri"/>
            </a:endParaRPr>
          </a:p>
        </p:txBody>
      </p:sp>
      <p:sp>
        <p:nvSpPr>
          <p:cNvPr id="76" name="Google Shape;76;p5"/>
          <p:cNvSpPr/>
          <p:nvPr/>
        </p:nvSpPr>
        <p:spPr>
          <a:xfrm>
            <a:off x="548640" y="617220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Counts confirmed by the install banner: 14 Skills, 5 Agents, 4 Scripts, PDF. Python deps: reportlab, beautifulsoup4, requests.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1" name="Shape 81"/>
        <p:cNvGrpSpPr/>
        <p:nvPr/>
      </p:nvGrpSpPr>
      <p:grpSpPr>
        <a:xfrm>
          <a:off x="0" y="0"/>
          <a:ext cx="0" cy="0"/>
          <a:chOff x="0" y="0"/>
          <a:chExt cx="0" cy="0"/>
        </a:xfrm>
      </p:grpSpPr>
      <p:sp>
        <p:nvSpPr>
          <p:cNvPr id="82" name="Google Shape;82;p6"/>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MEET THE TEAM</a:t>
            </a:r>
            <a:endParaRPr b="0" i="0" sz="1200" u="none" cap="none" strike="noStrike">
              <a:solidFill>
                <a:schemeClr val="dk1"/>
              </a:solidFill>
              <a:latin typeface="Calibri"/>
              <a:ea typeface="Calibri"/>
              <a:cs typeface="Calibri"/>
              <a:sym typeface="Calibri"/>
            </a:endParaRPr>
          </a:p>
        </p:txBody>
      </p:sp>
      <p:sp>
        <p:nvSpPr>
          <p:cNvPr id="83" name="Google Shape;83;p6"/>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Eight named roles, mapped to real components</a:t>
            </a:r>
            <a:endParaRPr b="0" i="0" sz="2700" u="none" cap="none" strike="noStrike">
              <a:solidFill>
                <a:schemeClr val="dk1"/>
              </a:solidFill>
              <a:latin typeface="Calibri"/>
              <a:ea typeface="Calibri"/>
              <a:cs typeface="Calibri"/>
              <a:sym typeface="Calibri"/>
            </a:endParaRPr>
          </a:p>
        </p:txBody>
      </p:sp>
      <p:sp>
        <p:nvSpPr>
          <p:cNvPr id="84" name="Google Shape;84;p6"/>
          <p:cNvSpPr/>
          <p:nvPr/>
        </p:nvSpPr>
        <p:spPr>
          <a:xfrm>
            <a:off x="548640" y="160020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p:nvPr/>
        </p:nvSpPr>
        <p:spPr>
          <a:xfrm>
            <a:off x="1399032" y="1783080"/>
            <a:ext cx="950976" cy="950976"/>
          </a:xfrm>
          <a:prstGeom prst="ellipse">
            <a:avLst/>
          </a:prstGeom>
          <a:solidFill>
            <a:srgbClr val="DCE4EE"/>
          </a:solidFill>
          <a:ln cap="flat" cmpd="sng" w="254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1453896" y="1837944"/>
            <a:ext cx="841248" cy="841248"/>
          </a:xfrm>
          <a:prstGeom prst="ellipse">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 name="Google Shape;87;p6"/>
          <p:cNvPicPr preferRelativeResize="0"/>
          <p:nvPr/>
        </p:nvPicPr>
        <p:blipFill rotWithShape="1">
          <a:blip r:embed="rId3">
            <a:alphaModFix/>
          </a:blip>
          <a:srcRect b="0" l="0" r="0" t="0"/>
          <a:stretch/>
        </p:blipFill>
        <p:spPr>
          <a:xfrm>
            <a:off x="1638971" y="2023019"/>
            <a:ext cx="471099" cy="471099"/>
          </a:xfrm>
          <a:prstGeom prst="rect">
            <a:avLst/>
          </a:prstGeom>
          <a:noFill/>
          <a:ln>
            <a:noFill/>
          </a:ln>
        </p:spPr>
      </p:pic>
      <p:sp>
        <p:nvSpPr>
          <p:cNvPr id="88" name="Google Shape;88;p6"/>
          <p:cNvSpPr/>
          <p:nvPr/>
        </p:nvSpPr>
        <p:spPr>
          <a:xfrm>
            <a:off x="685800" y="277063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Alex Morgan</a:t>
            </a:r>
            <a:endParaRPr b="0" i="0" sz="1350" u="none" cap="none" strike="noStrike">
              <a:solidFill>
                <a:schemeClr val="dk1"/>
              </a:solidFill>
              <a:latin typeface="Calibri"/>
              <a:ea typeface="Calibri"/>
              <a:cs typeface="Calibri"/>
              <a:sym typeface="Calibri"/>
            </a:endParaRPr>
          </a:p>
        </p:txBody>
      </p:sp>
      <p:sp>
        <p:nvSpPr>
          <p:cNvPr id="89" name="Google Shape;89;p6"/>
          <p:cNvSpPr/>
          <p:nvPr/>
        </p:nvSpPr>
        <p:spPr>
          <a:xfrm>
            <a:off x="685800" y="303580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VP of Sales</a:t>
            </a:r>
            <a:endParaRPr b="0" i="0" sz="1050" u="none" cap="none" strike="noStrike">
              <a:solidFill>
                <a:schemeClr val="dk1"/>
              </a:solidFill>
              <a:latin typeface="Calibri"/>
              <a:ea typeface="Calibri"/>
              <a:cs typeface="Calibri"/>
              <a:sym typeface="Calibri"/>
            </a:endParaRPr>
          </a:p>
        </p:txBody>
      </p:sp>
      <p:sp>
        <p:nvSpPr>
          <p:cNvPr id="90" name="Google Shape;90;p6"/>
          <p:cNvSpPr/>
          <p:nvPr/>
        </p:nvSpPr>
        <p:spPr>
          <a:xfrm>
            <a:off x="868680" y="3337560"/>
            <a:ext cx="2011680" cy="310896"/>
          </a:xfrm>
          <a:prstGeom prst="roundRect">
            <a:avLst>
              <a:gd fmla="val 14706" name="adj"/>
            </a:avLst>
          </a:prstGeom>
          <a:solidFill>
            <a:srgbClr val="DCE4EE"/>
          </a:solidFill>
          <a:ln cap="flat" cmpd="sng" w="12700">
            <a:solidFill>
              <a:srgbClr val="DCE4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868680" y="333756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3A5F"/>
              </a:buClr>
              <a:buSzPts val="1000"/>
              <a:buFont typeface="Calibri"/>
              <a:buNone/>
            </a:pPr>
            <a:r>
              <a:rPr b="1" i="0" lang="en-US" sz="1000" u="none" cap="none" strike="noStrike">
                <a:solidFill>
                  <a:srgbClr val="1E3A5F"/>
                </a:solidFill>
                <a:latin typeface="Calibri"/>
                <a:ea typeface="Calibri"/>
                <a:cs typeface="Calibri"/>
                <a:sym typeface="Calibri"/>
              </a:rPr>
              <a:t>Manager</a:t>
            </a:r>
            <a:endParaRPr b="0" i="0" sz="1000" u="none" cap="none" strike="noStrike">
              <a:solidFill>
                <a:schemeClr val="dk1"/>
              </a:solidFill>
              <a:latin typeface="Calibri"/>
              <a:ea typeface="Calibri"/>
              <a:cs typeface="Calibri"/>
              <a:sym typeface="Calibri"/>
            </a:endParaRPr>
          </a:p>
        </p:txBody>
      </p:sp>
      <p:sp>
        <p:nvSpPr>
          <p:cNvPr id="92" name="Google Shape;92;p6"/>
          <p:cNvSpPr/>
          <p:nvPr/>
        </p:nvSpPr>
        <p:spPr>
          <a:xfrm>
            <a:off x="3319272" y="160020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4169664" y="1783080"/>
            <a:ext cx="950976" cy="950976"/>
          </a:xfrm>
          <a:prstGeom prst="ellipse">
            <a:avLst/>
          </a:prstGeom>
          <a:solidFill>
            <a:srgbClr val="E2EAF2"/>
          </a:solidFill>
          <a:ln cap="flat" cmpd="sng" w="254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4224528" y="1837944"/>
            <a:ext cx="841248" cy="84124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6"/>
          <p:cNvPicPr preferRelativeResize="0"/>
          <p:nvPr/>
        </p:nvPicPr>
        <p:blipFill rotWithShape="1">
          <a:blip r:embed="rId4">
            <a:alphaModFix/>
          </a:blip>
          <a:srcRect b="0" l="0" r="0" t="0"/>
          <a:stretch/>
        </p:blipFill>
        <p:spPr>
          <a:xfrm>
            <a:off x="4409603" y="2023019"/>
            <a:ext cx="471099" cy="471099"/>
          </a:xfrm>
          <a:prstGeom prst="rect">
            <a:avLst/>
          </a:prstGeom>
          <a:noFill/>
          <a:ln>
            <a:noFill/>
          </a:ln>
        </p:spPr>
      </p:pic>
      <p:sp>
        <p:nvSpPr>
          <p:cNvPr id="96" name="Google Shape;96;p6"/>
          <p:cNvSpPr/>
          <p:nvPr/>
        </p:nvSpPr>
        <p:spPr>
          <a:xfrm>
            <a:off x="3456432" y="277063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Marcus Chen</a:t>
            </a:r>
            <a:endParaRPr b="0" i="0" sz="1350" u="none" cap="none" strike="noStrike">
              <a:solidFill>
                <a:schemeClr val="dk1"/>
              </a:solidFill>
              <a:latin typeface="Calibri"/>
              <a:ea typeface="Calibri"/>
              <a:cs typeface="Calibri"/>
              <a:sym typeface="Calibri"/>
            </a:endParaRPr>
          </a:p>
        </p:txBody>
      </p:sp>
      <p:sp>
        <p:nvSpPr>
          <p:cNvPr id="97" name="Google Shape;97;p6"/>
          <p:cNvSpPr/>
          <p:nvPr/>
        </p:nvSpPr>
        <p:spPr>
          <a:xfrm>
            <a:off x="3456432" y="303580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Market Research Analyst</a:t>
            </a:r>
            <a:endParaRPr b="0" i="0" sz="1050" u="none" cap="none" strike="noStrike">
              <a:solidFill>
                <a:schemeClr val="dk1"/>
              </a:solidFill>
              <a:latin typeface="Calibri"/>
              <a:ea typeface="Calibri"/>
              <a:cs typeface="Calibri"/>
              <a:sym typeface="Calibri"/>
            </a:endParaRPr>
          </a:p>
        </p:txBody>
      </p:sp>
      <p:sp>
        <p:nvSpPr>
          <p:cNvPr id="98" name="Google Shape;98;p6"/>
          <p:cNvSpPr/>
          <p:nvPr/>
        </p:nvSpPr>
        <p:spPr>
          <a:xfrm>
            <a:off x="3639312" y="3337560"/>
            <a:ext cx="2011680" cy="310896"/>
          </a:xfrm>
          <a:prstGeom prst="roundRect">
            <a:avLst>
              <a:gd fmla="val 14706" name="adj"/>
            </a:avLst>
          </a:prstGeom>
          <a:solidFill>
            <a:srgbClr val="E2EAF2"/>
          </a:solidFill>
          <a:ln cap="flat" cmpd="sng" w="12700">
            <a:solidFill>
              <a:srgbClr val="E2EA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3639312" y="333756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5E8C"/>
              </a:buClr>
              <a:buSzPts val="1000"/>
              <a:buFont typeface="Calibri"/>
              <a:buNone/>
            </a:pPr>
            <a:r>
              <a:rPr b="1" i="0" lang="en-US" sz="1000" u="none" cap="none" strike="noStrike">
                <a:solidFill>
                  <a:srgbClr val="2E5E8C"/>
                </a:solidFill>
                <a:latin typeface="Calibri"/>
                <a:ea typeface="Calibri"/>
                <a:cs typeface="Calibri"/>
                <a:sym typeface="Calibri"/>
              </a:rPr>
              <a:t>Company Fit 25%</a:t>
            </a:r>
            <a:endParaRPr b="0" i="0" sz="1000" u="none" cap="none" strike="noStrike">
              <a:solidFill>
                <a:schemeClr val="dk1"/>
              </a:solidFill>
              <a:latin typeface="Calibri"/>
              <a:ea typeface="Calibri"/>
              <a:cs typeface="Calibri"/>
              <a:sym typeface="Calibri"/>
            </a:endParaRPr>
          </a:p>
        </p:txBody>
      </p:sp>
      <p:sp>
        <p:nvSpPr>
          <p:cNvPr id="100" name="Google Shape;100;p6"/>
          <p:cNvSpPr/>
          <p:nvPr/>
        </p:nvSpPr>
        <p:spPr>
          <a:xfrm>
            <a:off x="6089904" y="160020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6940296" y="1783080"/>
            <a:ext cx="950976" cy="950976"/>
          </a:xfrm>
          <a:prstGeom prst="ellipse">
            <a:avLst/>
          </a:prstGeom>
          <a:solidFill>
            <a:srgbClr val="DEEDE6"/>
          </a:solidFill>
          <a:ln cap="flat" cmpd="sng" w="254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6995160" y="1837944"/>
            <a:ext cx="841248" cy="841248"/>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6"/>
          <p:cNvPicPr preferRelativeResize="0"/>
          <p:nvPr/>
        </p:nvPicPr>
        <p:blipFill rotWithShape="1">
          <a:blip r:embed="rId5">
            <a:alphaModFix/>
          </a:blip>
          <a:srcRect b="0" l="0" r="0" t="0"/>
          <a:stretch/>
        </p:blipFill>
        <p:spPr>
          <a:xfrm>
            <a:off x="7180235" y="2023019"/>
            <a:ext cx="471099" cy="471099"/>
          </a:xfrm>
          <a:prstGeom prst="rect">
            <a:avLst/>
          </a:prstGeom>
          <a:noFill/>
          <a:ln>
            <a:noFill/>
          </a:ln>
        </p:spPr>
      </p:pic>
      <p:sp>
        <p:nvSpPr>
          <p:cNvPr id="104" name="Google Shape;104;p6"/>
          <p:cNvSpPr/>
          <p:nvPr/>
        </p:nvSpPr>
        <p:spPr>
          <a:xfrm>
            <a:off x="6227064" y="277063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Priya Nair</a:t>
            </a:r>
            <a:endParaRPr b="0" i="0" sz="1350" u="none" cap="none" strike="noStrike">
              <a:solidFill>
                <a:schemeClr val="dk1"/>
              </a:solidFill>
              <a:latin typeface="Calibri"/>
              <a:ea typeface="Calibri"/>
              <a:cs typeface="Calibri"/>
              <a:sym typeface="Calibri"/>
            </a:endParaRPr>
          </a:p>
        </p:txBody>
      </p:sp>
      <p:sp>
        <p:nvSpPr>
          <p:cNvPr id="105" name="Google Shape;105;p6"/>
          <p:cNvSpPr/>
          <p:nvPr/>
        </p:nvSpPr>
        <p:spPr>
          <a:xfrm>
            <a:off x="6227064" y="303580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Business Development Rep</a:t>
            </a:r>
            <a:endParaRPr b="0" i="0" sz="1050" u="none" cap="none" strike="noStrike">
              <a:solidFill>
                <a:schemeClr val="dk1"/>
              </a:solidFill>
              <a:latin typeface="Calibri"/>
              <a:ea typeface="Calibri"/>
              <a:cs typeface="Calibri"/>
              <a:sym typeface="Calibri"/>
            </a:endParaRPr>
          </a:p>
        </p:txBody>
      </p:sp>
      <p:sp>
        <p:nvSpPr>
          <p:cNvPr id="106" name="Google Shape;106;p6"/>
          <p:cNvSpPr/>
          <p:nvPr/>
        </p:nvSpPr>
        <p:spPr>
          <a:xfrm>
            <a:off x="6409944" y="3337560"/>
            <a:ext cx="2011680" cy="310896"/>
          </a:xfrm>
          <a:prstGeom prst="roundRect">
            <a:avLst>
              <a:gd fmla="val 14706" name="adj"/>
            </a:avLst>
          </a:prstGeom>
          <a:solidFill>
            <a:srgbClr val="DEEDE6"/>
          </a:solidFill>
          <a:ln cap="flat" cmpd="sng" w="12700">
            <a:solidFill>
              <a:srgbClr val="DEED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6409944" y="333756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8F6B"/>
              </a:buClr>
              <a:buSzPts val="1000"/>
              <a:buFont typeface="Calibri"/>
              <a:buNone/>
            </a:pPr>
            <a:r>
              <a:rPr b="1" i="0" lang="en-US" sz="1000" u="none" cap="none" strike="noStrike">
                <a:solidFill>
                  <a:srgbClr val="3F8F6B"/>
                </a:solidFill>
                <a:latin typeface="Calibri"/>
                <a:ea typeface="Calibri"/>
                <a:cs typeface="Calibri"/>
                <a:sym typeface="Calibri"/>
              </a:rPr>
              <a:t>Contact Access 20%</a:t>
            </a:r>
            <a:endParaRPr b="0" i="0" sz="1000" u="none" cap="none" strike="noStrike">
              <a:solidFill>
                <a:schemeClr val="dk1"/>
              </a:solidFill>
              <a:latin typeface="Calibri"/>
              <a:ea typeface="Calibri"/>
              <a:cs typeface="Calibri"/>
              <a:sym typeface="Calibri"/>
            </a:endParaRPr>
          </a:p>
        </p:txBody>
      </p:sp>
      <p:sp>
        <p:nvSpPr>
          <p:cNvPr id="108" name="Google Shape;108;p6"/>
          <p:cNvSpPr/>
          <p:nvPr/>
        </p:nvSpPr>
        <p:spPr>
          <a:xfrm>
            <a:off x="8860536" y="160020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9710928" y="1783080"/>
            <a:ext cx="950976" cy="950976"/>
          </a:xfrm>
          <a:prstGeom prst="ellipse">
            <a:avLst/>
          </a:prstGeom>
          <a:solidFill>
            <a:srgbClr val="F7EBD5"/>
          </a:solidFill>
          <a:ln cap="flat" cmpd="sng" w="25400">
            <a:solidFill>
              <a:srgbClr val="C08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9765792" y="1837944"/>
            <a:ext cx="841248" cy="841248"/>
          </a:xfrm>
          <a:prstGeom prst="ellipse">
            <a:avLst/>
          </a:prstGeom>
          <a:solidFill>
            <a:srgbClr val="C08829"/>
          </a:solidFill>
          <a:ln cap="flat" cmpd="sng" w="12700">
            <a:solidFill>
              <a:srgbClr val="C08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 name="Google Shape;111;p6"/>
          <p:cNvPicPr preferRelativeResize="0"/>
          <p:nvPr/>
        </p:nvPicPr>
        <p:blipFill rotWithShape="1">
          <a:blip r:embed="rId6">
            <a:alphaModFix/>
          </a:blip>
          <a:srcRect b="0" l="0" r="0" t="0"/>
          <a:stretch/>
        </p:blipFill>
        <p:spPr>
          <a:xfrm>
            <a:off x="9950867" y="2023019"/>
            <a:ext cx="471099" cy="471099"/>
          </a:xfrm>
          <a:prstGeom prst="rect">
            <a:avLst/>
          </a:prstGeom>
          <a:noFill/>
          <a:ln>
            <a:noFill/>
          </a:ln>
        </p:spPr>
      </p:pic>
      <p:sp>
        <p:nvSpPr>
          <p:cNvPr id="112" name="Google Shape;112;p6"/>
          <p:cNvSpPr/>
          <p:nvPr/>
        </p:nvSpPr>
        <p:spPr>
          <a:xfrm>
            <a:off x="8997696" y="277063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Diego Alvarez</a:t>
            </a:r>
            <a:endParaRPr b="0" i="0" sz="1350" u="none" cap="none" strike="noStrike">
              <a:solidFill>
                <a:schemeClr val="dk1"/>
              </a:solidFill>
              <a:latin typeface="Calibri"/>
              <a:ea typeface="Calibri"/>
              <a:cs typeface="Calibri"/>
              <a:sym typeface="Calibri"/>
            </a:endParaRPr>
          </a:p>
        </p:txBody>
      </p:sp>
      <p:sp>
        <p:nvSpPr>
          <p:cNvPr id="113" name="Google Shape;113;p6"/>
          <p:cNvSpPr/>
          <p:nvPr/>
        </p:nvSpPr>
        <p:spPr>
          <a:xfrm>
            <a:off x="8997696" y="303580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Lead Qualification Specialist</a:t>
            </a:r>
            <a:endParaRPr b="0" i="0" sz="1050" u="none" cap="none" strike="noStrike">
              <a:solidFill>
                <a:schemeClr val="dk1"/>
              </a:solidFill>
              <a:latin typeface="Calibri"/>
              <a:ea typeface="Calibri"/>
              <a:cs typeface="Calibri"/>
              <a:sym typeface="Calibri"/>
            </a:endParaRPr>
          </a:p>
        </p:txBody>
      </p:sp>
      <p:sp>
        <p:nvSpPr>
          <p:cNvPr id="114" name="Google Shape;114;p6"/>
          <p:cNvSpPr/>
          <p:nvPr/>
        </p:nvSpPr>
        <p:spPr>
          <a:xfrm>
            <a:off x="9180576" y="3337560"/>
            <a:ext cx="2011680" cy="310896"/>
          </a:xfrm>
          <a:prstGeom prst="roundRect">
            <a:avLst>
              <a:gd fmla="val 14706" name="adj"/>
            </a:avLst>
          </a:prstGeom>
          <a:solidFill>
            <a:srgbClr val="F7EBD5"/>
          </a:solidFill>
          <a:ln cap="flat" cmpd="sng" w="12700">
            <a:solidFill>
              <a:srgbClr val="F7EB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9180576" y="333756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08829"/>
              </a:buClr>
              <a:buSzPts val="1000"/>
              <a:buFont typeface="Calibri"/>
              <a:buNone/>
            </a:pPr>
            <a:r>
              <a:rPr b="1" i="0" lang="en-US" sz="1000" u="none" cap="none" strike="noStrike">
                <a:solidFill>
                  <a:srgbClr val="C08829"/>
                </a:solidFill>
                <a:latin typeface="Calibri"/>
                <a:ea typeface="Calibri"/>
                <a:cs typeface="Calibri"/>
                <a:sym typeface="Calibri"/>
              </a:rPr>
              <a:t>Opportunity Quality 20%</a:t>
            </a:r>
            <a:endParaRPr b="0" i="0" sz="1000" u="none" cap="none" strike="noStrike">
              <a:solidFill>
                <a:schemeClr val="dk1"/>
              </a:solidFill>
              <a:latin typeface="Calibri"/>
              <a:ea typeface="Calibri"/>
              <a:cs typeface="Calibri"/>
              <a:sym typeface="Calibri"/>
            </a:endParaRPr>
          </a:p>
        </p:txBody>
      </p:sp>
      <p:sp>
        <p:nvSpPr>
          <p:cNvPr id="116" name="Google Shape;116;p6"/>
          <p:cNvSpPr/>
          <p:nvPr/>
        </p:nvSpPr>
        <p:spPr>
          <a:xfrm>
            <a:off x="548640" y="397764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1399032" y="4160520"/>
            <a:ext cx="950976" cy="950976"/>
          </a:xfrm>
          <a:prstGeom prst="ellipse">
            <a:avLst/>
          </a:prstGeom>
          <a:solidFill>
            <a:srgbClr val="EBE3EE"/>
          </a:solidFill>
          <a:ln cap="flat" cmpd="sng" w="25400">
            <a:solidFill>
              <a:srgbClr val="7E5A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1453896" y="4215384"/>
            <a:ext cx="841248" cy="841248"/>
          </a:xfrm>
          <a:prstGeom prst="ellipse">
            <a:avLst/>
          </a:prstGeom>
          <a:solidFill>
            <a:srgbClr val="7E5A86"/>
          </a:solidFill>
          <a:ln cap="flat" cmpd="sng" w="12700">
            <a:solidFill>
              <a:srgbClr val="7E5A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 name="Google Shape;119;p6"/>
          <p:cNvPicPr preferRelativeResize="0"/>
          <p:nvPr/>
        </p:nvPicPr>
        <p:blipFill rotWithShape="1">
          <a:blip r:embed="rId7">
            <a:alphaModFix/>
          </a:blip>
          <a:srcRect b="0" l="0" r="0" t="0"/>
          <a:stretch/>
        </p:blipFill>
        <p:spPr>
          <a:xfrm>
            <a:off x="1638971" y="4400459"/>
            <a:ext cx="471099" cy="471099"/>
          </a:xfrm>
          <a:prstGeom prst="rect">
            <a:avLst/>
          </a:prstGeom>
          <a:noFill/>
          <a:ln>
            <a:noFill/>
          </a:ln>
        </p:spPr>
      </p:pic>
      <p:sp>
        <p:nvSpPr>
          <p:cNvPr id="120" name="Google Shape;120;p6"/>
          <p:cNvSpPr/>
          <p:nvPr/>
        </p:nvSpPr>
        <p:spPr>
          <a:xfrm>
            <a:off x="685800" y="514807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Sofia Rossi</a:t>
            </a:r>
            <a:endParaRPr b="0" i="0" sz="1350" u="none" cap="none" strike="noStrike">
              <a:solidFill>
                <a:schemeClr val="dk1"/>
              </a:solidFill>
              <a:latin typeface="Calibri"/>
              <a:ea typeface="Calibri"/>
              <a:cs typeface="Calibri"/>
              <a:sym typeface="Calibri"/>
            </a:endParaRPr>
          </a:p>
        </p:txBody>
      </p:sp>
      <p:sp>
        <p:nvSpPr>
          <p:cNvPr id="121" name="Google Shape;121;p6"/>
          <p:cNvSpPr/>
          <p:nvPr/>
        </p:nvSpPr>
        <p:spPr>
          <a:xfrm>
            <a:off x="685800" y="541324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Competitive Intelligence Lead</a:t>
            </a:r>
            <a:endParaRPr b="0" i="0" sz="1050" u="none" cap="none" strike="noStrike">
              <a:solidFill>
                <a:schemeClr val="dk1"/>
              </a:solidFill>
              <a:latin typeface="Calibri"/>
              <a:ea typeface="Calibri"/>
              <a:cs typeface="Calibri"/>
              <a:sym typeface="Calibri"/>
            </a:endParaRPr>
          </a:p>
        </p:txBody>
      </p:sp>
      <p:sp>
        <p:nvSpPr>
          <p:cNvPr id="122" name="Google Shape;122;p6"/>
          <p:cNvSpPr/>
          <p:nvPr/>
        </p:nvSpPr>
        <p:spPr>
          <a:xfrm>
            <a:off x="868680" y="5715000"/>
            <a:ext cx="2011680" cy="310896"/>
          </a:xfrm>
          <a:prstGeom prst="roundRect">
            <a:avLst>
              <a:gd fmla="val 14706" name="adj"/>
            </a:avLst>
          </a:prstGeom>
          <a:solidFill>
            <a:srgbClr val="EBE3EE"/>
          </a:solidFill>
          <a:ln cap="flat" cmpd="sng" w="12700">
            <a:solidFill>
              <a:srgbClr val="EB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868680" y="571500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E5A86"/>
              </a:buClr>
              <a:buSzPts val="1000"/>
              <a:buFont typeface="Calibri"/>
              <a:buNone/>
            </a:pPr>
            <a:r>
              <a:rPr b="1" i="0" lang="en-US" sz="1000" u="none" cap="none" strike="noStrike">
                <a:solidFill>
                  <a:srgbClr val="7E5A86"/>
                </a:solidFill>
                <a:latin typeface="Calibri"/>
                <a:ea typeface="Calibri"/>
                <a:cs typeface="Calibri"/>
                <a:sym typeface="Calibri"/>
              </a:rPr>
              <a:t>Competitive Position 15%</a:t>
            </a:r>
            <a:endParaRPr b="0" i="0" sz="1000" u="none" cap="none" strike="noStrike">
              <a:solidFill>
                <a:schemeClr val="dk1"/>
              </a:solidFill>
              <a:latin typeface="Calibri"/>
              <a:ea typeface="Calibri"/>
              <a:cs typeface="Calibri"/>
              <a:sym typeface="Calibri"/>
            </a:endParaRPr>
          </a:p>
        </p:txBody>
      </p:sp>
      <p:sp>
        <p:nvSpPr>
          <p:cNvPr id="124" name="Google Shape;124;p6"/>
          <p:cNvSpPr/>
          <p:nvPr/>
        </p:nvSpPr>
        <p:spPr>
          <a:xfrm>
            <a:off x="3319272" y="397764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
          <p:cNvSpPr/>
          <p:nvPr/>
        </p:nvSpPr>
        <p:spPr>
          <a:xfrm>
            <a:off x="4169664" y="4160520"/>
            <a:ext cx="950976" cy="950976"/>
          </a:xfrm>
          <a:prstGeom prst="ellipse">
            <a:avLst/>
          </a:prstGeom>
          <a:solidFill>
            <a:srgbClr val="F5E4D8"/>
          </a:solidFill>
          <a:ln cap="flat" cmpd="sng" w="25400">
            <a:solidFill>
              <a:srgbClr val="BB6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4224528" y="4215384"/>
            <a:ext cx="841248" cy="841248"/>
          </a:xfrm>
          <a:prstGeom prst="ellipse">
            <a:avLst/>
          </a:prstGeom>
          <a:solidFill>
            <a:srgbClr val="BB6A3C"/>
          </a:solidFill>
          <a:ln cap="flat" cmpd="sng" w="12700">
            <a:solidFill>
              <a:srgbClr val="BB6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7" name="Google Shape;127;p6"/>
          <p:cNvPicPr preferRelativeResize="0"/>
          <p:nvPr/>
        </p:nvPicPr>
        <p:blipFill rotWithShape="1">
          <a:blip r:embed="rId8">
            <a:alphaModFix/>
          </a:blip>
          <a:srcRect b="0" l="0" r="0" t="0"/>
          <a:stretch/>
        </p:blipFill>
        <p:spPr>
          <a:xfrm>
            <a:off x="4409603" y="4400459"/>
            <a:ext cx="471099" cy="471099"/>
          </a:xfrm>
          <a:prstGeom prst="rect">
            <a:avLst/>
          </a:prstGeom>
          <a:noFill/>
          <a:ln>
            <a:noFill/>
          </a:ln>
        </p:spPr>
      </p:pic>
      <p:sp>
        <p:nvSpPr>
          <p:cNvPr id="128" name="Google Shape;128;p6"/>
          <p:cNvSpPr/>
          <p:nvPr/>
        </p:nvSpPr>
        <p:spPr>
          <a:xfrm>
            <a:off x="3456432" y="514807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Jordan Blake</a:t>
            </a:r>
            <a:endParaRPr b="0" i="0" sz="1350" u="none" cap="none" strike="noStrike">
              <a:solidFill>
                <a:schemeClr val="dk1"/>
              </a:solidFill>
              <a:latin typeface="Calibri"/>
              <a:ea typeface="Calibri"/>
              <a:cs typeface="Calibri"/>
              <a:sym typeface="Calibri"/>
            </a:endParaRPr>
          </a:p>
        </p:txBody>
      </p:sp>
      <p:sp>
        <p:nvSpPr>
          <p:cNvPr id="129" name="Google Shape;129;p6"/>
          <p:cNvSpPr/>
          <p:nvPr/>
        </p:nvSpPr>
        <p:spPr>
          <a:xfrm>
            <a:off x="3456432" y="541324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Outreach Strategist</a:t>
            </a:r>
            <a:endParaRPr b="0" i="0" sz="1050" u="none" cap="none" strike="noStrike">
              <a:solidFill>
                <a:schemeClr val="dk1"/>
              </a:solidFill>
              <a:latin typeface="Calibri"/>
              <a:ea typeface="Calibri"/>
              <a:cs typeface="Calibri"/>
              <a:sym typeface="Calibri"/>
            </a:endParaRPr>
          </a:p>
        </p:txBody>
      </p:sp>
      <p:sp>
        <p:nvSpPr>
          <p:cNvPr id="130" name="Google Shape;130;p6"/>
          <p:cNvSpPr/>
          <p:nvPr/>
        </p:nvSpPr>
        <p:spPr>
          <a:xfrm>
            <a:off x="3639312" y="5715000"/>
            <a:ext cx="2011680" cy="310896"/>
          </a:xfrm>
          <a:prstGeom prst="roundRect">
            <a:avLst>
              <a:gd fmla="val 14706" name="adj"/>
            </a:avLst>
          </a:prstGeom>
          <a:solidFill>
            <a:srgbClr val="F5E4D8"/>
          </a:solidFill>
          <a:ln cap="flat" cmpd="sng" w="12700">
            <a:solidFill>
              <a:srgbClr val="F5E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3639312" y="571500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B6A3C"/>
              </a:buClr>
              <a:buSzPts val="1000"/>
              <a:buFont typeface="Calibri"/>
              <a:buNone/>
            </a:pPr>
            <a:r>
              <a:rPr b="1" i="0" lang="en-US" sz="1000" u="none" cap="none" strike="noStrike">
                <a:solidFill>
                  <a:srgbClr val="BB6A3C"/>
                </a:solidFill>
                <a:latin typeface="Calibri"/>
                <a:ea typeface="Calibri"/>
                <a:cs typeface="Calibri"/>
                <a:sym typeface="Calibri"/>
              </a:rPr>
              <a:t>Outreach Readiness 20%</a:t>
            </a:r>
            <a:endParaRPr b="0" i="0" sz="1000" u="none" cap="none" strike="noStrike">
              <a:solidFill>
                <a:schemeClr val="dk1"/>
              </a:solidFill>
              <a:latin typeface="Calibri"/>
              <a:ea typeface="Calibri"/>
              <a:cs typeface="Calibri"/>
              <a:sym typeface="Calibri"/>
            </a:endParaRPr>
          </a:p>
        </p:txBody>
      </p:sp>
      <p:sp>
        <p:nvSpPr>
          <p:cNvPr id="132" name="Google Shape;132;p6"/>
          <p:cNvSpPr/>
          <p:nvPr/>
        </p:nvSpPr>
        <p:spPr>
          <a:xfrm>
            <a:off x="6089904" y="397764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6940296" y="4160520"/>
            <a:ext cx="950976" cy="950976"/>
          </a:xfrm>
          <a:prstGeom prst="ellipse">
            <a:avLst/>
          </a:prstGeom>
          <a:solidFill>
            <a:srgbClr val="F4EAD3"/>
          </a:solidFill>
          <a:ln cap="flat" cmpd="sng" w="25400">
            <a:solidFill>
              <a:srgbClr val="B886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p:nvPr/>
        </p:nvSpPr>
        <p:spPr>
          <a:xfrm>
            <a:off x="6995160" y="4215384"/>
            <a:ext cx="841248" cy="841248"/>
          </a:xfrm>
          <a:prstGeom prst="ellipse">
            <a:avLst/>
          </a:prstGeom>
          <a:solidFill>
            <a:srgbClr val="B8862B"/>
          </a:solidFill>
          <a:ln cap="flat" cmpd="sng" w="12700">
            <a:solidFill>
              <a:srgbClr val="B886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6"/>
          <p:cNvPicPr preferRelativeResize="0"/>
          <p:nvPr/>
        </p:nvPicPr>
        <p:blipFill rotWithShape="1">
          <a:blip r:embed="rId9">
            <a:alphaModFix/>
          </a:blip>
          <a:srcRect b="0" l="0" r="0" t="0"/>
          <a:stretch/>
        </p:blipFill>
        <p:spPr>
          <a:xfrm>
            <a:off x="7180235" y="4400459"/>
            <a:ext cx="471099" cy="471099"/>
          </a:xfrm>
          <a:prstGeom prst="rect">
            <a:avLst/>
          </a:prstGeom>
          <a:noFill/>
          <a:ln>
            <a:noFill/>
          </a:ln>
        </p:spPr>
      </p:pic>
      <p:sp>
        <p:nvSpPr>
          <p:cNvPr id="136" name="Google Shape;136;p6"/>
          <p:cNvSpPr/>
          <p:nvPr/>
        </p:nvSpPr>
        <p:spPr>
          <a:xfrm>
            <a:off x="6227064" y="514807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Nadia Cole</a:t>
            </a:r>
            <a:endParaRPr b="0" i="0" sz="1350" u="none" cap="none" strike="noStrike">
              <a:solidFill>
                <a:schemeClr val="dk1"/>
              </a:solidFill>
              <a:latin typeface="Calibri"/>
              <a:ea typeface="Calibri"/>
              <a:cs typeface="Calibri"/>
              <a:sym typeface="Calibri"/>
            </a:endParaRPr>
          </a:p>
        </p:txBody>
      </p:sp>
      <p:sp>
        <p:nvSpPr>
          <p:cNvPr id="137" name="Google Shape;137;p6"/>
          <p:cNvSpPr/>
          <p:nvPr/>
        </p:nvSpPr>
        <p:spPr>
          <a:xfrm>
            <a:off x="6227064" y="541324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Sales Enablement Coach</a:t>
            </a:r>
            <a:endParaRPr b="0" i="0" sz="1050" u="none" cap="none" strike="noStrike">
              <a:solidFill>
                <a:schemeClr val="dk1"/>
              </a:solidFill>
              <a:latin typeface="Calibri"/>
              <a:ea typeface="Calibri"/>
              <a:cs typeface="Calibri"/>
              <a:sym typeface="Calibri"/>
            </a:endParaRPr>
          </a:p>
        </p:txBody>
      </p:sp>
      <p:sp>
        <p:nvSpPr>
          <p:cNvPr id="138" name="Google Shape;138;p6"/>
          <p:cNvSpPr/>
          <p:nvPr/>
        </p:nvSpPr>
        <p:spPr>
          <a:xfrm>
            <a:off x="6409944" y="5715000"/>
            <a:ext cx="2011680" cy="310896"/>
          </a:xfrm>
          <a:prstGeom prst="roundRect">
            <a:avLst>
              <a:gd fmla="val 14706" name="adj"/>
            </a:avLst>
          </a:prstGeom>
          <a:solidFill>
            <a:srgbClr val="F4EAD3"/>
          </a:solidFill>
          <a:ln cap="flat" cmpd="sng" w="12700">
            <a:solidFill>
              <a:srgbClr val="F4EA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6409944" y="571500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8862B"/>
              </a:buClr>
              <a:buSzPts val="1000"/>
              <a:buFont typeface="Calibri"/>
              <a:buNone/>
            </a:pPr>
            <a:r>
              <a:rPr b="1" i="0" lang="en-US" sz="1000" u="none" cap="none" strike="noStrike">
                <a:solidFill>
                  <a:srgbClr val="B8862B"/>
                </a:solidFill>
                <a:latin typeface="Calibri"/>
                <a:ea typeface="Calibri"/>
                <a:cs typeface="Calibri"/>
                <a:sym typeface="Calibri"/>
              </a:rPr>
              <a:t>Analysis layer</a:t>
            </a:r>
            <a:endParaRPr b="0" i="0" sz="1000" u="none" cap="none" strike="noStrike">
              <a:solidFill>
                <a:schemeClr val="dk1"/>
              </a:solidFill>
              <a:latin typeface="Calibri"/>
              <a:ea typeface="Calibri"/>
              <a:cs typeface="Calibri"/>
              <a:sym typeface="Calibri"/>
            </a:endParaRPr>
          </a:p>
        </p:txBody>
      </p:sp>
      <p:sp>
        <p:nvSpPr>
          <p:cNvPr id="140" name="Google Shape;140;p6"/>
          <p:cNvSpPr/>
          <p:nvPr/>
        </p:nvSpPr>
        <p:spPr>
          <a:xfrm>
            <a:off x="8860536" y="397764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9710928" y="4160520"/>
            <a:ext cx="950976" cy="950976"/>
          </a:xfrm>
          <a:prstGeom prst="ellipse">
            <a:avLst/>
          </a:prstGeom>
          <a:solidFill>
            <a:srgbClr val="E3ECF2"/>
          </a:solidFill>
          <a:ln cap="flat" cmpd="sng" w="25400">
            <a:solidFill>
              <a:srgbClr val="4C7A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9765792" y="4215384"/>
            <a:ext cx="841248" cy="841248"/>
          </a:xfrm>
          <a:prstGeom prst="ellipse">
            <a:avLst/>
          </a:prstGeom>
          <a:solidFill>
            <a:srgbClr val="4C7A9E"/>
          </a:solidFill>
          <a:ln cap="flat" cmpd="sng" w="12700">
            <a:solidFill>
              <a:srgbClr val="4C7A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 name="Google Shape;143;p6"/>
          <p:cNvPicPr preferRelativeResize="0"/>
          <p:nvPr/>
        </p:nvPicPr>
        <p:blipFill rotWithShape="1">
          <a:blip r:embed="rId10">
            <a:alphaModFix/>
          </a:blip>
          <a:srcRect b="0" l="0" r="0" t="0"/>
          <a:stretch/>
        </p:blipFill>
        <p:spPr>
          <a:xfrm>
            <a:off x="9950867" y="4400459"/>
            <a:ext cx="471099" cy="471099"/>
          </a:xfrm>
          <a:prstGeom prst="rect">
            <a:avLst/>
          </a:prstGeom>
          <a:noFill/>
          <a:ln>
            <a:noFill/>
          </a:ln>
        </p:spPr>
      </p:pic>
      <p:sp>
        <p:nvSpPr>
          <p:cNvPr id="144" name="Google Shape;144;p6"/>
          <p:cNvSpPr/>
          <p:nvPr/>
        </p:nvSpPr>
        <p:spPr>
          <a:xfrm>
            <a:off x="8997696" y="5148072"/>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350"/>
              <a:buFont typeface="Calibri"/>
              <a:buNone/>
            </a:pPr>
            <a:r>
              <a:rPr b="1" i="0" lang="en-US" sz="1350" u="none" cap="none" strike="noStrike">
                <a:solidFill>
                  <a:srgbClr val="0F172A"/>
                </a:solidFill>
                <a:latin typeface="Calibri"/>
                <a:ea typeface="Calibri"/>
                <a:cs typeface="Calibri"/>
                <a:sym typeface="Calibri"/>
              </a:rPr>
              <a:t>Iris Vega</a:t>
            </a:r>
            <a:endParaRPr b="0" i="0" sz="1350" u="none" cap="none" strike="noStrike">
              <a:solidFill>
                <a:schemeClr val="dk1"/>
              </a:solidFill>
              <a:latin typeface="Calibri"/>
              <a:ea typeface="Calibri"/>
              <a:cs typeface="Calibri"/>
              <a:sym typeface="Calibri"/>
            </a:endParaRPr>
          </a:p>
        </p:txBody>
      </p:sp>
      <p:sp>
        <p:nvSpPr>
          <p:cNvPr id="145" name="Google Shape;145;p6"/>
          <p:cNvSpPr/>
          <p:nvPr/>
        </p:nvSpPr>
        <p:spPr>
          <a:xfrm>
            <a:off x="8997696" y="5413248"/>
            <a:ext cx="23774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Intake Coordinator</a:t>
            </a:r>
            <a:endParaRPr b="0" i="0" sz="1050" u="none" cap="none" strike="noStrike">
              <a:solidFill>
                <a:schemeClr val="dk1"/>
              </a:solidFill>
              <a:latin typeface="Calibri"/>
              <a:ea typeface="Calibri"/>
              <a:cs typeface="Calibri"/>
              <a:sym typeface="Calibri"/>
            </a:endParaRPr>
          </a:p>
        </p:txBody>
      </p:sp>
      <p:sp>
        <p:nvSpPr>
          <p:cNvPr id="146" name="Google Shape;146;p6"/>
          <p:cNvSpPr/>
          <p:nvPr/>
        </p:nvSpPr>
        <p:spPr>
          <a:xfrm>
            <a:off x="9180576" y="5715000"/>
            <a:ext cx="2011680" cy="310896"/>
          </a:xfrm>
          <a:prstGeom prst="roundRect">
            <a:avLst>
              <a:gd fmla="val 14706" name="adj"/>
            </a:avLst>
          </a:prstGeom>
          <a:solidFill>
            <a:srgbClr val="E3ECF2"/>
          </a:solidFill>
          <a:ln cap="flat" cmpd="sng" w="12700">
            <a:solidFill>
              <a:srgbClr val="E3EC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9180576" y="5715000"/>
            <a:ext cx="201168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C7A9E"/>
              </a:buClr>
              <a:buSzPts val="1000"/>
              <a:buFont typeface="Calibri"/>
              <a:buNone/>
            </a:pPr>
            <a:r>
              <a:rPr b="1" i="0" lang="en-US" sz="1000" u="none" cap="none" strike="noStrike">
                <a:solidFill>
                  <a:srgbClr val="4C7A9E"/>
                </a:solidFill>
                <a:latin typeface="Calibri"/>
                <a:ea typeface="Calibri"/>
                <a:cs typeface="Calibri"/>
                <a:sym typeface="Calibri"/>
              </a:rPr>
              <a:t>Intake layer</a:t>
            </a:r>
            <a:endParaRPr b="0" i="0" sz="1000" u="none" cap="none" strike="noStrike">
              <a:solidFill>
                <a:schemeClr val="dk1"/>
              </a:solidFill>
              <a:latin typeface="Calibri"/>
              <a:ea typeface="Calibri"/>
              <a:cs typeface="Calibri"/>
              <a:sym typeface="Calibri"/>
            </a:endParaRPr>
          </a:p>
        </p:txBody>
      </p:sp>
      <p:sp>
        <p:nvSpPr>
          <p:cNvPr id="148" name="Google Shape;148;p6"/>
          <p:cNvSpPr/>
          <p:nvPr/>
        </p:nvSpPr>
        <p:spPr>
          <a:xfrm>
            <a:off x="548640" y="626364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50"/>
              <a:buFont typeface="Calibri"/>
              <a:buNone/>
            </a:pPr>
            <a:r>
              <a:rPr b="0" i="1" lang="en-US" sz="1150" u="none" cap="none" strike="noStrike">
                <a:solidFill>
                  <a:srgbClr val="64748B"/>
                </a:solidFill>
                <a:latin typeface="Calibri"/>
                <a:ea typeface="Calibri"/>
                <a:cs typeface="Calibri"/>
                <a:sym typeface="Calibri"/>
              </a:rPr>
              <a:t>Six sit inside the repo. Two, the coach and the intake coordinator, are the standing Kajiro and Elicitation skills that wrap the team.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3" name="Shape 153"/>
        <p:cNvGrpSpPr/>
        <p:nvPr/>
      </p:nvGrpSpPr>
      <p:grpSpPr>
        <a:xfrm>
          <a:off x="0" y="0"/>
          <a:ext cx="0" cy="0"/>
          <a:chOff x="0" y="0"/>
          <a:chExt cx="0" cy="0"/>
        </a:xfrm>
      </p:grpSpPr>
      <p:sp>
        <p:nvSpPr>
          <p:cNvPr id="154" name="Google Shape;154;p7"/>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MANAGER</a:t>
            </a:r>
            <a:endParaRPr b="0" i="0" sz="1200" u="none" cap="none" strike="noStrike">
              <a:solidFill>
                <a:schemeClr val="dk1"/>
              </a:solidFill>
              <a:latin typeface="Calibri"/>
              <a:ea typeface="Calibri"/>
              <a:cs typeface="Calibri"/>
              <a:sym typeface="Calibri"/>
            </a:endParaRPr>
          </a:p>
        </p:txBody>
      </p:sp>
      <p:sp>
        <p:nvSpPr>
          <p:cNvPr id="155" name="Google Shape;155;p7"/>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Alex Morgan, VP of Sales</a:t>
            </a:r>
            <a:endParaRPr b="0" i="0" sz="2700" u="none" cap="none" strike="noStrike">
              <a:solidFill>
                <a:schemeClr val="dk1"/>
              </a:solidFill>
              <a:latin typeface="Calibri"/>
              <a:ea typeface="Calibri"/>
              <a:cs typeface="Calibri"/>
              <a:sym typeface="Calibri"/>
            </a:endParaRPr>
          </a:p>
        </p:txBody>
      </p:sp>
      <p:sp>
        <p:nvSpPr>
          <p:cNvPr id="156" name="Google Shape;156;p7"/>
          <p:cNvSpPr/>
          <p:nvPr/>
        </p:nvSpPr>
        <p:spPr>
          <a:xfrm>
            <a:off x="548640" y="1600200"/>
            <a:ext cx="3200400" cy="4480560"/>
          </a:xfrm>
          <a:prstGeom prst="roundRect">
            <a:avLst>
              <a:gd fmla="val 2286" name="adj"/>
            </a:avLst>
          </a:prstGeom>
          <a:solidFill>
            <a:srgbClr val="DCE4EE"/>
          </a:solidFill>
          <a:ln cap="flat" cmpd="sng" w="12700">
            <a:solidFill>
              <a:srgbClr val="DCE4E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1316736" y="1911096"/>
            <a:ext cx="1664208" cy="1664208"/>
          </a:xfrm>
          <a:prstGeom prst="ellipse">
            <a:avLst/>
          </a:prstGeom>
          <a:solidFill>
            <a:srgbClr val="DCE4EE"/>
          </a:solidFill>
          <a:ln cap="flat" cmpd="sng" w="254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1371600" y="1965960"/>
            <a:ext cx="1554480" cy="1554480"/>
          </a:xfrm>
          <a:prstGeom prst="ellipse">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7"/>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160" name="Google Shape;160;p7"/>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Alex Morgan</a:t>
            </a:r>
            <a:endParaRPr b="0" i="0" sz="1900" u="none" cap="none" strike="noStrike">
              <a:solidFill>
                <a:schemeClr val="dk1"/>
              </a:solidFill>
              <a:latin typeface="Calibri"/>
              <a:ea typeface="Calibri"/>
              <a:cs typeface="Calibri"/>
              <a:sym typeface="Calibri"/>
            </a:endParaRPr>
          </a:p>
        </p:txBody>
      </p:sp>
      <p:sp>
        <p:nvSpPr>
          <p:cNvPr id="161" name="Google Shape;161;p7"/>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VP of Sales</a:t>
            </a:r>
            <a:endParaRPr b="0" i="0" sz="1250" u="none" cap="none" strike="noStrike">
              <a:solidFill>
                <a:schemeClr val="dk1"/>
              </a:solidFill>
              <a:latin typeface="Calibri"/>
              <a:ea typeface="Calibri"/>
              <a:cs typeface="Calibri"/>
              <a:sym typeface="Calibri"/>
            </a:endParaRPr>
          </a:p>
        </p:txBody>
      </p:sp>
      <p:sp>
        <p:nvSpPr>
          <p:cNvPr id="162" name="Google Shape;162;p7"/>
          <p:cNvSpPr/>
          <p:nvPr/>
        </p:nvSpPr>
        <p:spPr>
          <a:xfrm>
            <a:off x="914400" y="4480560"/>
            <a:ext cx="2468880" cy="411480"/>
          </a:xfrm>
          <a:prstGeom prst="roundRect">
            <a:avLst>
              <a:gd fmla="val 13333" name="adj"/>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Manager</a:t>
            </a:r>
            <a:endParaRPr b="0" i="0" sz="1300" u="none" cap="none" strike="noStrike">
              <a:solidFill>
                <a:schemeClr val="dk1"/>
              </a:solidFill>
              <a:latin typeface="Calibri"/>
              <a:ea typeface="Calibri"/>
              <a:cs typeface="Calibri"/>
              <a:sym typeface="Calibri"/>
            </a:endParaRPr>
          </a:p>
        </p:txBody>
      </p:sp>
      <p:sp>
        <p:nvSpPr>
          <p:cNvPr id="164" name="Google Shape;164;p7"/>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Orchestrator  /sales</a:t>
            </a:r>
            <a:endParaRPr b="0" i="0" sz="1050" u="none" cap="none" strike="noStrike">
              <a:solidFill>
                <a:schemeClr val="dk1"/>
              </a:solidFill>
              <a:latin typeface="Calibri"/>
              <a:ea typeface="Calibri"/>
              <a:cs typeface="Calibri"/>
              <a:sym typeface="Calibri"/>
            </a:endParaRPr>
          </a:p>
        </p:txBody>
      </p:sp>
      <p:sp>
        <p:nvSpPr>
          <p:cNvPr id="165" name="Google Shape;165;p7"/>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1E3A5F"/>
                </a:solidFill>
                <a:latin typeface="Courier New"/>
                <a:ea typeface="Courier New"/>
                <a:cs typeface="Courier New"/>
                <a:sym typeface="Courier New"/>
              </a:rPr>
              <a:t>sales/SKILL.md</a:t>
            </a:r>
            <a:endParaRPr b="0" i="0" sz="1050" u="none" cap="none" strike="noStrike">
              <a:solidFill>
                <a:schemeClr val="dk1"/>
              </a:solidFill>
              <a:latin typeface="Calibri"/>
              <a:ea typeface="Calibri"/>
              <a:cs typeface="Calibri"/>
              <a:sym typeface="Calibri"/>
            </a:endParaRPr>
          </a:p>
        </p:txBody>
      </p:sp>
      <p:sp>
        <p:nvSpPr>
          <p:cNvPr id="166" name="Google Shape;166;p7"/>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5F"/>
              </a:buClr>
              <a:buSzPts val="1500"/>
              <a:buFont typeface="Calibri"/>
              <a:buNone/>
            </a:pPr>
            <a:r>
              <a:rPr b="1" i="0" lang="en-US" sz="1500" u="none" cap="none" strike="noStrike">
                <a:solidFill>
                  <a:srgbClr val="1E3A5F"/>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167" name="Google Shape;167;p7"/>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Routes all 14 commands to the right sub-skill or agent set</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Runs the flagship 3-phase prospect flow: discovery, parallel analysis, synthesis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Detects business context (SaaS, Agency, Ecommerce, Enterprise, SMB, Startup) before analysis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Enforces output standards: actionable, personalized, evidence-based</a:t>
            </a:r>
            <a:endParaRPr b="0" i="0" sz="1350" u="none" cap="none" strike="noStrike">
              <a:solidFill>
                <a:schemeClr val="dk1"/>
              </a:solidFill>
              <a:latin typeface="Calibri"/>
              <a:ea typeface="Calibri"/>
              <a:cs typeface="Calibri"/>
              <a:sym typeface="Calibri"/>
            </a:endParaRPr>
          </a:p>
        </p:txBody>
      </p:sp>
      <p:sp>
        <p:nvSpPr>
          <p:cNvPr id="168" name="Google Shape;168;p7"/>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The manager who assembles the team on every run and turns raw commands into coordinated work.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74" name="Shape 174"/>
        <p:cNvGrpSpPr/>
        <p:nvPr/>
      </p:nvGrpSpPr>
      <p:grpSpPr>
        <a:xfrm>
          <a:off x="0" y="0"/>
          <a:ext cx="0" cy="0"/>
          <a:chOff x="0" y="0"/>
          <a:chExt cx="0" cy="0"/>
        </a:xfrm>
      </p:grpSpPr>
      <p:sp>
        <p:nvSpPr>
          <p:cNvPr id="175" name="Google Shape;175;p8"/>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SPECIALISTS</a:t>
            </a:r>
            <a:endParaRPr b="0" i="0" sz="1200" u="none" cap="none" strike="noStrike">
              <a:solidFill>
                <a:schemeClr val="dk1"/>
              </a:solidFill>
              <a:latin typeface="Calibri"/>
              <a:ea typeface="Calibri"/>
              <a:cs typeface="Calibri"/>
              <a:sym typeface="Calibri"/>
            </a:endParaRPr>
          </a:p>
        </p:txBody>
      </p:sp>
      <p:sp>
        <p:nvSpPr>
          <p:cNvPr id="176" name="Google Shape;176;p8"/>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Marcus Chen, Market Research Analyst</a:t>
            </a:r>
            <a:endParaRPr b="0" i="0" sz="2700" u="none" cap="none" strike="noStrike">
              <a:solidFill>
                <a:schemeClr val="dk1"/>
              </a:solidFill>
              <a:latin typeface="Calibri"/>
              <a:ea typeface="Calibri"/>
              <a:cs typeface="Calibri"/>
              <a:sym typeface="Calibri"/>
            </a:endParaRPr>
          </a:p>
        </p:txBody>
      </p:sp>
      <p:sp>
        <p:nvSpPr>
          <p:cNvPr id="177" name="Google Shape;177;p8"/>
          <p:cNvSpPr/>
          <p:nvPr/>
        </p:nvSpPr>
        <p:spPr>
          <a:xfrm>
            <a:off x="548640" y="1600200"/>
            <a:ext cx="3200400" cy="4480560"/>
          </a:xfrm>
          <a:prstGeom prst="roundRect">
            <a:avLst>
              <a:gd fmla="val 2286"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1316736" y="1911096"/>
            <a:ext cx="1664208" cy="1664208"/>
          </a:xfrm>
          <a:prstGeom prst="ellipse">
            <a:avLst/>
          </a:prstGeom>
          <a:solidFill>
            <a:srgbClr val="E2EAF2"/>
          </a:solidFill>
          <a:ln cap="flat" cmpd="sng" w="254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1371600" y="1965960"/>
            <a:ext cx="1554480" cy="155448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0" name="Google Shape;180;p8"/>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181" name="Google Shape;181;p8"/>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Marcus Chen</a:t>
            </a:r>
            <a:endParaRPr b="0" i="0" sz="1900" u="none" cap="none" strike="noStrike">
              <a:solidFill>
                <a:schemeClr val="dk1"/>
              </a:solidFill>
              <a:latin typeface="Calibri"/>
              <a:ea typeface="Calibri"/>
              <a:cs typeface="Calibri"/>
              <a:sym typeface="Calibri"/>
            </a:endParaRPr>
          </a:p>
        </p:txBody>
      </p:sp>
      <p:sp>
        <p:nvSpPr>
          <p:cNvPr id="182" name="Google Shape;182;p8"/>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Market Research Analyst</a:t>
            </a:r>
            <a:endParaRPr b="0" i="0" sz="1250" u="none" cap="none" strike="noStrike">
              <a:solidFill>
                <a:schemeClr val="dk1"/>
              </a:solidFill>
              <a:latin typeface="Calibri"/>
              <a:ea typeface="Calibri"/>
              <a:cs typeface="Calibri"/>
              <a:sym typeface="Calibri"/>
            </a:endParaRPr>
          </a:p>
        </p:txBody>
      </p:sp>
      <p:sp>
        <p:nvSpPr>
          <p:cNvPr id="183" name="Google Shape;183;p8"/>
          <p:cNvSpPr/>
          <p:nvPr/>
        </p:nvSpPr>
        <p:spPr>
          <a:xfrm>
            <a:off x="914400" y="4480560"/>
            <a:ext cx="2468880" cy="411480"/>
          </a:xfrm>
          <a:prstGeom prst="roundRect">
            <a:avLst>
              <a:gd fmla="val 13333" name="adj"/>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Company Fit 25%</a:t>
            </a:r>
            <a:endParaRPr b="0" i="0" sz="1300" u="none" cap="none" strike="noStrike">
              <a:solidFill>
                <a:schemeClr val="dk1"/>
              </a:solidFill>
              <a:latin typeface="Calibri"/>
              <a:ea typeface="Calibri"/>
              <a:cs typeface="Calibri"/>
              <a:sym typeface="Calibri"/>
            </a:endParaRPr>
          </a:p>
        </p:txBody>
      </p:sp>
      <p:sp>
        <p:nvSpPr>
          <p:cNvPr id="185" name="Google Shape;185;p8"/>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sales-company agent</a:t>
            </a:r>
            <a:endParaRPr b="0" i="0" sz="1050" u="none" cap="none" strike="noStrike">
              <a:solidFill>
                <a:schemeClr val="dk1"/>
              </a:solidFill>
              <a:latin typeface="Calibri"/>
              <a:ea typeface="Calibri"/>
              <a:cs typeface="Calibri"/>
              <a:sym typeface="Calibri"/>
            </a:endParaRPr>
          </a:p>
        </p:txBody>
      </p:sp>
      <p:sp>
        <p:nvSpPr>
          <p:cNvPr id="186" name="Google Shape;186;p8"/>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2E5E8C"/>
                </a:solidFill>
                <a:latin typeface="Courier New"/>
                <a:ea typeface="Courier New"/>
                <a:cs typeface="Courier New"/>
                <a:sym typeface="Courier New"/>
              </a:rPr>
              <a:t>agents/sales-company.md</a:t>
            </a:r>
            <a:endParaRPr b="0" i="0" sz="1050" u="none" cap="none" strike="noStrike">
              <a:solidFill>
                <a:schemeClr val="dk1"/>
              </a:solidFill>
              <a:latin typeface="Calibri"/>
              <a:ea typeface="Calibri"/>
              <a:cs typeface="Calibri"/>
              <a:sym typeface="Calibri"/>
            </a:endParaRPr>
          </a:p>
        </p:txBody>
      </p:sp>
      <p:sp>
        <p:nvSpPr>
          <p:cNvPr id="187" name="Google Shape;187;p8"/>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500"/>
              <a:buFont typeface="Calibri"/>
              <a:buNone/>
            </a:pPr>
            <a:r>
              <a:rPr b="1" i="0" lang="en-US" sz="1500" u="none" cap="none" strike="noStrike">
                <a:solidFill>
                  <a:srgbClr val="2E5E8C"/>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188" name="Google Shape;188;p8"/>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Gathers firmographics: size, industry, stage, location</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Reads growth signals, tech stack, and budget indicators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Pulls REAL data from the web, never guesses or fabricates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Feeds the largest single weight in the score</a:t>
            </a:r>
            <a:endParaRPr b="0" i="0" sz="1350" u="none" cap="none" strike="noStrike">
              <a:solidFill>
                <a:schemeClr val="dk1"/>
              </a:solidFill>
              <a:latin typeface="Calibri"/>
              <a:ea typeface="Calibri"/>
              <a:cs typeface="Calibri"/>
              <a:sym typeface="Calibri"/>
            </a:endParaRPr>
          </a:p>
        </p:txBody>
      </p:sp>
      <p:sp>
        <p:nvSpPr>
          <p:cNvPr id="189" name="Google Shape;189;p8"/>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Answers the first question any rep asks: is this even the right kind of company to chase.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5" name="Shape 195"/>
        <p:cNvGrpSpPr/>
        <p:nvPr/>
      </p:nvGrpSpPr>
      <p:grpSpPr>
        <a:xfrm>
          <a:off x="0" y="0"/>
          <a:ext cx="0" cy="0"/>
          <a:chOff x="0" y="0"/>
          <a:chExt cx="0" cy="0"/>
        </a:xfrm>
      </p:grpSpPr>
      <p:sp>
        <p:nvSpPr>
          <p:cNvPr id="196" name="Google Shape;196;p9"/>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SPECIALISTS</a:t>
            </a:r>
            <a:endParaRPr b="0" i="0" sz="1200" u="none" cap="none" strike="noStrike">
              <a:solidFill>
                <a:schemeClr val="dk1"/>
              </a:solidFill>
              <a:latin typeface="Calibri"/>
              <a:ea typeface="Calibri"/>
              <a:cs typeface="Calibri"/>
              <a:sym typeface="Calibri"/>
            </a:endParaRPr>
          </a:p>
        </p:txBody>
      </p:sp>
      <p:sp>
        <p:nvSpPr>
          <p:cNvPr id="197" name="Google Shape;197;p9"/>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Priya Nair, Business Development Rep</a:t>
            </a:r>
            <a:endParaRPr b="0" i="0" sz="2700" u="none" cap="none" strike="noStrike">
              <a:solidFill>
                <a:schemeClr val="dk1"/>
              </a:solidFill>
              <a:latin typeface="Calibri"/>
              <a:ea typeface="Calibri"/>
              <a:cs typeface="Calibri"/>
              <a:sym typeface="Calibri"/>
            </a:endParaRPr>
          </a:p>
        </p:txBody>
      </p:sp>
      <p:sp>
        <p:nvSpPr>
          <p:cNvPr id="198" name="Google Shape;198;p9"/>
          <p:cNvSpPr/>
          <p:nvPr/>
        </p:nvSpPr>
        <p:spPr>
          <a:xfrm>
            <a:off x="548640" y="1600200"/>
            <a:ext cx="3200400" cy="4480560"/>
          </a:xfrm>
          <a:prstGeom prst="roundRect">
            <a:avLst>
              <a:gd fmla="val 2286" name="adj"/>
            </a:avLst>
          </a:prstGeom>
          <a:solidFill>
            <a:srgbClr val="DEEDE6"/>
          </a:solidFill>
          <a:ln cap="flat" cmpd="sng" w="12700">
            <a:solidFill>
              <a:srgbClr val="DEEDE6"/>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1316736" y="1911096"/>
            <a:ext cx="1664208" cy="1664208"/>
          </a:xfrm>
          <a:prstGeom prst="ellipse">
            <a:avLst/>
          </a:prstGeom>
          <a:solidFill>
            <a:srgbClr val="DEEDE6"/>
          </a:solidFill>
          <a:ln cap="flat" cmpd="sng" w="254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1371600" y="1965960"/>
            <a:ext cx="1554480" cy="1554480"/>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1" name="Google Shape;201;p9"/>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202" name="Google Shape;202;p9"/>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Priya Nair</a:t>
            </a:r>
            <a:endParaRPr b="0" i="0" sz="1900" u="none" cap="none" strike="noStrike">
              <a:solidFill>
                <a:schemeClr val="dk1"/>
              </a:solidFill>
              <a:latin typeface="Calibri"/>
              <a:ea typeface="Calibri"/>
              <a:cs typeface="Calibri"/>
              <a:sym typeface="Calibri"/>
            </a:endParaRPr>
          </a:p>
        </p:txBody>
      </p:sp>
      <p:sp>
        <p:nvSpPr>
          <p:cNvPr id="203" name="Google Shape;203;p9"/>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Business Development Rep</a:t>
            </a:r>
            <a:endParaRPr b="0" i="0" sz="1250" u="none" cap="none" strike="noStrike">
              <a:solidFill>
                <a:schemeClr val="dk1"/>
              </a:solidFill>
              <a:latin typeface="Calibri"/>
              <a:ea typeface="Calibri"/>
              <a:cs typeface="Calibri"/>
              <a:sym typeface="Calibri"/>
            </a:endParaRPr>
          </a:p>
        </p:txBody>
      </p:sp>
      <p:sp>
        <p:nvSpPr>
          <p:cNvPr id="204" name="Google Shape;204;p9"/>
          <p:cNvSpPr/>
          <p:nvPr/>
        </p:nvSpPr>
        <p:spPr>
          <a:xfrm>
            <a:off x="914400" y="4480560"/>
            <a:ext cx="2468880" cy="411480"/>
          </a:xfrm>
          <a:prstGeom prst="roundRect">
            <a:avLst>
              <a:gd fmla="val 13333" name="adj"/>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Contact Access 20%</a:t>
            </a:r>
            <a:endParaRPr b="0" i="0" sz="1300" u="none" cap="none" strike="noStrike">
              <a:solidFill>
                <a:schemeClr val="dk1"/>
              </a:solidFill>
              <a:latin typeface="Calibri"/>
              <a:ea typeface="Calibri"/>
              <a:cs typeface="Calibri"/>
              <a:sym typeface="Calibri"/>
            </a:endParaRPr>
          </a:p>
        </p:txBody>
      </p:sp>
      <p:sp>
        <p:nvSpPr>
          <p:cNvPr id="206" name="Google Shape;206;p9"/>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sales-contacts agent</a:t>
            </a:r>
            <a:endParaRPr b="0" i="0" sz="1050" u="none" cap="none" strike="noStrike">
              <a:solidFill>
                <a:schemeClr val="dk1"/>
              </a:solidFill>
              <a:latin typeface="Calibri"/>
              <a:ea typeface="Calibri"/>
              <a:cs typeface="Calibri"/>
              <a:sym typeface="Calibri"/>
            </a:endParaRPr>
          </a:p>
        </p:txBody>
      </p:sp>
      <p:sp>
        <p:nvSpPr>
          <p:cNvPr id="207" name="Google Shape;207;p9"/>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3F8F6B"/>
                </a:solidFill>
                <a:latin typeface="Courier New"/>
                <a:ea typeface="Courier New"/>
                <a:cs typeface="Courier New"/>
                <a:sym typeface="Courier New"/>
              </a:rPr>
              <a:t>agents/sales-contacts.md</a:t>
            </a:r>
            <a:endParaRPr b="0" i="0" sz="1050" u="none" cap="none" strike="noStrike">
              <a:solidFill>
                <a:schemeClr val="dk1"/>
              </a:solidFill>
              <a:latin typeface="Calibri"/>
              <a:ea typeface="Calibri"/>
              <a:cs typeface="Calibri"/>
              <a:sym typeface="Calibri"/>
            </a:endParaRPr>
          </a:p>
        </p:txBody>
      </p:sp>
      <p:sp>
        <p:nvSpPr>
          <p:cNvPr id="208" name="Google Shape;208;p9"/>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8F6B"/>
              </a:buClr>
              <a:buSzPts val="1500"/>
              <a:buFont typeface="Calibri"/>
              <a:buNone/>
            </a:pPr>
            <a:r>
              <a:rPr b="1" i="0" lang="en-US" sz="1500" u="none" cap="none" strike="noStrike">
                <a:solidFill>
                  <a:srgbClr val="3F8F6B"/>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209" name="Google Shape;209;p9"/>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Maps the buying committee and identifies decision makers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Finds warm paths and multi-threading opportunities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Collects a personalization anchor for each contact</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Determines whether outreach can actually land</a:t>
            </a:r>
            <a:endParaRPr b="0" i="0" sz="1350" u="none" cap="none" strike="noStrike">
              <a:solidFill>
                <a:schemeClr val="dk1"/>
              </a:solidFill>
              <a:latin typeface="Calibri"/>
              <a:ea typeface="Calibri"/>
              <a:cs typeface="Calibri"/>
              <a:sym typeface="Calibri"/>
            </a:endParaRPr>
          </a:p>
        </p:txBody>
      </p:sp>
      <p:sp>
        <p:nvSpPr>
          <p:cNvPr id="210" name="Google Shape;210;p9"/>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Turns a company into named people you can actually reach, with a reason to reach each one.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6" name="Shape 216"/>
        <p:cNvGrpSpPr/>
        <p:nvPr/>
      </p:nvGrpSpPr>
      <p:grpSpPr>
        <a:xfrm>
          <a:off x="0" y="0"/>
          <a:ext cx="0" cy="0"/>
          <a:chOff x="0" y="0"/>
          <a:chExt cx="0" cy="0"/>
        </a:xfrm>
      </p:grpSpPr>
      <p:sp>
        <p:nvSpPr>
          <p:cNvPr id="217" name="Google Shape;217;p10"/>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SPECIALISTS</a:t>
            </a:r>
            <a:endParaRPr b="0" i="0" sz="1200" u="none" cap="none" strike="noStrike">
              <a:solidFill>
                <a:schemeClr val="dk1"/>
              </a:solidFill>
              <a:latin typeface="Calibri"/>
              <a:ea typeface="Calibri"/>
              <a:cs typeface="Calibri"/>
              <a:sym typeface="Calibri"/>
            </a:endParaRPr>
          </a:p>
        </p:txBody>
      </p:sp>
      <p:sp>
        <p:nvSpPr>
          <p:cNvPr id="218" name="Google Shape;218;p10"/>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Diego Alvarez, Lead Qualification Specialist</a:t>
            </a:r>
            <a:endParaRPr b="0" i="0" sz="2700" u="none" cap="none" strike="noStrike">
              <a:solidFill>
                <a:schemeClr val="dk1"/>
              </a:solidFill>
              <a:latin typeface="Calibri"/>
              <a:ea typeface="Calibri"/>
              <a:cs typeface="Calibri"/>
              <a:sym typeface="Calibri"/>
            </a:endParaRPr>
          </a:p>
        </p:txBody>
      </p:sp>
      <p:sp>
        <p:nvSpPr>
          <p:cNvPr id="219" name="Google Shape;219;p10"/>
          <p:cNvSpPr/>
          <p:nvPr/>
        </p:nvSpPr>
        <p:spPr>
          <a:xfrm>
            <a:off x="548640" y="1600200"/>
            <a:ext cx="3200400" cy="4480560"/>
          </a:xfrm>
          <a:prstGeom prst="roundRect">
            <a:avLst>
              <a:gd fmla="val 2286" name="adj"/>
            </a:avLst>
          </a:prstGeom>
          <a:solidFill>
            <a:srgbClr val="F7EBD5"/>
          </a:solidFill>
          <a:ln cap="flat" cmpd="sng" w="12700">
            <a:solidFill>
              <a:srgbClr val="F7EBD5"/>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1316736" y="1911096"/>
            <a:ext cx="1664208" cy="1664208"/>
          </a:xfrm>
          <a:prstGeom prst="ellipse">
            <a:avLst/>
          </a:prstGeom>
          <a:solidFill>
            <a:srgbClr val="F7EBD5"/>
          </a:solidFill>
          <a:ln cap="flat" cmpd="sng" w="25400">
            <a:solidFill>
              <a:srgbClr val="C08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1371600" y="1965960"/>
            <a:ext cx="1554480" cy="1554480"/>
          </a:xfrm>
          <a:prstGeom prst="ellipse">
            <a:avLst/>
          </a:prstGeom>
          <a:solidFill>
            <a:srgbClr val="C08829"/>
          </a:solidFill>
          <a:ln cap="flat" cmpd="sng" w="12700">
            <a:solidFill>
              <a:srgbClr val="C08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2" name="Google Shape;222;p10"/>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223" name="Google Shape;223;p10"/>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Diego Alvarez</a:t>
            </a:r>
            <a:endParaRPr b="0" i="0" sz="1900" u="none" cap="none" strike="noStrike">
              <a:solidFill>
                <a:schemeClr val="dk1"/>
              </a:solidFill>
              <a:latin typeface="Calibri"/>
              <a:ea typeface="Calibri"/>
              <a:cs typeface="Calibri"/>
              <a:sym typeface="Calibri"/>
            </a:endParaRPr>
          </a:p>
        </p:txBody>
      </p:sp>
      <p:sp>
        <p:nvSpPr>
          <p:cNvPr id="224" name="Google Shape;224;p10"/>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Lead Qualification Specialist</a:t>
            </a:r>
            <a:endParaRPr b="0" i="0" sz="1250" u="none" cap="none" strike="noStrike">
              <a:solidFill>
                <a:schemeClr val="dk1"/>
              </a:solidFill>
              <a:latin typeface="Calibri"/>
              <a:ea typeface="Calibri"/>
              <a:cs typeface="Calibri"/>
              <a:sym typeface="Calibri"/>
            </a:endParaRPr>
          </a:p>
        </p:txBody>
      </p:sp>
      <p:sp>
        <p:nvSpPr>
          <p:cNvPr id="225" name="Google Shape;225;p10"/>
          <p:cNvSpPr/>
          <p:nvPr/>
        </p:nvSpPr>
        <p:spPr>
          <a:xfrm>
            <a:off x="914400" y="4480560"/>
            <a:ext cx="2468880" cy="411480"/>
          </a:xfrm>
          <a:prstGeom prst="roundRect">
            <a:avLst>
              <a:gd fmla="val 13333" name="adj"/>
            </a:avLst>
          </a:prstGeom>
          <a:solidFill>
            <a:srgbClr val="C08829"/>
          </a:solidFill>
          <a:ln cap="flat" cmpd="sng" w="12700">
            <a:solidFill>
              <a:srgbClr val="C0882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Opportunity Quality 20%</a:t>
            </a:r>
            <a:endParaRPr b="0" i="0" sz="1300" u="none" cap="none" strike="noStrike">
              <a:solidFill>
                <a:schemeClr val="dk1"/>
              </a:solidFill>
              <a:latin typeface="Calibri"/>
              <a:ea typeface="Calibri"/>
              <a:cs typeface="Calibri"/>
              <a:sym typeface="Calibri"/>
            </a:endParaRPr>
          </a:p>
        </p:txBody>
      </p:sp>
      <p:sp>
        <p:nvSpPr>
          <p:cNvPr id="227" name="Google Shape;227;p10"/>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sales-opportunity agent</a:t>
            </a:r>
            <a:endParaRPr b="0" i="0" sz="1050" u="none" cap="none" strike="noStrike">
              <a:solidFill>
                <a:schemeClr val="dk1"/>
              </a:solidFill>
              <a:latin typeface="Calibri"/>
              <a:ea typeface="Calibri"/>
              <a:cs typeface="Calibri"/>
              <a:sym typeface="Calibri"/>
            </a:endParaRPr>
          </a:p>
        </p:txBody>
      </p:sp>
      <p:sp>
        <p:nvSpPr>
          <p:cNvPr id="228" name="Google Shape;228;p10"/>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C08829"/>
                </a:solidFill>
                <a:latin typeface="Courier New"/>
                <a:ea typeface="Courier New"/>
                <a:cs typeface="Courier New"/>
                <a:sym typeface="Courier New"/>
              </a:rPr>
              <a:t>agents/sales-opportunity.md</a:t>
            </a:r>
            <a:endParaRPr b="0" i="0" sz="1050" u="none" cap="none" strike="noStrike">
              <a:solidFill>
                <a:schemeClr val="dk1"/>
              </a:solidFill>
              <a:latin typeface="Calibri"/>
              <a:ea typeface="Calibri"/>
              <a:cs typeface="Calibri"/>
              <a:sym typeface="Calibri"/>
            </a:endParaRPr>
          </a:p>
        </p:txBody>
      </p:sp>
      <p:sp>
        <p:nvSpPr>
          <p:cNvPr id="229" name="Google Shape;229;p10"/>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8829"/>
              </a:buClr>
              <a:buSzPts val="1500"/>
              <a:buFont typeface="Calibri"/>
              <a:buNone/>
            </a:pPr>
            <a:r>
              <a:rPr b="1" i="0" lang="en-US" sz="1500" u="none" cap="none" strike="noStrike">
                <a:solidFill>
                  <a:srgbClr val="C08829"/>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230" name="Google Shape;230;p10"/>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Runs BANT on public signals: Budget, Authority, Need, Timeline</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Assesses MEDDIC dimensions for deal realism</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Classifies every signal Strong, Moderate, Weak, or Absent with evidence</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Pairs with lead_scorer.py, each dimension scored 0 to 25</a:t>
            </a:r>
            <a:endParaRPr b="0" i="0" sz="1350" u="none" cap="none" strike="noStrike">
              <a:solidFill>
                <a:schemeClr val="dk1"/>
              </a:solidFill>
              <a:latin typeface="Calibri"/>
              <a:ea typeface="Calibri"/>
              <a:cs typeface="Calibri"/>
              <a:sym typeface="Calibri"/>
            </a:endParaRPr>
          </a:p>
        </p:txBody>
      </p:sp>
      <p:sp>
        <p:nvSpPr>
          <p:cNvPr id="231" name="Google Shape;231;p10"/>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Separates a good-looking company from a real, winnable deal using a proven framework.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7" name="Shape 237"/>
        <p:cNvGrpSpPr/>
        <p:nvPr/>
      </p:nvGrpSpPr>
      <p:grpSpPr>
        <a:xfrm>
          <a:off x="0" y="0"/>
          <a:ext cx="0" cy="0"/>
          <a:chOff x="0" y="0"/>
          <a:chExt cx="0" cy="0"/>
        </a:xfrm>
      </p:grpSpPr>
      <p:sp>
        <p:nvSpPr>
          <p:cNvPr id="238" name="Google Shape;238;p11"/>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SPECIALISTS</a:t>
            </a:r>
            <a:endParaRPr b="0" i="0" sz="1200" u="none" cap="none" strike="noStrike">
              <a:solidFill>
                <a:schemeClr val="dk1"/>
              </a:solidFill>
              <a:latin typeface="Calibri"/>
              <a:ea typeface="Calibri"/>
              <a:cs typeface="Calibri"/>
              <a:sym typeface="Calibri"/>
            </a:endParaRPr>
          </a:p>
        </p:txBody>
      </p:sp>
      <p:sp>
        <p:nvSpPr>
          <p:cNvPr id="239" name="Google Shape;239;p11"/>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Sofia Rossi, Competitive Intelligence Lead</a:t>
            </a:r>
            <a:endParaRPr b="0" i="0" sz="2700" u="none" cap="none" strike="noStrike">
              <a:solidFill>
                <a:schemeClr val="dk1"/>
              </a:solidFill>
              <a:latin typeface="Calibri"/>
              <a:ea typeface="Calibri"/>
              <a:cs typeface="Calibri"/>
              <a:sym typeface="Calibri"/>
            </a:endParaRPr>
          </a:p>
        </p:txBody>
      </p:sp>
      <p:sp>
        <p:nvSpPr>
          <p:cNvPr id="240" name="Google Shape;240;p11"/>
          <p:cNvSpPr/>
          <p:nvPr/>
        </p:nvSpPr>
        <p:spPr>
          <a:xfrm>
            <a:off x="548640" y="1600200"/>
            <a:ext cx="3200400" cy="4480560"/>
          </a:xfrm>
          <a:prstGeom prst="roundRect">
            <a:avLst>
              <a:gd fmla="val 2286" name="adj"/>
            </a:avLst>
          </a:prstGeom>
          <a:solidFill>
            <a:srgbClr val="EBE3EE"/>
          </a:solidFill>
          <a:ln cap="flat" cmpd="sng" w="12700">
            <a:solidFill>
              <a:srgbClr val="EBE3E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1316736" y="1911096"/>
            <a:ext cx="1664208" cy="1664208"/>
          </a:xfrm>
          <a:prstGeom prst="ellipse">
            <a:avLst/>
          </a:prstGeom>
          <a:solidFill>
            <a:srgbClr val="EBE3EE"/>
          </a:solidFill>
          <a:ln cap="flat" cmpd="sng" w="25400">
            <a:solidFill>
              <a:srgbClr val="7E5A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1371600" y="1965960"/>
            <a:ext cx="1554480" cy="1554480"/>
          </a:xfrm>
          <a:prstGeom prst="ellipse">
            <a:avLst/>
          </a:prstGeom>
          <a:solidFill>
            <a:srgbClr val="7E5A86"/>
          </a:solidFill>
          <a:ln cap="flat" cmpd="sng" w="12700">
            <a:solidFill>
              <a:srgbClr val="7E5A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3" name="Google Shape;243;p11"/>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244" name="Google Shape;244;p11"/>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Sofia Rossi</a:t>
            </a:r>
            <a:endParaRPr b="0" i="0" sz="1900" u="none" cap="none" strike="noStrike">
              <a:solidFill>
                <a:schemeClr val="dk1"/>
              </a:solidFill>
              <a:latin typeface="Calibri"/>
              <a:ea typeface="Calibri"/>
              <a:cs typeface="Calibri"/>
              <a:sym typeface="Calibri"/>
            </a:endParaRPr>
          </a:p>
        </p:txBody>
      </p:sp>
      <p:sp>
        <p:nvSpPr>
          <p:cNvPr id="245" name="Google Shape;245;p11"/>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Competitive Intelligence Lead</a:t>
            </a:r>
            <a:endParaRPr b="0" i="0" sz="1250" u="none" cap="none" strike="noStrike">
              <a:solidFill>
                <a:schemeClr val="dk1"/>
              </a:solidFill>
              <a:latin typeface="Calibri"/>
              <a:ea typeface="Calibri"/>
              <a:cs typeface="Calibri"/>
              <a:sym typeface="Calibri"/>
            </a:endParaRPr>
          </a:p>
        </p:txBody>
      </p:sp>
      <p:sp>
        <p:nvSpPr>
          <p:cNvPr id="246" name="Google Shape;246;p11"/>
          <p:cNvSpPr/>
          <p:nvPr/>
        </p:nvSpPr>
        <p:spPr>
          <a:xfrm>
            <a:off x="914400" y="4480560"/>
            <a:ext cx="2468880" cy="411480"/>
          </a:xfrm>
          <a:prstGeom prst="roundRect">
            <a:avLst>
              <a:gd fmla="val 13333" name="adj"/>
            </a:avLst>
          </a:prstGeom>
          <a:solidFill>
            <a:srgbClr val="7E5A86"/>
          </a:solidFill>
          <a:ln cap="flat" cmpd="sng" w="12700">
            <a:solidFill>
              <a:srgbClr val="7E5A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Competitive Position 15%</a:t>
            </a:r>
            <a:endParaRPr b="0" i="0" sz="1300" u="none" cap="none" strike="noStrike">
              <a:solidFill>
                <a:schemeClr val="dk1"/>
              </a:solidFill>
              <a:latin typeface="Calibri"/>
              <a:ea typeface="Calibri"/>
              <a:cs typeface="Calibri"/>
              <a:sym typeface="Calibri"/>
            </a:endParaRPr>
          </a:p>
        </p:txBody>
      </p:sp>
      <p:sp>
        <p:nvSpPr>
          <p:cNvPr id="248" name="Google Shape;248;p11"/>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sales-competitive agent</a:t>
            </a:r>
            <a:endParaRPr b="0" i="0" sz="1050" u="none" cap="none" strike="noStrike">
              <a:solidFill>
                <a:schemeClr val="dk1"/>
              </a:solidFill>
              <a:latin typeface="Calibri"/>
              <a:ea typeface="Calibri"/>
              <a:cs typeface="Calibri"/>
              <a:sym typeface="Calibri"/>
            </a:endParaRPr>
          </a:p>
        </p:txBody>
      </p:sp>
      <p:sp>
        <p:nvSpPr>
          <p:cNvPr id="249" name="Google Shape;249;p11"/>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7E5A86"/>
                </a:solidFill>
                <a:latin typeface="Courier New"/>
                <a:ea typeface="Courier New"/>
                <a:cs typeface="Courier New"/>
                <a:sym typeface="Courier New"/>
              </a:rPr>
              <a:t>agents/sales-competitive.md</a:t>
            </a:r>
            <a:endParaRPr b="0" i="0" sz="1050" u="none" cap="none" strike="noStrike">
              <a:solidFill>
                <a:schemeClr val="dk1"/>
              </a:solidFill>
              <a:latin typeface="Calibri"/>
              <a:ea typeface="Calibri"/>
              <a:cs typeface="Calibri"/>
              <a:sym typeface="Calibri"/>
            </a:endParaRPr>
          </a:p>
        </p:txBody>
      </p:sp>
      <p:sp>
        <p:nvSpPr>
          <p:cNvPr id="250" name="Google Shape;250;p11"/>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E5A86"/>
              </a:buClr>
              <a:buSzPts val="1500"/>
              <a:buFont typeface="Calibri"/>
              <a:buNone/>
            </a:pPr>
            <a:r>
              <a:rPr b="1" i="0" lang="en-US" sz="1500" u="none" cap="none" strike="noStrike">
                <a:solidFill>
                  <a:srgbClr val="7E5A86"/>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251" name="Google Shape;251;p11"/>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Maps the prospect's current solution landscape</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Estimates switching costs and incumbent entrenchment</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Finds exploitable gaps to position against</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Gives the team a clear angle for what it is displacing</a:t>
            </a:r>
            <a:endParaRPr b="0" i="0" sz="1350" u="none" cap="none" strike="noStrike">
              <a:solidFill>
                <a:schemeClr val="dk1"/>
              </a:solidFill>
              <a:latin typeface="Calibri"/>
              <a:ea typeface="Calibri"/>
              <a:cs typeface="Calibri"/>
              <a:sym typeface="Calibri"/>
            </a:endParaRPr>
          </a:p>
        </p:txBody>
      </p:sp>
      <p:sp>
        <p:nvSpPr>
          <p:cNvPr id="252" name="Google Shape;252;p11"/>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Makes sure the team walks in knowing exactly what it is up against and how to win.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8" name="Shape 258"/>
        <p:cNvGrpSpPr/>
        <p:nvPr/>
      </p:nvGrpSpPr>
      <p:grpSpPr>
        <a:xfrm>
          <a:off x="0" y="0"/>
          <a:ext cx="0" cy="0"/>
          <a:chOff x="0" y="0"/>
          <a:chExt cx="0" cy="0"/>
        </a:xfrm>
      </p:grpSpPr>
      <p:sp>
        <p:nvSpPr>
          <p:cNvPr id="259" name="Google Shape;259;p12"/>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SPECIALISTS</a:t>
            </a:r>
            <a:endParaRPr b="0" i="0" sz="1200" u="none" cap="none" strike="noStrike">
              <a:solidFill>
                <a:schemeClr val="dk1"/>
              </a:solidFill>
              <a:latin typeface="Calibri"/>
              <a:ea typeface="Calibri"/>
              <a:cs typeface="Calibri"/>
              <a:sym typeface="Calibri"/>
            </a:endParaRPr>
          </a:p>
        </p:txBody>
      </p:sp>
      <p:sp>
        <p:nvSpPr>
          <p:cNvPr id="260" name="Google Shape;260;p12"/>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Jordan Blake, Outreach Strategist</a:t>
            </a:r>
            <a:endParaRPr b="0" i="0" sz="2700" u="none" cap="none" strike="noStrike">
              <a:solidFill>
                <a:schemeClr val="dk1"/>
              </a:solidFill>
              <a:latin typeface="Calibri"/>
              <a:ea typeface="Calibri"/>
              <a:cs typeface="Calibri"/>
              <a:sym typeface="Calibri"/>
            </a:endParaRPr>
          </a:p>
        </p:txBody>
      </p:sp>
      <p:sp>
        <p:nvSpPr>
          <p:cNvPr id="261" name="Google Shape;261;p12"/>
          <p:cNvSpPr/>
          <p:nvPr/>
        </p:nvSpPr>
        <p:spPr>
          <a:xfrm>
            <a:off x="548640" y="1600200"/>
            <a:ext cx="3200400" cy="4480560"/>
          </a:xfrm>
          <a:prstGeom prst="roundRect">
            <a:avLst>
              <a:gd fmla="val 2286" name="adj"/>
            </a:avLst>
          </a:prstGeom>
          <a:solidFill>
            <a:srgbClr val="F5E4D8"/>
          </a:solidFill>
          <a:ln cap="flat" cmpd="sng" w="12700">
            <a:solidFill>
              <a:srgbClr val="F5E4D8"/>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p:nvPr/>
        </p:nvSpPr>
        <p:spPr>
          <a:xfrm>
            <a:off x="1316736" y="1911096"/>
            <a:ext cx="1664208" cy="1664208"/>
          </a:xfrm>
          <a:prstGeom prst="ellipse">
            <a:avLst/>
          </a:prstGeom>
          <a:solidFill>
            <a:srgbClr val="F5E4D8"/>
          </a:solidFill>
          <a:ln cap="flat" cmpd="sng" w="25400">
            <a:solidFill>
              <a:srgbClr val="BB6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p:nvPr/>
        </p:nvSpPr>
        <p:spPr>
          <a:xfrm>
            <a:off x="1371600" y="1965960"/>
            <a:ext cx="1554480" cy="1554480"/>
          </a:xfrm>
          <a:prstGeom prst="ellipse">
            <a:avLst/>
          </a:prstGeom>
          <a:solidFill>
            <a:srgbClr val="BB6A3C"/>
          </a:solidFill>
          <a:ln cap="flat" cmpd="sng" w="12700">
            <a:solidFill>
              <a:srgbClr val="BB6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4" name="Google Shape;264;p12"/>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265" name="Google Shape;265;p12"/>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Jordan Blake</a:t>
            </a:r>
            <a:endParaRPr b="0" i="0" sz="1900" u="none" cap="none" strike="noStrike">
              <a:solidFill>
                <a:schemeClr val="dk1"/>
              </a:solidFill>
              <a:latin typeface="Calibri"/>
              <a:ea typeface="Calibri"/>
              <a:cs typeface="Calibri"/>
              <a:sym typeface="Calibri"/>
            </a:endParaRPr>
          </a:p>
        </p:txBody>
      </p:sp>
      <p:sp>
        <p:nvSpPr>
          <p:cNvPr id="266" name="Google Shape;266;p12"/>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Outreach Strategist</a:t>
            </a:r>
            <a:endParaRPr b="0" i="0" sz="1250" u="none" cap="none" strike="noStrike">
              <a:solidFill>
                <a:schemeClr val="dk1"/>
              </a:solidFill>
              <a:latin typeface="Calibri"/>
              <a:ea typeface="Calibri"/>
              <a:cs typeface="Calibri"/>
              <a:sym typeface="Calibri"/>
            </a:endParaRPr>
          </a:p>
        </p:txBody>
      </p:sp>
      <p:sp>
        <p:nvSpPr>
          <p:cNvPr id="267" name="Google Shape;267;p12"/>
          <p:cNvSpPr/>
          <p:nvPr/>
        </p:nvSpPr>
        <p:spPr>
          <a:xfrm>
            <a:off x="914400" y="4480560"/>
            <a:ext cx="2468880" cy="411480"/>
          </a:xfrm>
          <a:prstGeom prst="roundRect">
            <a:avLst>
              <a:gd fmla="val 13333" name="adj"/>
            </a:avLst>
          </a:prstGeom>
          <a:solidFill>
            <a:srgbClr val="BB6A3C"/>
          </a:solidFill>
          <a:ln cap="flat" cmpd="sng" w="12700">
            <a:solidFill>
              <a:srgbClr val="BB6A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Outreach Readiness 20%</a:t>
            </a:r>
            <a:endParaRPr b="0" i="0" sz="1300" u="none" cap="none" strike="noStrike">
              <a:solidFill>
                <a:schemeClr val="dk1"/>
              </a:solidFill>
              <a:latin typeface="Calibri"/>
              <a:ea typeface="Calibri"/>
              <a:cs typeface="Calibri"/>
              <a:sym typeface="Calibri"/>
            </a:endParaRPr>
          </a:p>
        </p:txBody>
      </p:sp>
      <p:sp>
        <p:nvSpPr>
          <p:cNvPr id="269" name="Google Shape;269;p12"/>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sales-strategy agent</a:t>
            </a:r>
            <a:endParaRPr b="0" i="0" sz="1050" u="none" cap="none" strike="noStrike">
              <a:solidFill>
                <a:schemeClr val="dk1"/>
              </a:solidFill>
              <a:latin typeface="Calibri"/>
              <a:ea typeface="Calibri"/>
              <a:cs typeface="Calibri"/>
              <a:sym typeface="Calibri"/>
            </a:endParaRPr>
          </a:p>
        </p:txBody>
      </p:sp>
      <p:sp>
        <p:nvSpPr>
          <p:cNvPr id="270" name="Google Shape;270;p12"/>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BB6A3C"/>
                </a:solidFill>
                <a:latin typeface="Courier New"/>
                <a:ea typeface="Courier New"/>
                <a:cs typeface="Courier New"/>
                <a:sym typeface="Courier New"/>
              </a:rPr>
              <a:t>agents/sales-strategy.md</a:t>
            </a:r>
            <a:endParaRPr b="0" i="0" sz="1050" u="none" cap="none" strike="noStrike">
              <a:solidFill>
                <a:schemeClr val="dk1"/>
              </a:solidFill>
              <a:latin typeface="Calibri"/>
              <a:ea typeface="Calibri"/>
              <a:cs typeface="Calibri"/>
              <a:sym typeface="Calibri"/>
            </a:endParaRPr>
          </a:p>
        </p:txBody>
      </p:sp>
      <p:sp>
        <p:nvSpPr>
          <p:cNvPr id="271" name="Google Shape;271;p12"/>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B6A3C"/>
              </a:buClr>
              <a:buSzPts val="1500"/>
              <a:buFont typeface="Calibri"/>
              <a:buNone/>
            </a:pPr>
            <a:r>
              <a:rPr b="1" i="0" lang="en-US" sz="1500" u="none" cap="none" strike="noStrike">
                <a:solidFill>
                  <a:srgbClr val="BB6A3C"/>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272" name="Google Shape;272;p12"/>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Translates all research into an actionable outreach plan</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Chooses channel and builds the messaging framework</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Predicts objections and prepares responses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Drafts the first copy-paste-ready outreach message</a:t>
            </a:r>
            <a:endParaRPr b="0" i="0" sz="1350" u="none" cap="none" strike="noStrike">
              <a:solidFill>
                <a:schemeClr val="dk1"/>
              </a:solidFill>
              <a:latin typeface="Calibri"/>
              <a:ea typeface="Calibri"/>
              <a:cs typeface="Calibri"/>
              <a:sym typeface="Calibri"/>
            </a:endParaRPr>
          </a:p>
        </p:txBody>
      </p:sp>
      <p:sp>
        <p:nvSpPr>
          <p:cNvPr id="273" name="Google Shape;273;p12"/>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The closer of the analysis: turns everyone else's intelligence into a message ready to send.</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9" name="Shape 279"/>
        <p:cNvGrpSpPr/>
        <p:nvPr/>
      </p:nvGrpSpPr>
      <p:grpSpPr>
        <a:xfrm>
          <a:off x="0" y="0"/>
          <a:ext cx="0" cy="0"/>
          <a:chOff x="0" y="0"/>
          <a:chExt cx="0" cy="0"/>
        </a:xfrm>
      </p:grpSpPr>
      <p:sp>
        <p:nvSpPr>
          <p:cNvPr id="280" name="Google Shape;280;p13"/>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SUPPORT LAYER</a:t>
            </a:r>
            <a:endParaRPr b="0" i="0" sz="1200" u="none" cap="none" strike="noStrike">
              <a:solidFill>
                <a:schemeClr val="dk1"/>
              </a:solidFill>
              <a:latin typeface="Calibri"/>
              <a:ea typeface="Calibri"/>
              <a:cs typeface="Calibri"/>
              <a:sym typeface="Calibri"/>
            </a:endParaRPr>
          </a:p>
        </p:txBody>
      </p:sp>
      <p:sp>
        <p:nvSpPr>
          <p:cNvPr id="281" name="Google Shape;281;p13"/>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Nadia Cole, Sales Enablement Coach</a:t>
            </a:r>
            <a:endParaRPr b="0" i="0" sz="2700" u="none" cap="none" strike="noStrike">
              <a:solidFill>
                <a:schemeClr val="dk1"/>
              </a:solidFill>
              <a:latin typeface="Calibri"/>
              <a:ea typeface="Calibri"/>
              <a:cs typeface="Calibri"/>
              <a:sym typeface="Calibri"/>
            </a:endParaRPr>
          </a:p>
        </p:txBody>
      </p:sp>
      <p:sp>
        <p:nvSpPr>
          <p:cNvPr id="282" name="Google Shape;282;p13"/>
          <p:cNvSpPr/>
          <p:nvPr/>
        </p:nvSpPr>
        <p:spPr>
          <a:xfrm>
            <a:off x="548640" y="1600200"/>
            <a:ext cx="3200400" cy="4480560"/>
          </a:xfrm>
          <a:prstGeom prst="roundRect">
            <a:avLst>
              <a:gd fmla="val 2286" name="adj"/>
            </a:avLst>
          </a:prstGeom>
          <a:solidFill>
            <a:srgbClr val="F4EAD3"/>
          </a:solidFill>
          <a:ln cap="flat" cmpd="sng" w="12700">
            <a:solidFill>
              <a:srgbClr val="F4EAD3"/>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1316736" y="1911096"/>
            <a:ext cx="1664208" cy="1664208"/>
          </a:xfrm>
          <a:prstGeom prst="ellipse">
            <a:avLst/>
          </a:prstGeom>
          <a:solidFill>
            <a:srgbClr val="F4EAD3"/>
          </a:solidFill>
          <a:ln cap="flat" cmpd="sng" w="25400">
            <a:solidFill>
              <a:srgbClr val="B886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1371600" y="1965960"/>
            <a:ext cx="1554480" cy="1554480"/>
          </a:xfrm>
          <a:prstGeom prst="ellipse">
            <a:avLst/>
          </a:prstGeom>
          <a:solidFill>
            <a:srgbClr val="B8862B"/>
          </a:solidFill>
          <a:ln cap="flat" cmpd="sng" w="12700">
            <a:solidFill>
              <a:srgbClr val="B886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5" name="Google Shape;285;p13"/>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286" name="Google Shape;286;p13"/>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Nadia Cole</a:t>
            </a:r>
            <a:endParaRPr b="0" i="0" sz="1900" u="none" cap="none" strike="noStrike">
              <a:solidFill>
                <a:schemeClr val="dk1"/>
              </a:solidFill>
              <a:latin typeface="Calibri"/>
              <a:ea typeface="Calibri"/>
              <a:cs typeface="Calibri"/>
              <a:sym typeface="Calibri"/>
            </a:endParaRPr>
          </a:p>
        </p:txBody>
      </p:sp>
      <p:sp>
        <p:nvSpPr>
          <p:cNvPr id="287" name="Google Shape;287;p13"/>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Sales Enablement Coach</a:t>
            </a:r>
            <a:endParaRPr b="0" i="0" sz="1250" u="none" cap="none" strike="noStrike">
              <a:solidFill>
                <a:schemeClr val="dk1"/>
              </a:solidFill>
              <a:latin typeface="Calibri"/>
              <a:ea typeface="Calibri"/>
              <a:cs typeface="Calibri"/>
              <a:sym typeface="Calibri"/>
            </a:endParaRPr>
          </a:p>
        </p:txBody>
      </p:sp>
      <p:sp>
        <p:nvSpPr>
          <p:cNvPr id="288" name="Google Shape;288;p13"/>
          <p:cNvSpPr/>
          <p:nvPr/>
        </p:nvSpPr>
        <p:spPr>
          <a:xfrm>
            <a:off x="914400" y="4480560"/>
            <a:ext cx="2468880" cy="411480"/>
          </a:xfrm>
          <a:prstGeom prst="roundRect">
            <a:avLst>
              <a:gd fmla="val 13333" name="adj"/>
            </a:avLst>
          </a:prstGeom>
          <a:solidFill>
            <a:srgbClr val="B8862B"/>
          </a:solidFill>
          <a:ln cap="flat" cmpd="sng" w="12700">
            <a:solidFill>
              <a:srgbClr val="B886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Analysis layer</a:t>
            </a:r>
            <a:endParaRPr b="0" i="0" sz="1300" u="none" cap="none" strike="noStrike">
              <a:solidFill>
                <a:schemeClr val="dk1"/>
              </a:solidFill>
              <a:latin typeface="Calibri"/>
              <a:ea typeface="Calibri"/>
              <a:cs typeface="Calibri"/>
              <a:sym typeface="Calibri"/>
            </a:endParaRPr>
          </a:p>
        </p:txBody>
      </p:sp>
      <p:sp>
        <p:nvSpPr>
          <p:cNvPr id="290" name="Google Shape;290;p13"/>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Kajiro Prompt Optimizer Pro</a:t>
            </a:r>
            <a:endParaRPr b="0" i="0" sz="1050" u="none" cap="none" strike="noStrike">
              <a:solidFill>
                <a:schemeClr val="dk1"/>
              </a:solidFill>
              <a:latin typeface="Calibri"/>
              <a:ea typeface="Calibri"/>
              <a:cs typeface="Calibri"/>
              <a:sym typeface="Calibri"/>
            </a:endParaRPr>
          </a:p>
        </p:txBody>
      </p:sp>
      <p:sp>
        <p:nvSpPr>
          <p:cNvPr id="291" name="Google Shape;291;p13"/>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B8862B"/>
                </a:solidFill>
                <a:latin typeface="Courier New"/>
                <a:ea typeface="Courier New"/>
                <a:cs typeface="Courier New"/>
                <a:sym typeface="Courier New"/>
              </a:rPr>
              <a:t>kajiro-prompt-optimizer-pro</a:t>
            </a:r>
            <a:endParaRPr b="0" i="0" sz="1050" u="none" cap="none" strike="noStrike">
              <a:solidFill>
                <a:schemeClr val="dk1"/>
              </a:solidFill>
              <a:latin typeface="Calibri"/>
              <a:ea typeface="Calibri"/>
              <a:cs typeface="Calibri"/>
              <a:sym typeface="Calibri"/>
            </a:endParaRPr>
          </a:p>
        </p:txBody>
      </p:sp>
      <p:sp>
        <p:nvSpPr>
          <p:cNvPr id="292" name="Google Shape;292;p13"/>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862B"/>
              </a:buClr>
              <a:buSzPts val="1500"/>
              <a:buFont typeface="Calibri"/>
              <a:buNone/>
            </a:pPr>
            <a:r>
              <a:rPr b="1" i="0" lang="en-US" sz="1500" u="none" cap="none" strike="noStrike">
                <a:solidFill>
                  <a:srgbClr val="B8862B"/>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293" name="Google Shape;293;p13"/>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Silently sharpens every rep's prompt before the work runs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Scores against the 14-point K-A-J-I-R-O rubric, 21 diagnostic questions</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Runs in Auto mode: no scorecards, no overhead surfaced</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Fills gaps with expert defaults so a command never blocks</a:t>
            </a:r>
            <a:endParaRPr b="0" i="0" sz="1350" u="none" cap="none" strike="noStrike">
              <a:solidFill>
                <a:schemeClr val="dk1"/>
              </a:solidFill>
              <a:latin typeface="Calibri"/>
              <a:ea typeface="Calibri"/>
              <a:cs typeface="Calibri"/>
              <a:sym typeface="Calibri"/>
            </a:endParaRPr>
          </a:p>
        </p:txBody>
      </p:sp>
      <p:sp>
        <p:nvSpPr>
          <p:cNvPr id="294" name="Google Shape;294;p13"/>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The coach in every rep's ear: the same brief, sharpened, so every command starts from a stronger script.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00" name="Shape 300"/>
        <p:cNvGrpSpPr/>
        <p:nvPr/>
      </p:nvGrpSpPr>
      <p:grpSpPr>
        <a:xfrm>
          <a:off x="0" y="0"/>
          <a:ext cx="0" cy="0"/>
          <a:chOff x="0" y="0"/>
          <a:chExt cx="0" cy="0"/>
        </a:xfrm>
      </p:grpSpPr>
      <p:sp>
        <p:nvSpPr>
          <p:cNvPr id="301" name="Google Shape;301;p14"/>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SUPPORT LAYER</a:t>
            </a:r>
            <a:endParaRPr b="0" i="0" sz="1200" u="none" cap="none" strike="noStrike">
              <a:solidFill>
                <a:schemeClr val="dk1"/>
              </a:solidFill>
              <a:latin typeface="Calibri"/>
              <a:ea typeface="Calibri"/>
              <a:cs typeface="Calibri"/>
              <a:sym typeface="Calibri"/>
            </a:endParaRPr>
          </a:p>
        </p:txBody>
      </p:sp>
      <p:sp>
        <p:nvSpPr>
          <p:cNvPr id="302" name="Google Shape;302;p14"/>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Iris Vega, Intake Coordinator</a:t>
            </a:r>
            <a:endParaRPr b="0" i="0" sz="2700" u="none" cap="none" strike="noStrike">
              <a:solidFill>
                <a:schemeClr val="dk1"/>
              </a:solidFill>
              <a:latin typeface="Calibri"/>
              <a:ea typeface="Calibri"/>
              <a:cs typeface="Calibri"/>
              <a:sym typeface="Calibri"/>
            </a:endParaRPr>
          </a:p>
        </p:txBody>
      </p:sp>
      <p:sp>
        <p:nvSpPr>
          <p:cNvPr id="303" name="Google Shape;303;p14"/>
          <p:cNvSpPr/>
          <p:nvPr/>
        </p:nvSpPr>
        <p:spPr>
          <a:xfrm>
            <a:off x="548640" y="1600200"/>
            <a:ext cx="3200400" cy="4480560"/>
          </a:xfrm>
          <a:prstGeom prst="roundRect">
            <a:avLst>
              <a:gd fmla="val 2286" name="adj"/>
            </a:avLst>
          </a:prstGeom>
          <a:solidFill>
            <a:srgbClr val="E3ECF2"/>
          </a:solidFill>
          <a:ln cap="flat" cmpd="sng" w="12700">
            <a:solidFill>
              <a:srgbClr val="E3EC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1316736" y="1911096"/>
            <a:ext cx="1664208" cy="1664208"/>
          </a:xfrm>
          <a:prstGeom prst="ellipse">
            <a:avLst/>
          </a:prstGeom>
          <a:solidFill>
            <a:srgbClr val="E3ECF2"/>
          </a:solidFill>
          <a:ln cap="flat" cmpd="sng" w="25400">
            <a:solidFill>
              <a:srgbClr val="4C7A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4"/>
          <p:cNvSpPr/>
          <p:nvPr/>
        </p:nvSpPr>
        <p:spPr>
          <a:xfrm>
            <a:off x="1371600" y="1965960"/>
            <a:ext cx="1554480" cy="1554480"/>
          </a:xfrm>
          <a:prstGeom prst="ellipse">
            <a:avLst/>
          </a:prstGeom>
          <a:solidFill>
            <a:srgbClr val="4C7A9E"/>
          </a:solidFill>
          <a:ln cap="flat" cmpd="sng" w="12700">
            <a:solidFill>
              <a:srgbClr val="4C7A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6" name="Google Shape;306;p14"/>
          <p:cNvPicPr preferRelativeResize="0"/>
          <p:nvPr/>
        </p:nvPicPr>
        <p:blipFill rotWithShape="1">
          <a:blip r:embed="rId3">
            <a:alphaModFix/>
          </a:blip>
          <a:srcRect b="0" l="0" r="0" t="0"/>
          <a:stretch/>
        </p:blipFill>
        <p:spPr>
          <a:xfrm>
            <a:off x="1713586" y="2307946"/>
            <a:ext cx="870509" cy="870509"/>
          </a:xfrm>
          <a:prstGeom prst="rect">
            <a:avLst/>
          </a:prstGeom>
          <a:noFill/>
          <a:ln>
            <a:noFill/>
          </a:ln>
        </p:spPr>
      </p:pic>
      <p:sp>
        <p:nvSpPr>
          <p:cNvPr id="307" name="Google Shape;307;p14"/>
          <p:cNvSpPr/>
          <p:nvPr/>
        </p:nvSpPr>
        <p:spPr>
          <a:xfrm>
            <a:off x="731520" y="3657600"/>
            <a:ext cx="28346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900"/>
              <a:buFont typeface="Cambria"/>
              <a:buNone/>
            </a:pPr>
            <a:r>
              <a:rPr b="1" i="0" lang="en-US" sz="1900" u="none" cap="none" strike="noStrike">
                <a:solidFill>
                  <a:srgbClr val="0F172A"/>
                </a:solidFill>
                <a:latin typeface="Cambria"/>
                <a:ea typeface="Cambria"/>
                <a:cs typeface="Cambria"/>
                <a:sym typeface="Cambria"/>
              </a:rPr>
              <a:t>Iris Vega</a:t>
            </a:r>
            <a:endParaRPr b="0" i="0" sz="1900" u="none" cap="none" strike="noStrike">
              <a:solidFill>
                <a:schemeClr val="dk1"/>
              </a:solidFill>
              <a:latin typeface="Calibri"/>
              <a:ea typeface="Calibri"/>
              <a:cs typeface="Calibri"/>
              <a:sym typeface="Calibri"/>
            </a:endParaRPr>
          </a:p>
        </p:txBody>
      </p:sp>
      <p:sp>
        <p:nvSpPr>
          <p:cNvPr id="308" name="Google Shape;308;p14"/>
          <p:cNvSpPr/>
          <p:nvPr/>
        </p:nvSpPr>
        <p:spPr>
          <a:xfrm>
            <a:off x="731520" y="4050792"/>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50"/>
              <a:buFont typeface="Calibri"/>
              <a:buNone/>
            </a:pPr>
            <a:r>
              <a:rPr b="0" i="0" lang="en-US" sz="1250" u="none" cap="none" strike="noStrike">
                <a:solidFill>
                  <a:srgbClr val="64748B"/>
                </a:solidFill>
                <a:latin typeface="Calibri"/>
                <a:ea typeface="Calibri"/>
                <a:cs typeface="Calibri"/>
                <a:sym typeface="Calibri"/>
              </a:rPr>
              <a:t>Intake Coordinator</a:t>
            </a:r>
            <a:endParaRPr b="0" i="0" sz="1250" u="none" cap="none" strike="noStrike">
              <a:solidFill>
                <a:schemeClr val="dk1"/>
              </a:solidFill>
              <a:latin typeface="Calibri"/>
              <a:ea typeface="Calibri"/>
              <a:cs typeface="Calibri"/>
              <a:sym typeface="Calibri"/>
            </a:endParaRPr>
          </a:p>
        </p:txBody>
      </p:sp>
      <p:sp>
        <p:nvSpPr>
          <p:cNvPr id="309" name="Google Shape;309;p14"/>
          <p:cNvSpPr/>
          <p:nvPr/>
        </p:nvSpPr>
        <p:spPr>
          <a:xfrm>
            <a:off x="914400" y="4480560"/>
            <a:ext cx="2468880" cy="411480"/>
          </a:xfrm>
          <a:prstGeom prst="roundRect">
            <a:avLst>
              <a:gd fmla="val 13333" name="adj"/>
            </a:avLst>
          </a:prstGeom>
          <a:solidFill>
            <a:srgbClr val="4C7A9E"/>
          </a:solidFill>
          <a:ln cap="flat" cmpd="sng" w="12700">
            <a:solidFill>
              <a:srgbClr val="4C7A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4"/>
          <p:cNvSpPr/>
          <p:nvPr/>
        </p:nvSpPr>
        <p:spPr>
          <a:xfrm>
            <a:off x="914400" y="4480560"/>
            <a:ext cx="24688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Intake layer</a:t>
            </a:r>
            <a:endParaRPr b="0" i="0" sz="1300" u="none" cap="none" strike="noStrike">
              <a:solidFill>
                <a:schemeClr val="dk1"/>
              </a:solidFill>
              <a:latin typeface="Calibri"/>
              <a:ea typeface="Calibri"/>
              <a:cs typeface="Calibri"/>
              <a:sym typeface="Calibri"/>
            </a:endParaRPr>
          </a:p>
        </p:txBody>
      </p:sp>
      <p:sp>
        <p:nvSpPr>
          <p:cNvPr id="311" name="Google Shape;311;p14"/>
          <p:cNvSpPr/>
          <p:nvPr/>
        </p:nvSpPr>
        <p:spPr>
          <a:xfrm>
            <a:off x="777240" y="5074920"/>
            <a:ext cx="2743200" cy="54864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Plays the part of</a:t>
            </a:r>
            <a:br>
              <a:rPr b="0" i="0" lang="en-US" sz="1050" u="none" cap="none" strike="noStrike">
                <a:solidFill>
                  <a:srgbClr val="64748B"/>
                </a:solidFill>
                <a:latin typeface="Calibri"/>
                <a:ea typeface="Calibri"/>
                <a:cs typeface="Calibri"/>
                <a:sym typeface="Calibri"/>
              </a:rPr>
            </a:br>
            <a:endParaRPr b="0" i="0" sz="105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Elicitation Widget</a:t>
            </a:r>
            <a:endParaRPr b="0" i="0" sz="1050" u="none" cap="none" strike="noStrike">
              <a:solidFill>
                <a:schemeClr val="dk1"/>
              </a:solidFill>
              <a:latin typeface="Calibri"/>
              <a:ea typeface="Calibri"/>
              <a:cs typeface="Calibri"/>
              <a:sym typeface="Calibri"/>
            </a:endParaRPr>
          </a:p>
        </p:txBody>
      </p:sp>
      <p:sp>
        <p:nvSpPr>
          <p:cNvPr id="312" name="Google Shape;312;p14"/>
          <p:cNvSpPr/>
          <p:nvPr/>
        </p:nvSpPr>
        <p:spPr>
          <a:xfrm>
            <a:off x="731520" y="5623560"/>
            <a:ext cx="2834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the repo: </a:t>
            </a:r>
            <a:r>
              <a:rPr b="1" i="0" lang="en-US" sz="1050" u="none" cap="none" strike="noStrike">
                <a:solidFill>
                  <a:srgbClr val="4C7A9E"/>
                </a:solidFill>
                <a:latin typeface="Courier New"/>
                <a:ea typeface="Courier New"/>
                <a:cs typeface="Courier New"/>
                <a:sym typeface="Courier New"/>
              </a:rPr>
              <a:t>elicitation-widget</a:t>
            </a:r>
            <a:endParaRPr b="0" i="0" sz="1050" u="none" cap="none" strike="noStrike">
              <a:solidFill>
                <a:schemeClr val="dk1"/>
              </a:solidFill>
              <a:latin typeface="Calibri"/>
              <a:ea typeface="Calibri"/>
              <a:cs typeface="Calibri"/>
              <a:sym typeface="Calibri"/>
            </a:endParaRPr>
          </a:p>
        </p:txBody>
      </p:sp>
      <p:sp>
        <p:nvSpPr>
          <p:cNvPr id="313" name="Google Shape;313;p14"/>
          <p:cNvSpPr/>
          <p:nvPr/>
        </p:nvSpPr>
        <p:spPr>
          <a:xfrm>
            <a:off x="4023360" y="1645920"/>
            <a:ext cx="7589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7A9E"/>
              </a:buClr>
              <a:buSzPts val="1500"/>
              <a:buFont typeface="Calibri"/>
              <a:buNone/>
            </a:pPr>
            <a:r>
              <a:rPr b="1" i="0" lang="en-US" sz="1500" u="none" cap="none" strike="noStrike">
                <a:solidFill>
                  <a:srgbClr val="4C7A9E"/>
                </a:solidFill>
                <a:latin typeface="Calibri"/>
                <a:ea typeface="Calibri"/>
                <a:cs typeface="Calibri"/>
                <a:sym typeface="Calibri"/>
              </a:rPr>
              <a:t>What they do on every run</a:t>
            </a:r>
            <a:endParaRPr b="0" i="0" sz="1500" u="none" cap="none" strike="noStrike">
              <a:solidFill>
                <a:schemeClr val="dk1"/>
              </a:solidFill>
              <a:latin typeface="Calibri"/>
              <a:ea typeface="Calibri"/>
              <a:cs typeface="Calibri"/>
              <a:sym typeface="Calibri"/>
            </a:endParaRPr>
          </a:p>
        </p:txBody>
      </p:sp>
      <p:sp>
        <p:nvSpPr>
          <p:cNvPr id="314" name="Google Shape;314;p14"/>
          <p:cNvSpPr/>
          <p:nvPr/>
        </p:nvSpPr>
        <p:spPr>
          <a:xfrm>
            <a:off x="4023360" y="2057400"/>
            <a:ext cx="7589520" cy="24688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Greets inbound leads with one tappable question at a time</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Presents all questions in a single batched interaction</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Returns a clean structured payload, no freeform parsing</a:t>
            </a:r>
            <a:endParaRPr b="0" i="0" sz="135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0F172A"/>
              </a:buClr>
              <a:buSzPts val="1350"/>
              <a:buFont typeface="Calibri"/>
              <a:buChar char="•"/>
            </a:pPr>
            <a:r>
              <a:rPr b="0" i="0" lang="en-US" sz="1350" u="none" cap="none" strike="noStrike">
                <a:solidFill>
                  <a:srgbClr val="0F172A"/>
                </a:solidFill>
                <a:latin typeface="Calibri"/>
                <a:ea typeface="Calibri"/>
                <a:cs typeface="Calibri"/>
                <a:sym typeface="Calibri"/>
              </a:rPr>
              <a:t>Same engine powers funnel, target add, and ICP intake</a:t>
            </a:r>
            <a:endParaRPr b="0" i="0" sz="1350" u="none" cap="none" strike="noStrike">
              <a:solidFill>
                <a:schemeClr val="dk1"/>
              </a:solidFill>
              <a:latin typeface="Calibri"/>
              <a:ea typeface="Calibri"/>
              <a:cs typeface="Calibri"/>
              <a:sym typeface="Calibri"/>
            </a:endParaRPr>
          </a:p>
        </p:txBody>
      </p:sp>
      <p:sp>
        <p:nvSpPr>
          <p:cNvPr id="315" name="Google Shape;315;p14"/>
          <p:cNvSpPr/>
          <p:nvPr/>
        </p:nvSpPr>
        <p:spPr>
          <a:xfrm>
            <a:off x="4023360" y="4800600"/>
            <a:ext cx="7589520" cy="1280160"/>
          </a:xfrm>
          <a:prstGeom prst="roundRect">
            <a:avLst>
              <a:gd fmla="val 5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4297680" y="4892040"/>
            <a:ext cx="7040880" cy="10972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Why they matter to the team</a:t>
            </a:r>
            <a:br>
              <a:rPr b="1" i="0" lang="en-US" sz="1200" u="none" cap="none" strike="noStrike">
                <a:solidFill>
                  <a:srgbClr val="E1A140"/>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E2E8F0"/>
              </a:buClr>
              <a:buSzPts val="1400"/>
              <a:buFont typeface="Calibri"/>
              <a:buNone/>
            </a:pPr>
            <a:r>
              <a:rPr b="0" i="0" lang="en-US" sz="1400" u="none" cap="none" strike="noStrike">
                <a:solidFill>
                  <a:srgbClr val="E2E8F0"/>
                </a:solidFill>
                <a:latin typeface="Calibri"/>
                <a:ea typeface="Calibri"/>
                <a:cs typeface="Calibri"/>
                <a:sym typeface="Calibri"/>
              </a:rPr>
              <a:t>The front desk: turns a visitor or an operator instruction into structured data the team can work.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21" name="Shape 321"/>
        <p:cNvGrpSpPr/>
        <p:nvPr/>
      </p:nvGrpSpPr>
      <p:grpSpPr>
        <a:xfrm>
          <a:off x="0" y="0"/>
          <a:ext cx="0" cy="0"/>
          <a:chOff x="0" y="0"/>
          <a:chExt cx="0" cy="0"/>
        </a:xfrm>
      </p:grpSpPr>
      <p:sp>
        <p:nvSpPr>
          <p:cNvPr id="322" name="Google Shape;322;p15"/>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COACH IN DEPTH</a:t>
            </a:r>
            <a:endParaRPr b="0" i="0" sz="1200" u="none" cap="none" strike="noStrike">
              <a:solidFill>
                <a:schemeClr val="dk1"/>
              </a:solidFill>
              <a:latin typeface="Calibri"/>
              <a:ea typeface="Calibri"/>
              <a:cs typeface="Calibri"/>
              <a:sym typeface="Calibri"/>
            </a:endParaRPr>
          </a:p>
        </p:txBody>
      </p:sp>
      <p:sp>
        <p:nvSpPr>
          <p:cNvPr id="323" name="Google Shape;323;p15"/>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How Kajiro sharpens every rep before the call</a:t>
            </a:r>
            <a:endParaRPr b="0" i="0" sz="2700" u="none" cap="none" strike="noStrike">
              <a:solidFill>
                <a:schemeClr val="dk1"/>
              </a:solidFill>
              <a:latin typeface="Calibri"/>
              <a:ea typeface="Calibri"/>
              <a:cs typeface="Calibri"/>
              <a:sym typeface="Calibri"/>
            </a:endParaRPr>
          </a:p>
        </p:txBody>
      </p:sp>
      <p:sp>
        <p:nvSpPr>
          <p:cNvPr id="324" name="Google Shape;324;p15"/>
          <p:cNvSpPr/>
          <p:nvPr/>
        </p:nvSpPr>
        <p:spPr>
          <a:xfrm>
            <a:off x="548640" y="1417320"/>
            <a:ext cx="11064240" cy="73152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450"/>
              <a:buFont typeface="Calibri"/>
              <a:buNone/>
            </a:pPr>
            <a:r>
              <a:rPr b="0" i="0" lang="en-US" sz="1450" u="none" cap="none" strike="noStrike">
                <a:solidFill>
                  <a:srgbClr val="0F172A"/>
                </a:solidFill>
                <a:latin typeface="Calibri"/>
                <a:ea typeface="Calibri"/>
                <a:cs typeface="Calibri"/>
                <a:sym typeface="Calibri"/>
              </a:rPr>
              <a:t>Kajiro Prompt Optimizer Pro runs in Auto mode on every command. Before a rep does the work, their brief is silently scored against a 14-point rubric and rewritten to close gaps. No scorecard is shown; the team simply starts from a stronger script.</a:t>
            </a:r>
            <a:endParaRPr b="0" i="0" sz="1450" u="none" cap="none" strike="noStrike">
              <a:solidFill>
                <a:schemeClr val="dk1"/>
              </a:solidFill>
              <a:latin typeface="Calibri"/>
              <a:ea typeface="Calibri"/>
              <a:cs typeface="Calibri"/>
              <a:sym typeface="Calibri"/>
            </a:endParaRPr>
          </a:p>
        </p:txBody>
      </p:sp>
      <p:sp>
        <p:nvSpPr>
          <p:cNvPr id="325" name="Google Shape;325;p15"/>
          <p:cNvSpPr/>
          <p:nvPr/>
        </p:nvSpPr>
        <p:spPr>
          <a:xfrm>
            <a:off x="548640" y="2286000"/>
            <a:ext cx="2697480" cy="1828800"/>
          </a:xfrm>
          <a:prstGeom prst="roundRect">
            <a:avLst>
              <a:gd fmla="val 35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5"/>
          <p:cNvSpPr/>
          <p:nvPr/>
        </p:nvSpPr>
        <p:spPr>
          <a:xfrm>
            <a:off x="777240" y="2514600"/>
            <a:ext cx="594360" cy="59436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a:off x="777240" y="251460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K</a:t>
            </a:r>
            <a:endParaRPr b="0" i="0" sz="2600" u="none" cap="none" strike="noStrike">
              <a:solidFill>
                <a:schemeClr val="dk1"/>
              </a:solidFill>
              <a:latin typeface="Calibri"/>
              <a:ea typeface="Calibri"/>
              <a:cs typeface="Calibri"/>
              <a:sym typeface="Calibri"/>
            </a:endParaRPr>
          </a:p>
        </p:txBody>
      </p:sp>
      <p:sp>
        <p:nvSpPr>
          <p:cNvPr id="328" name="Google Shape;328;p15"/>
          <p:cNvSpPr/>
          <p:nvPr/>
        </p:nvSpPr>
        <p:spPr>
          <a:xfrm>
            <a:off x="1481328" y="2578608"/>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Kindle  </a:t>
            </a:r>
            <a:r>
              <a:rPr b="1" i="0" lang="en-US" sz="1200" u="none" cap="none" strike="noStrike">
                <a:solidFill>
                  <a:srgbClr val="2E5E8C"/>
                </a:solidFill>
                <a:latin typeface="Calibri"/>
                <a:ea typeface="Calibri"/>
                <a:cs typeface="Calibri"/>
                <a:sym typeface="Calibri"/>
              </a:rPr>
              <a:t>4 pts</a:t>
            </a:r>
            <a:endParaRPr b="0" i="0" sz="1500" u="none" cap="none" strike="noStrike">
              <a:solidFill>
                <a:schemeClr val="dk1"/>
              </a:solidFill>
              <a:latin typeface="Calibri"/>
              <a:ea typeface="Calibri"/>
              <a:cs typeface="Calibri"/>
              <a:sym typeface="Calibri"/>
            </a:endParaRPr>
          </a:p>
        </p:txBody>
      </p:sp>
      <p:sp>
        <p:nvSpPr>
          <p:cNvPr id="329" name="Google Shape;329;p15"/>
          <p:cNvSpPr/>
          <p:nvPr/>
        </p:nvSpPr>
        <p:spPr>
          <a:xfrm>
            <a:off x="777240" y="3246120"/>
            <a:ext cx="2240280" cy="7772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Deliverable, format, audience, success criteria</a:t>
            </a:r>
            <a:endParaRPr b="0" i="0" sz="1150" u="none" cap="none" strike="noStrike">
              <a:solidFill>
                <a:schemeClr val="dk1"/>
              </a:solidFill>
              <a:latin typeface="Calibri"/>
              <a:ea typeface="Calibri"/>
              <a:cs typeface="Calibri"/>
              <a:sym typeface="Calibri"/>
            </a:endParaRPr>
          </a:p>
        </p:txBody>
      </p:sp>
      <p:sp>
        <p:nvSpPr>
          <p:cNvPr id="330" name="Google Shape;330;p15"/>
          <p:cNvSpPr/>
          <p:nvPr/>
        </p:nvSpPr>
        <p:spPr>
          <a:xfrm>
            <a:off x="3364992" y="2286000"/>
            <a:ext cx="2697480" cy="1828800"/>
          </a:xfrm>
          <a:prstGeom prst="roundRect">
            <a:avLst>
              <a:gd fmla="val 35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a:off x="3593592" y="2514600"/>
            <a:ext cx="594360" cy="594360"/>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3593592" y="251460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A</a:t>
            </a:r>
            <a:endParaRPr b="0" i="0" sz="2600" u="none" cap="none" strike="noStrike">
              <a:solidFill>
                <a:schemeClr val="dk1"/>
              </a:solidFill>
              <a:latin typeface="Calibri"/>
              <a:ea typeface="Calibri"/>
              <a:cs typeface="Calibri"/>
              <a:sym typeface="Calibri"/>
            </a:endParaRPr>
          </a:p>
        </p:txBody>
      </p:sp>
      <p:sp>
        <p:nvSpPr>
          <p:cNvPr id="333" name="Google Shape;333;p15"/>
          <p:cNvSpPr/>
          <p:nvPr/>
        </p:nvSpPr>
        <p:spPr>
          <a:xfrm>
            <a:off x="4297680" y="2578608"/>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Architect  </a:t>
            </a:r>
            <a:r>
              <a:rPr b="1" i="0" lang="en-US" sz="1200" u="none" cap="none" strike="noStrike">
                <a:solidFill>
                  <a:srgbClr val="3F8F6B"/>
                </a:solidFill>
                <a:latin typeface="Calibri"/>
                <a:ea typeface="Calibri"/>
                <a:cs typeface="Calibri"/>
                <a:sym typeface="Calibri"/>
              </a:rPr>
              <a:t>3 pts</a:t>
            </a:r>
            <a:endParaRPr b="0" i="0" sz="1500" u="none" cap="none" strike="noStrike">
              <a:solidFill>
                <a:schemeClr val="dk1"/>
              </a:solidFill>
              <a:latin typeface="Calibri"/>
              <a:ea typeface="Calibri"/>
              <a:cs typeface="Calibri"/>
              <a:sym typeface="Calibri"/>
            </a:endParaRPr>
          </a:p>
        </p:txBody>
      </p:sp>
      <p:sp>
        <p:nvSpPr>
          <p:cNvPr id="334" name="Google Shape;334;p15"/>
          <p:cNvSpPr/>
          <p:nvPr/>
        </p:nvSpPr>
        <p:spPr>
          <a:xfrm>
            <a:off x="3593592" y="3246120"/>
            <a:ext cx="2240280" cy="7772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Steps, inputs and outputs, dependencies, edge cases</a:t>
            </a:r>
            <a:endParaRPr b="0" i="0" sz="1150" u="none" cap="none" strike="noStrike">
              <a:solidFill>
                <a:schemeClr val="dk1"/>
              </a:solidFill>
              <a:latin typeface="Calibri"/>
              <a:ea typeface="Calibri"/>
              <a:cs typeface="Calibri"/>
              <a:sym typeface="Calibri"/>
            </a:endParaRPr>
          </a:p>
        </p:txBody>
      </p:sp>
      <p:sp>
        <p:nvSpPr>
          <p:cNvPr id="335" name="Google Shape;335;p15"/>
          <p:cNvSpPr/>
          <p:nvPr/>
        </p:nvSpPr>
        <p:spPr>
          <a:xfrm>
            <a:off x="6181344" y="2286000"/>
            <a:ext cx="2697480" cy="1828800"/>
          </a:xfrm>
          <a:prstGeom prst="roundRect">
            <a:avLst>
              <a:gd fmla="val 35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6409944" y="2514600"/>
            <a:ext cx="594360" cy="594360"/>
          </a:xfrm>
          <a:prstGeom prst="ellipse">
            <a:avLst/>
          </a:prstGeom>
          <a:solidFill>
            <a:srgbClr val="7E5A86"/>
          </a:solidFill>
          <a:ln cap="flat" cmpd="sng" w="12700">
            <a:solidFill>
              <a:srgbClr val="7E5A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a:off x="6409944" y="251460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J</a:t>
            </a:r>
            <a:endParaRPr b="0" i="0" sz="2600" u="none" cap="none" strike="noStrike">
              <a:solidFill>
                <a:schemeClr val="dk1"/>
              </a:solidFill>
              <a:latin typeface="Calibri"/>
              <a:ea typeface="Calibri"/>
              <a:cs typeface="Calibri"/>
              <a:sym typeface="Calibri"/>
            </a:endParaRPr>
          </a:p>
        </p:txBody>
      </p:sp>
      <p:sp>
        <p:nvSpPr>
          <p:cNvPr id="338" name="Google Shape;338;p15"/>
          <p:cNvSpPr/>
          <p:nvPr/>
        </p:nvSpPr>
        <p:spPr>
          <a:xfrm>
            <a:off x="7114032" y="2578608"/>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Judge  </a:t>
            </a:r>
            <a:r>
              <a:rPr b="1" i="0" lang="en-US" sz="1200" u="none" cap="none" strike="noStrike">
                <a:solidFill>
                  <a:srgbClr val="7E5A86"/>
                </a:solidFill>
                <a:latin typeface="Calibri"/>
                <a:ea typeface="Calibri"/>
                <a:cs typeface="Calibri"/>
                <a:sym typeface="Calibri"/>
              </a:rPr>
              <a:t>3 pts</a:t>
            </a:r>
            <a:endParaRPr b="0" i="0" sz="1500" u="none" cap="none" strike="noStrike">
              <a:solidFill>
                <a:schemeClr val="dk1"/>
              </a:solidFill>
              <a:latin typeface="Calibri"/>
              <a:ea typeface="Calibri"/>
              <a:cs typeface="Calibri"/>
              <a:sym typeface="Calibri"/>
            </a:endParaRPr>
          </a:p>
        </p:txBody>
      </p:sp>
      <p:sp>
        <p:nvSpPr>
          <p:cNvPr id="339" name="Google Shape;339;p15"/>
          <p:cNvSpPr/>
          <p:nvPr/>
        </p:nvSpPr>
        <p:spPr>
          <a:xfrm>
            <a:off x="6409944" y="3246120"/>
            <a:ext cx="2240280" cy="7772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Verification, iteration plan, examples, checkpoints</a:t>
            </a:r>
            <a:endParaRPr b="0" i="0" sz="1150" u="none" cap="none" strike="noStrike">
              <a:solidFill>
                <a:schemeClr val="dk1"/>
              </a:solidFill>
              <a:latin typeface="Calibri"/>
              <a:ea typeface="Calibri"/>
              <a:cs typeface="Calibri"/>
              <a:sym typeface="Calibri"/>
            </a:endParaRPr>
          </a:p>
        </p:txBody>
      </p:sp>
      <p:sp>
        <p:nvSpPr>
          <p:cNvPr id="340" name="Google Shape;340;p15"/>
          <p:cNvSpPr/>
          <p:nvPr/>
        </p:nvSpPr>
        <p:spPr>
          <a:xfrm>
            <a:off x="8997696" y="2286000"/>
            <a:ext cx="2697480" cy="1828800"/>
          </a:xfrm>
          <a:prstGeom prst="roundRect">
            <a:avLst>
              <a:gd fmla="val 35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9226296" y="2514600"/>
            <a:ext cx="594360" cy="59436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9226296" y="2514600"/>
            <a:ext cx="59436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600"/>
              <a:buFont typeface="Cambria"/>
              <a:buNone/>
            </a:pPr>
            <a:r>
              <a:rPr b="1" i="0" lang="en-US" sz="2600" u="none" cap="none" strike="noStrike">
                <a:solidFill>
                  <a:srgbClr val="FFFFFF"/>
                </a:solidFill>
                <a:latin typeface="Cambria"/>
                <a:ea typeface="Cambria"/>
                <a:cs typeface="Cambria"/>
                <a:sym typeface="Cambria"/>
              </a:rPr>
              <a:t>I</a:t>
            </a:r>
            <a:endParaRPr b="0" i="0" sz="2600" u="none" cap="none" strike="noStrike">
              <a:solidFill>
                <a:schemeClr val="dk1"/>
              </a:solidFill>
              <a:latin typeface="Calibri"/>
              <a:ea typeface="Calibri"/>
              <a:cs typeface="Calibri"/>
              <a:sym typeface="Calibri"/>
            </a:endParaRPr>
          </a:p>
        </p:txBody>
      </p:sp>
      <p:sp>
        <p:nvSpPr>
          <p:cNvPr id="343" name="Google Shape;343;p15"/>
          <p:cNvSpPr/>
          <p:nvPr/>
        </p:nvSpPr>
        <p:spPr>
          <a:xfrm>
            <a:off x="9930384" y="2578608"/>
            <a:ext cx="1645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500"/>
              <a:buFont typeface="Calibri"/>
              <a:buNone/>
            </a:pPr>
            <a:r>
              <a:rPr b="1" i="0" lang="en-US" sz="1500" u="none" cap="none" strike="noStrike">
                <a:solidFill>
                  <a:srgbClr val="0F172A"/>
                </a:solidFill>
                <a:latin typeface="Calibri"/>
                <a:ea typeface="Calibri"/>
                <a:cs typeface="Calibri"/>
                <a:sym typeface="Calibri"/>
              </a:rPr>
              <a:t>Instruct  </a:t>
            </a:r>
            <a:r>
              <a:rPr b="1" i="0" lang="en-US" sz="1200" u="none" cap="none" strike="noStrike">
                <a:solidFill>
                  <a:srgbClr val="E1A140"/>
                </a:solidFill>
                <a:latin typeface="Calibri"/>
                <a:ea typeface="Calibri"/>
                <a:cs typeface="Calibri"/>
                <a:sym typeface="Calibri"/>
              </a:rPr>
              <a:t>4 pts</a:t>
            </a:r>
            <a:endParaRPr b="0" i="0" sz="1500" u="none" cap="none" strike="noStrike">
              <a:solidFill>
                <a:schemeClr val="dk1"/>
              </a:solidFill>
              <a:latin typeface="Calibri"/>
              <a:ea typeface="Calibri"/>
              <a:cs typeface="Calibri"/>
              <a:sym typeface="Calibri"/>
            </a:endParaRPr>
          </a:p>
        </p:txBody>
      </p:sp>
      <p:sp>
        <p:nvSpPr>
          <p:cNvPr id="344" name="Google Shape;344;p15"/>
          <p:cNvSpPr/>
          <p:nvPr/>
        </p:nvSpPr>
        <p:spPr>
          <a:xfrm>
            <a:off x="9226296" y="3246120"/>
            <a:ext cx="2240280" cy="77724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Expert role, tone, quality bar, interaction rules</a:t>
            </a:r>
            <a:endParaRPr b="0" i="0" sz="1150" u="none" cap="none" strike="noStrike">
              <a:solidFill>
                <a:schemeClr val="dk1"/>
              </a:solidFill>
              <a:latin typeface="Calibri"/>
              <a:ea typeface="Calibri"/>
              <a:cs typeface="Calibri"/>
              <a:sym typeface="Calibri"/>
            </a:endParaRPr>
          </a:p>
        </p:txBody>
      </p:sp>
      <p:sp>
        <p:nvSpPr>
          <p:cNvPr id="345" name="Google Shape;345;p15"/>
          <p:cNvSpPr/>
          <p:nvPr/>
        </p:nvSpPr>
        <p:spPr>
          <a:xfrm>
            <a:off x="548640" y="4297680"/>
            <a:ext cx="11064240" cy="1600200"/>
          </a:xfrm>
          <a:prstGeom prst="roundRect">
            <a:avLst>
              <a:gd fmla="val 4000"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914400" y="4407408"/>
            <a:ext cx="10332720" cy="13716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E1A140"/>
              </a:buClr>
              <a:buSzPts val="1400"/>
              <a:buFont typeface="Calibri"/>
              <a:buNone/>
            </a:pPr>
            <a:r>
              <a:rPr b="1" i="0" lang="en-US" sz="1400" u="none" cap="none" strike="noStrike">
                <a:solidFill>
                  <a:srgbClr val="E1A140"/>
                </a:solidFill>
                <a:latin typeface="Calibri"/>
                <a:ea typeface="Calibri"/>
                <a:cs typeface="Calibri"/>
                <a:sym typeface="Calibri"/>
              </a:rPr>
              <a:t>Concrete effect.  </a:t>
            </a:r>
            <a:r>
              <a:rPr b="0" i="0" lang="en-US" sz="1400" u="none" cap="none" strike="noStrike">
                <a:solidFill>
                  <a:srgbClr val="E2E8F0"/>
                </a:solidFill>
                <a:latin typeface="Calibri"/>
                <a:ea typeface="Calibri"/>
                <a:cs typeface="Calibri"/>
                <a:sym typeface="Calibri"/>
              </a:rPr>
              <a:t>A bare "/sales prospect acme.com" becomes a fully specified brief: exact deliverable (PROSPECT-ANALYSIS.md), the five weighted categories, evidence-with-source required, and a business-context lens. Same command, sharper output, zero extra effort from you. 14 of 14 targeted internally, delivered silently.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51" name="Shape 351"/>
        <p:cNvGrpSpPr/>
        <p:nvPr/>
      </p:nvGrpSpPr>
      <p:grpSpPr>
        <a:xfrm>
          <a:off x="0" y="0"/>
          <a:ext cx="0" cy="0"/>
          <a:chOff x="0" y="0"/>
          <a:chExt cx="0" cy="0"/>
        </a:xfrm>
      </p:grpSpPr>
      <p:sp>
        <p:nvSpPr>
          <p:cNvPr id="352" name="Google Shape;352;p16"/>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PLAYBOOK</a:t>
            </a:r>
            <a:endParaRPr b="0" i="0" sz="1200" u="none" cap="none" strike="noStrike">
              <a:solidFill>
                <a:schemeClr val="dk1"/>
              </a:solidFill>
              <a:latin typeface="Calibri"/>
              <a:ea typeface="Calibri"/>
              <a:cs typeface="Calibri"/>
              <a:sym typeface="Calibri"/>
            </a:endParaRPr>
          </a:p>
        </p:txBody>
      </p:sp>
      <p:sp>
        <p:nvSpPr>
          <p:cNvPr id="353" name="Google Shape;353;p16"/>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14 commands the manager can call</a:t>
            </a:r>
            <a:endParaRPr b="0" i="0" sz="2700" u="none" cap="none" strike="noStrike">
              <a:solidFill>
                <a:schemeClr val="dk1"/>
              </a:solidFill>
              <a:latin typeface="Calibri"/>
              <a:ea typeface="Calibri"/>
              <a:cs typeface="Calibri"/>
              <a:sym typeface="Calibri"/>
            </a:endParaRPr>
          </a:p>
        </p:txBody>
      </p:sp>
      <p:sp>
        <p:nvSpPr>
          <p:cNvPr id="354" name="Google Shape;354;p16"/>
          <p:cNvSpPr/>
          <p:nvPr/>
        </p:nvSpPr>
        <p:spPr>
          <a:xfrm>
            <a:off x="548640" y="1554480"/>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6"/>
          <p:cNvSpPr/>
          <p:nvPr/>
        </p:nvSpPr>
        <p:spPr>
          <a:xfrm>
            <a:off x="713232" y="1609344"/>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prospect</a:t>
            </a:r>
            <a:endParaRPr b="0" i="0" sz="1150" u="none" cap="none" strike="noStrike">
              <a:solidFill>
                <a:schemeClr val="dk1"/>
              </a:solidFill>
              <a:latin typeface="Calibri"/>
              <a:ea typeface="Calibri"/>
              <a:cs typeface="Calibri"/>
              <a:sym typeface="Calibri"/>
            </a:endParaRPr>
          </a:p>
        </p:txBody>
      </p:sp>
      <p:sp>
        <p:nvSpPr>
          <p:cNvPr id="356" name="Google Shape;356;p16"/>
          <p:cNvSpPr/>
          <p:nvPr/>
        </p:nvSpPr>
        <p:spPr>
          <a:xfrm>
            <a:off x="713232" y="1883664"/>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Full 5-agent audit  </a:t>
            </a:r>
            <a:r>
              <a:rPr b="0" i="0" lang="en-US" sz="900" u="none" cap="none" strike="noStrike">
                <a:solidFill>
                  <a:srgbClr val="64748B"/>
                </a:solidFill>
                <a:latin typeface="Calibri"/>
                <a:ea typeface="Calibri"/>
                <a:cs typeface="Calibri"/>
                <a:sym typeface="Calibri"/>
              </a:rPr>
              <a:t>PROSPECT-ANALYSIS.md</a:t>
            </a:r>
            <a:endParaRPr b="0" i="0" sz="1050" u="none" cap="none" strike="noStrike">
              <a:solidFill>
                <a:schemeClr val="dk1"/>
              </a:solidFill>
              <a:latin typeface="Calibri"/>
              <a:ea typeface="Calibri"/>
              <a:cs typeface="Calibri"/>
              <a:sym typeface="Calibri"/>
            </a:endParaRPr>
          </a:p>
        </p:txBody>
      </p:sp>
      <p:sp>
        <p:nvSpPr>
          <p:cNvPr id="357" name="Google Shape;357;p16"/>
          <p:cNvSpPr/>
          <p:nvPr/>
        </p:nvSpPr>
        <p:spPr>
          <a:xfrm>
            <a:off x="4288536" y="1554480"/>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a:off x="4453128" y="1609344"/>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quick</a:t>
            </a:r>
            <a:endParaRPr b="0" i="0" sz="1150" u="none" cap="none" strike="noStrike">
              <a:solidFill>
                <a:schemeClr val="dk1"/>
              </a:solidFill>
              <a:latin typeface="Calibri"/>
              <a:ea typeface="Calibri"/>
              <a:cs typeface="Calibri"/>
              <a:sym typeface="Calibri"/>
            </a:endParaRPr>
          </a:p>
        </p:txBody>
      </p:sp>
      <p:sp>
        <p:nvSpPr>
          <p:cNvPr id="359" name="Google Shape;359;p16"/>
          <p:cNvSpPr/>
          <p:nvPr/>
        </p:nvSpPr>
        <p:spPr>
          <a:xfrm>
            <a:off x="4453128" y="1883664"/>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60-second snapshot  </a:t>
            </a:r>
            <a:r>
              <a:rPr b="0" i="0" lang="en-US" sz="900" u="none" cap="none" strike="noStrike">
                <a:solidFill>
                  <a:srgbClr val="64748B"/>
                </a:solidFill>
                <a:latin typeface="Calibri"/>
                <a:ea typeface="Calibri"/>
                <a:cs typeface="Calibri"/>
                <a:sym typeface="Calibri"/>
              </a:rPr>
              <a:t>Terminal</a:t>
            </a:r>
            <a:endParaRPr b="0" i="0" sz="1050" u="none" cap="none" strike="noStrike">
              <a:solidFill>
                <a:schemeClr val="dk1"/>
              </a:solidFill>
              <a:latin typeface="Calibri"/>
              <a:ea typeface="Calibri"/>
              <a:cs typeface="Calibri"/>
              <a:sym typeface="Calibri"/>
            </a:endParaRPr>
          </a:p>
        </p:txBody>
      </p:sp>
      <p:sp>
        <p:nvSpPr>
          <p:cNvPr id="360" name="Google Shape;360;p16"/>
          <p:cNvSpPr/>
          <p:nvPr/>
        </p:nvSpPr>
        <p:spPr>
          <a:xfrm>
            <a:off x="8028432" y="1554480"/>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6"/>
          <p:cNvSpPr/>
          <p:nvPr/>
        </p:nvSpPr>
        <p:spPr>
          <a:xfrm>
            <a:off x="8193024" y="1609344"/>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research</a:t>
            </a:r>
            <a:endParaRPr b="0" i="0" sz="1150" u="none" cap="none" strike="noStrike">
              <a:solidFill>
                <a:schemeClr val="dk1"/>
              </a:solidFill>
              <a:latin typeface="Calibri"/>
              <a:ea typeface="Calibri"/>
              <a:cs typeface="Calibri"/>
              <a:sym typeface="Calibri"/>
            </a:endParaRPr>
          </a:p>
        </p:txBody>
      </p:sp>
      <p:sp>
        <p:nvSpPr>
          <p:cNvPr id="362" name="Google Shape;362;p16"/>
          <p:cNvSpPr/>
          <p:nvPr/>
        </p:nvSpPr>
        <p:spPr>
          <a:xfrm>
            <a:off x="8193024" y="1883664"/>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Firmographics  </a:t>
            </a:r>
            <a:r>
              <a:rPr b="0" i="0" lang="en-US" sz="900" u="none" cap="none" strike="noStrike">
                <a:solidFill>
                  <a:srgbClr val="64748B"/>
                </a:solidFill>
                <a:latin typeface="Calibri"/>
                <a:ea typeface="Calibri"/>
                <a:cs typeface="Calibri"/>
                <a:sym typeface="Calibri"/>
              </a:rPr>
              <a:t>COMPANY-RESEARCH.md</a:t>
            </a:r>
            <a:endParaRPr b="0" i="0" sz="1050" u="none" cap="none" strike="noStrike">
              <a:solidFill>
                <a:schemeClr val="dk1"/>
              </a:solidFill>
              <a:latin typeface="Calibri"/>
              <a:ea typeface="Calibri"/>
              <a:cs typeface="Calibri"/>
              <a:sym typeface="Calibri"/>
            </a:endParaRPr>
          </a:p>
        </p:txBody>
      </p:sp>
      <p:sp>
        <p:nvSpPr>
          <p:cNvPr id="363" name="Google Shape;363;p16"/>
          <p:cNvSpPr/>
          <p:nvPr/>
        </p:nvSpPr>
        <p:spPr>
          <a:xfrm>
            <a:off x="548640" y="2322576"/>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6"/>
          <p:cNvSpPr/>
          <p:nvPr/>
        </p:nvSpPr>
        <p:spPr>
          <a:xfrm>
            <a:off x="713232" y="2377440"/>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qualify</a:t>
            </a:r>
            <a:endParaRPr b="0" i="0" sz="1150" u="none" cap="none" strike="noStrike">
              <a:solidFill>
                <a:schemeClr val="dk1"/>
              </a:solidFill>
              <a:latin typeface="Calibri"/>
              <a:ea typeface="Calibri"/>
              <a:cs typeface="Calibri"/>
              <a:sym typeface="Calibri"/>
            </a:endParaRPr>
          </a:p>
        </p:txBody>
      </p:sp>
      <p:sp>
        <p:nvSpPr>
          <p:cNvPr id="365" name="Google Shape;365;p16"/>
          <p:cNvSpPr/>
          <p:nvPr/>
        </p:nvSpPr>
        <p:spPr>
          <a:xfrm>
            <a:off x="713232" y="2651760"/>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BANT + MEDDIC  </a:t>
            </a:r>
            <a:r>
              <a:rPr b="0" i="0" lang="en-US" sz="900" u="none" cap="none" strike="noStrike">
                <a:solidFill>
                  <a:srgbClr val="64748B"/>
                </a:solidFill>
                <a:latin typeface="Calibri"/>
                <a:ea typeface="Calibri"/>
                <a:cs typeface="Calibri"/>
                <a:sym typeface="Calibri"/>
              </a:rPr>
              <a:t>LEAD-QUALIFICATION.md</a:t>
            </a:r>
            <a:endParaRPr b="0" i="0" sz="1050" u="none" cap="none" strike="noStrike">
              <a:solidFill>
                <a:schemeClr val="dk1"/>
              </a:solidFill>
              <a:latin typeface="Calibri"/>
              <a:ea typeface="Calibri"/>
              <a:cs typeface="Calibri"/>
              <a:sym typeface="Calibri"/>
            </a:endParaRPr>
          </a:p>
        </p:txBody>
      </p:sp>
      <p:sp>
        <p:nvSpPr>
          <p:cNvPr id="366" name="Google Shape;366;p16"/>
          <p:cNvSpPr/>
          <p:nvPr/>
        </p:nvSpPr>
        <p:spPr>
          <a:xfrm>
            <a:off x="4288536" y="2322576"/>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4453128" y="2377440"/>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contacts</a:t>
            </a:r>
            <a:endParaRPr b="0" i="0" sz="1150" u="none" cap="none" strike="noStrike">
              <a:solidFill>
                <a:schemeClr val="dk1"/>
              </a:solidFill>
              <a:latin typeface="Calibri"/>
              <a:ea typeface="Calibri"/>
              <a:cs typeface="Calibri"/>
              <a:sym typeface="Calibri"/>
            </a:endParaRPr>
          </a:p>
        </p:txBody>
      </p:sp>
      <p:sp>
        <p:nvSpPr>
          <p:cNvPr id="368" name="Google Shape;368;p16"/>
          <p:cNvSpPr/>
          <p:nvPr/>
        </p:nvSpPr>
        <p:spPr>
          <a:xfrm>
            <a:off x="4453128" y="2651760"/>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Decision makers  </a:t>
            </a:r>
            <a:r>
              <a:rPr b="0" i="0" lang="en-US" sz="900" u="none" cap="none" strike="noStrike">
                <a:solidFill>
                  <a:srgbClr val="64748B"/>
                </a:solidFill>
                <a:latin typeface="Calibri"/>
                <a:ea typeface="Calibri"/>
                <a:cs typeface="Calibri"/>
                <a:sym typeface="Calibri"/>
              </a:rPr>
              <a:t>DECISION-MAKERS.md</a:t>
            </a:r>
            <a:endParaRPr b="0" i="0" sz="1050" u="none" cap="none" strike="noStrike">
              <a:solidFill>
                <a:schemeClr val="dk1"/>
              </a:solidFill>
              <a:latin typeface="Calibri"/>
              <a:ea typeface="Calibri"/>
              <a:cs typeface="Calibri"/>
              <a:sym typeface="Calibri"/>
            </a:endParaRPr>
          </a:p>
        </p:txBody>
      </p:sp>
      <p:sp>
        <p:nvSpPr>
          <p:cNvPr id="369" name="Google Shape;369;p16"/>
          <p:cNvSpPr/>
          <p:nvPr/>
        </p:nvSpPr>
        <p:spPr>
          <a:xfrm>
            <a:off x="8028432" y="2322576"/>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a:off x="8193024" y="2377440"/>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outreach</a:t>
            </a:r>
            <a:endParaRPr b="0" i="0" sz="1150" u="none" cap="none" strike="noStrike">
              <a:solidFill>
                <a:schemeClr val="dk1"/>
              </a:solidFill>
              <a:latin typeface="Calibri"/>
              <a:ea typeface="Calibri"/>
              <a:cs typeface="Calibri"/>
              <a:sym typeface="Calibri"/>
            </a:endParaRPr>
          </a:p>
        </p:txBody>
      </p:sp>
      <p:sp>
        <p:nvSpPr>
          <p:cNvPr id="371" name="Google Shape;371;p16"/>
          <p:cNvSpPr/>
          <p:nvPr/>
        </p:nvSpPr>
        <p:spPr>
          <a:xfrm>
            <a:off x="8193024" y="2651760"/>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Cold sequence  </a:t>
            </a:r>
            <a:r>
              <a:rPr b="0" i="0" lang="en-US" sz="900" u="none" cap="none" strike="noStrike">
                <a:solidFill>
                  <a:srgbClr val="64748B"/>
                </a:solidFill>
                <a:latin typeface="Calibri"/>
                <a:ea typeface="Calibri"/>
                <a:cs typeface="Calibri"/>
                <a:sym typeface="Calibri"/>
              </a:rPr>
              <a:t>OUTREACH-SEQUENCE.md</a:t>
            </a:r>
            <a:endParaRPr b="0" i="0" sz="1050" u="none" cap="none" strike="noStrike">
              <a:solidFill>
                <a:schemeClr val="dk1"/>
              </a:solidFill>
              <a:latin typeface="Calibri"/>
              <a:ea typeface="Calibri"/>
              <a:cs typeface="Calibri"/>
              <a:sym typeface="Calibri"/>
            </a:endParaRPr>
          </a:p>
        </p:txBody>
      </p:sp>
      <p:sp>
        <p:nvSpPr>
          <p:cNvPr id="372" name="Google Shape;372;p16"/>
          <p:cNvSpPr/>
          <p:nvPr/>
        </p:nvSpPr>
        <p:spPr>
          <a:xfrm>
            <a:off x="548640" y="3090672"/>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
          <p:cNvSpPr/>
          <p:nvPr/>
        </p:nvSpPr>
        <p:spPr>
          <a:xfrm>
            <a:off x="713232" y="3145536"/>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followup</a:t>
            </a:r>
            <a:endParaRPr b="0" i="0" sz="1150" u="none" cap="none" strike="noStrike">
              <a:solidFill>
                <a:schemeClr val="dk1"/>
              </a:solidFill>
              <a:latin typeface="Calibri"/>
              <a:ea typeface="Calibri"/>
              <a:cs typeface="Calibri"/>
              <a:sym typeface="Calibri"/>
            </a:endParaRPr>
          </a:p>
        </p:txBody>
      </p:sp>
      <p:sp>
        <p:nvSpPr>
          <p:cNvPr id="374" name="Google Shape;374;p16"/>
          <p:cNvSpPr/>
          <p:nvPr/>
        </p:nvSpPr>
        <p:spPr>
          <a:xfrm>
            <a:off x="713232" y="3419856"/>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Follow-up sequence  </a:t>
            </a:r>
            <a:r>
              <a:rPr b="0" i="0" lang="en-US" sz="900" u="none" cap="none" strike="noStrike">
                <a:solidFill>
                  <a:srgbClr val="64748B"/>
                </a:solidFill>
                <a:latin typeface="Calibri"/>
                <a:ea typeface="Calibri"/>
                <a:cs typeface="Calibri"/>
                <a:sym typeface="Calibri"/>
              </a:rPr>
              <a:t>FOLLOWUP-SEQUENCE.md</a:t>
            </a:r>
            <a:endParaRPr b="0" i="0" sz="1050" u="none" cap="none" strike="noStrike">
              <a:solidFill>
                <a:schemeClr val="dk1"/>
              </a:solidFill>
              <a:latin typeface="Calibri"/>
              <a:ea typeface="Calibri"/>
              <a:cs typeface="Calibri"/>
              <a:sym typeface="Calibri"/>
            </a:endParaRPr>
          </a:p>
        </p:txBody>
      </p:sp>
      <p:sp>
        <p:nvSpPr>
          <p:cNvPr id="375" name="Google Shape;375;p16"/>
          <p:cNvSpPr/>
          <p:nvPr/>
        </p:nvSpPr>
        <p:spPr>
          <a:xfrm>
            <a:off x="4288536" y="3090672"/>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6"/>
          <p:cNvSpPr/>
          <p:nvPr/>
        </p:nvSpPr>
        <p:spPr>
          <a:xfrm>
            <a:off x="4453128" y="3145536"/>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prep</a:t>
            </a:r>
            <a:endParaRPr b="0" i="0" sz="1150" u="none" cap="none" strike="noStrike">
              <a:solidFill>
                <a:schemeClr val="dk1"/>
              </a:solidFill>
              <a:latin typeface="Calibri"/>
              <a:ea typeface="Calibri"/>
              <a:cs typeface="Calibri"/>
              <a:sym typeface="Calibri"/>
            </a:endParaRPr>
          </a:p>
        </p:txBody>
      </p:sp>
      <p:sp>
        <p:nvSpPr>
          <p:cNvPr id="377" name="Google Shape;377;p16"/>
          <p:cNvSpPr/>
          <p:nvPr/>
        </p:nvSpPr>
        <p:spPr>
          <a:xfrm>
            <a:off x="4453128" y="3419856"/>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Meeting brief  </a:t>
            </a:r>
            <a:r>
              <a:rPr b="0" i="0" lang="en-US" sz="900" u="none" cap="none" strike="noStrike">
                <a:solidFill>
                  <a:srgbClr val="64748B"/>
                </a:solidFill>
                <a:latin typeface="Calibri"/>
                <a:ea typeface="Calibri"/>
                <a:cs typeface="Calibri"/>
                <a:sym typeface="Calibri"/>
              </a:rPr>
              <a:t>MEETING-PREP.md</a:t>
            </a:r>
            <a:endParaRPr b="0" i="0" sz="1050" u="none" cap="none" strike="noStrike">
              <a:solidFill>
                <a:schemeClr val="dk1"/>
              </a:solidFill>
              <a:latin typeface="Calibri"/>
              <a:ea typeface="Calibri"/>
              <a:cs typeface="Calibri"/>
              <a:sym typeface="Calibri"/>
            </a:endParaRPr>
          </a:p>
        </p:txBody>
      </p:sp>
      <p:sp>
        <p:nvSpPr>
          <p:cNvPr id="378" name="Google Shape;378;p16"/>
          <p:cNvSpPr/>
          <p:nvPr/>
        </p:nvSpPr>
        <p:spPr>
          <a:xfrm>
            <a:off x="8028432" y="3090672"/>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a:off x="8193024" y="3145536"/>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proposal</a:t>
            </a:r>
            <a:endParaRPr b="0" i="0" sz="1150" u="none" cap="none" strike="noStrike">
              <a:solidFill>
                <a:schemeClr val="dk1"/>
              </a:solidFill>
              <a:latin typeface="Calibri"/>
              <a:ea typeface="Calibri"/>
              <a:cs typeface="Calibri"/>
              <a:sym typeface="Calibri"/>
            </a:endParaRPr>
          </a:p>
        </p:txBody>
      </p:sp>
      <p:sp>
        <p:nvSpPr>
          <p:cNvPr id="380" name="Google Shape;380;p16"/>
          <p:cNvSpPr/>
          <p:nvPr/>
        </p:nvSpPr>
        <p:spPr>
          <a:xfrm>
            <a:off x="8193024" y="3419856"/>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Client proposal  </a:t>
            </a:r>
            <a:r>
              <a:rPr b="0" i="0" lang="en-US" sz="900" u="none" cap="none" strike="noStrike">
                <a:solidFill>
                  <a:srgbClr val="64748B"/>
                </a:solidFill>
                <a:latin typeface="Calibri"/>
                <a:ea typeface="Calibri"/>
                <a:cs typeface="Calibri"/>
                <a:sym typeface="Calibri"/>
              </a:rPr>
              <a:t>CLIENT-PROPOSAL.md</a:t>
            </a:r>
            <a:endParaRPr b="0" i="0" sz="1050" u="none" cap="none" strike="noStrike">
              <a:solidFill>
                <a:schemeClr val="dk1"/>
              </a:solidFill>
              <a:latin typeface="Calibri"/>
              <a:ea typeface="Calibri"/>
              <a:cs typeface="Calibri"/>
              <a:sym typeface="Calibri"/>
            </a:endParaRPr>
          </a:p>
        </p:txBody>
      </p:sp>
      <p:sp>
        <p:nvSpPr>
          <p:cNvPr id="381" name="Google Shape;381;p16"/>
          <p:cNvSpPr/>
          <p:nvPr/>
        </p:nvSpPr>
        <p:spPr>
          <a:xfrm>
            <a:off x="548640" y="3858768"/>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a:off x="713232" y="3913632"/>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objections</a:t>
            </a:r>
            <a:endParaRPr b="0" i="0" sz="1150" u="none" cap="none" strike="noStrike">
              <a:solidFill>
                <a:schemeClr val="dk1"/>
              </a:solidFill>
              <a:latin typeface="Calibri"/>
              <a:ea typeface="Calibri"/>
              <a:cs typeface="Calibri"/>
              <a:sym typeface="Calibri"/>
            </a:endParaRPr>
          </a:p>
        </p:txBody>
      </p:sp>
      <p:sp>
        <p:nvSpPr>
          <p:cNvPr id="383" name="Google Shape;383;p16"/>
          <p:cNvSpPr/>
          <p:nvPr/>
        </p:nvSpPr>
        <p:spPr>
          <a:xfrm>
            <a:off x="713232" y="4187952"/>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Objection playbook  </a:t>
            </a:r>
            <a:r>
              <a:rPr b="0" i="0" lang="en-US" sz="900" u="none" cap="none" strike="noStrike">
                <a:solidFill>
                  <a:srgbClr val="64748B"/>
                </a:solidFill>
                <a:latin typeface="Calibri"/>
                <a:ea typeface="Calibri"/>
                <a:cs typeface="Calibri"/>
                <a:sym typeface="Calibri"/>
              </a:rPr>
              <a:t>OBJECTION-PLAYBOOK.md</a:t>
            </a:r>
            <a:endParaRPr b="0" i="0" sz="1050" u="none" cap="none" strike="noStrike">
              <a:solidFill>
                <a:schemeClr val="dk1"/>
              </a:solidFill>
              <a:latin typeface="Calibri"/>
              <a:ea typeface="Calibri"/>
              <a:cs typeface="Calibri"/>
              <a:sym typeface="Calibri"/>
            </a:endParaRPr>
          </a:p>
        </p:txBody>
      </p:sp>
      <p:sp>
        <p:nvSpPr>
          <p:cNvPr id="384" name="Google Shape;384;p16"/>
          <p:cNvSpPr/>
          <p:nvPr/>
        </p:nvSpPr>
        <p:spPr>
          <a:xfrm>
            <a:off x="4288536" y="3858768"/>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4453128" y="3913632"/>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icp</a:t>
            </a:r>
            <a:endParaRPr b="0" i="0" sz="1150" u="none" cap="none" strike="noStrike">
              <a:solidFill>
                <a:schemeClr val="dk1"/>
              </a:solidFill>
              <a:latin typeface="Calibri"/>
              <a:ea typeface="Calibri"/>
              <a:cs typeface="Calibri"/>
              <a:sym typeface="Calibri"/>
            </a:endParaRPr>
          </a:p>
        </p:txBody>
      </p:sp>
      <p:sp>
        <p:nvSpPr>
          <p:cNvPr id="386" name="Google Shape;386;p16"/>
          <p:cNvSpPr/>
          <p:nvPr/>
        </p:nvSpPr>
        <p:spPr>
          <a:xfrm>
            <a:off x="4453128" y="4187952"/>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Ideal profile  </a:t>
            </a:r>
            <a:r>
              <a:rPr b="0" i="0" lang="en-US" sz="900" u="none" cap="none" strike="noStrike">
                <a:solidFill>
                  <a:srgbClr val="64748B"/>
                </a:solidFill>
                <a:latin typeface="Calibri"/>
                <a:ea typeface="Calibri"/>
                <a:cs typeface="Calibri"/>
                <a:sym typeface="Calibri"/>
              </a:rPr>
              <a:t>IDEAL-CUSTOMER-PROFILE.md</a:t>
            </a:r>
            <a:endParaRPr b="0" i="0" sz="1050" u="none" cap="none" strike="noStrike">
              <a:solidFill>
                <a:schemeClr val="dk1"/>
              </a:solidFill>
              <a:latin typeface="Calibri"/>
              <a:ea typeface="Calibri"/>
              <a:cs typeface="Calibri"/>
              <a:sym typeface="Calibri"/>
            </a:endParaRPr>
          </a:p>
        </p:txBody>
      </p:sp>
      <p:sp>
        <p:nvSpPr>
          <p:cNvPr id="387" name="Google Shape;387;p16"/>
          <p:cNvSpPr/>
          <p:nvPr/>
        </p:nvSpPr>
        <p:spPr>
          <a:xfrm>
            <a:off x="8028432" y="3858768"/>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a:off x="8193024" y="3913632"/>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competitors</a:t>
            </a:r>
            <a:endParaRPr b="0" i="0" sz="1150" u="none" cap="none" strike="noStrike">
              <a:solidFill>
                <a:schemeClr val="dk1"/>
              </a:solidFill>
              <a:latin typeface="Calibri"/>
              <a:ea typeface="Calibri"/>
              <a:cs typeface="Calibri"/>
              <a:sym typeface="Calibri"/>
            </a:endParaRPr>
          </a:p>
        </p:txBody>
      </p:sp>
      <p:sp>
        <p:nvSpPr>
          <p:cNvPr id="389" name="Google Shape;389;p16"/>
          <p:cNvSpPr/>
          <p:nvPr/>
        </p:nvSpPr>
        <p:spPr>
          <a:xfrm>
            <a:off x="8193024" y="4187952"/>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Competitive intel  </a:t>
            </a:r>
            <a:r>
              <a:rPr b="0" i="0" lang="en-US" sz="900" u="none" cap="none" strike="noStrike">
                <a:solidFill>
                  <a:srgbClr val="64748B"/>
                </a:solidFill>
                <a:latin typeface="Calibri"/>
                <a:ea typeface="Calibri"/>
                <a:cs typeface="Calibri"/>
                <a:sym typeface="Calibri"/>
              </a:rPr>
              <a:t>COMPETITIVE-INTEL.md</a:t>
            </a:r>
            <a:endParaRPr b="0" i="0" sz="1050" u="none" cap="none" strike="noStrike">
              <a:solidFill>
                <a:schemeClr val="dk1"/>
              </a:solidFill>
              <a:latin typeface="Calibri"/>
              <a:ea typeface="Calibri"/>
              <a:cs typeface="Calibri"/>
              <a:sym typeface="Calibri"/>
            </a:endParaRPr>
          </a:p>
        </p:txBody>
      </p:sp>
      <p:sp>
        <p:nvSpPr>
          <p:cNvPr id="390" name="Google Shape;390;p16"/>
          <p:cNvSpPr/>
          <p:nvPr/>
        </p:nvSpPr>
        <p:spPr>
          <a:xfrm>
            <a:off x="548640" y="4626864"/>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713232" y="4681728"/>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report</a:t>
            </a:r>
            <a:endParaRPr b="0" i="0" sz="1150" u="none" cap="none" strike="noStrike">
              <a:solidFill>
                <a:schemeClr val="dk1"/>
              </a:solidFill>
              <a:latin typeface="Calibri"/>
              <a:ea typeface="Calibri"/>
              <a:cs typeface="Calibri"/>
              <a:sym typeface="Calibri"/>
            </a:endParaRPr>
          </a:p>
        </p:txBody>
      </p:sp>
      <p:sp>
        <p:nvSpPr>
          <p:cNvPr id="392" name="Google Shape;392;p16"/>
          <p:cNvSpPr/>
          <p:nvPr/>
        </p:nvSpPr>
        <p:spPr>
          <a:xfrm>
            <a:off x="713232" y="4956048"/>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Pipeline report  </a:t>
            </a:r>
            <a:r>
              <a:rPr b="0" i="0" lang="en-US" sz="900" u="none" cap="none" strike="noStrike">
                <a:solidFill>
                  <a:srgbClr val="64748B"/>
                </a:solidFill>
                <a:latin typeface="Calibri"/>
                <a:ea typeface="Calibri"/>
                <a:cs typeface="Calibri"/>
                <a:sym typeface="Calibri"/>
              </a:rPr>
              <a:t>SALES-REPORT.md</a:t>
            </a:r>
            <a:endParaRPr b="0" i="0" sz="1050" u="none" cap="none" strike="noStrike">
              <a:solidFill>
                <a:schemeClr val="dk1"/>
              </a:solidFill>
              <a:latin typeface="Calibri"/>
              <a:ea typeface="Calibri"/>
              <a:cs typeface="Calibri"/>
              <a:sym typeface="Calibri"/>
            </a:endParaRPr>
          </a:p>
        </p:txBody>
      </p:sp>
      <p:sp>
        <p:nvSpPr>
          <p:cNvPr id="393" name="Google Shape;393;p16"/>
          <p:cNvSpPr/>
          <p:nvPr/>
        </p:nvSpPr>
        <p:spPr>
          <a:xfrm>
            <a:off x="4288536" y="4626864"/>
            <a:ext cx="3611880" cy="658368"/>
          </a:xfrm>
          <a:prstGeom prst="roundRect">
            <a:avLst>
              <a:gd fmla="val 6944"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a:off x="4453128" y="4681728"/>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50"/>
              <a:buFont typeface="Courier New"/>
              <a:buNone/>
            </a:pPr>
            <a:r>
              <a:rPr b="1" i="0" lang="en-US" sz="1150" u="none" cap="none" strike="noStrike">
                <a:solidFill>
                  <a:srgbClr val="2E5E8C"/>
                </a:solidFill>
                <a:latin typeface="Courier New"/>
                <a:ea typeface="Courier New"/>
                <a:cs typeface="Courier New"/>
                <a:sym typeface="Courier New"/>
              </a:rPr>
              <a:t>/sales report-pdf</a:t>
            </a:r>
            <a:endParaRPr b="0" i="0" sz="1150" u="none" cap="none" strike="noStrike">
              <a:solidFill>
                <a:schemeClr val="dk1"/>
              </a:solidFill>
              <a:latin typeface="Calibri"/>
              <a:ea typeface="Calibri"/>
              <a:cs typeface="Calibri"/>
              <a:sym typeface="Calibri"/>
            </a:endParaRPr>
          </a:p>
        </p:txBody>
      </p:sp>
      <p:sp>
        <p:nvSpPr>
          <p:cNvPr id="395" name="Google Shape;395;p16"/>
          <p:cNvSpPr/>
          <p:nvPr/>
        </p:nvSpPr>
        <p:spPr>
          <a:xfrm>
            <a:off x="4453128" y="4956048"/>
            <a:ext cx="3282696"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050"/>
              <a:buFont typeface="Calibri"/>
              <a:buNone/>
            </a:pPr>
            <a:r>
              <a:rPr b="0" i="0" lang="en-US" sz="1050" u="none" cap="none" strike="noStrike">
                <a:solidFill>
                  <a:srgbClr val="0F172A"/>
                </a:solidFill>
                <a:latin typeface="Calibri"/>
                <a:ea typeface="Calibri"/>
                <a:cs typeface="Calibri"/>
                <a:sym typeface="Calibri"/>
              </a:rPr>
              <a:t>Pipeline PDF  </a:t>
            </a:r>
            <a:r>
              <a:rPr b="0" i="0" lang="en-US" sz="900" u="none" cap="none" strike="noStrike">
                <a:solidFill>
                  <a:srgbClr val="64748B"/>
                </a:solidFill>
                <a:latin typeface="Calibri"/>
                <a:ea typeface="Calibri"/>
                <a:cs typeface="Calibri"/>
                <a:sym typeface="Calibri"/>
              </a:rPr>
              <a:t>SALES-REPORT-*.pdf</a:t>
            </a:r>
            <a:endParaRPr b="0" i="0" sz="1050" u="none" cap="none" strike="noStrike">
              <a:solidFill>
                <a:schemeClr val="dk1"/>
              </a:solidFill>
              <a:latin typeface="Calibri"/>
              <a:ea typeface="Calibri"/>
              <a:cs typeface="Calibri"/>
              <a:sym typeface="Calibri"/>
            </a:endParaRPr>
          </a:p>
        </p:txBody>
      </p:sp>
      <p:sp>
        <p:nvSpPr>
          <p:cNvPr id="396" name="Google Shape;396;p16"/>
          <p:cNvSpPr/>
          <p:nvPr/>
        </p:nvSpPr>
        <p:spPr>
          <a:xfrm>
            <a:off x="548640" y="626364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50"/>
              <a:buFont typeface="Calibri"/>
              <a:buNone/>
            </a:pPr>
            <a:r>
              <a:rPr b="0" i="1" lang="en-US" sz="1150" u="none" cap="none" strike="noStrike">
                <a:solidFill>
                  <a:srgbClr val="64748B"/>
                </a:solidFill>
                <a:latin typeface="Calibri"/>
                <a:ea typeface="Calibri"/>
                <a:cs typeface="Calibri"/>
                <a:sym typeface="Calibri"/>
              </a:rPr>
              <a:t>Thirteen live in skills/ as sub-skills; quick is handled inline by the manager. The flagship prospect launches the five agents in parallel.</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01" name="Shape 401"/>
        <p:cNvGrpSpPr/>
        <p:nvPr/>
      </p:nvGrpSpPr>
      <p:grpSpPr>
        <a:xfrm>
          <a:off x="0" y="0"/>
          <a:ext cx="0" cy="0"/>
          <a:chOff x="0" y="0"/>
          <a:chExt cx="0" cy="0"/>
        </a:xfrm>
      </p:grpSpPr>
      <p:sp>
        <p:nvSpPr>
          <p:cNvPr id="402" name="Google Shape;402;p17"/>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BACK OFFICE AND THE COLLATERAL</a:t>
            </a:r>
            <a:endParaRPr b="0" i="0" sz="1200" u="none" cap="none" strike="noStrike">
              <a:solidFill>
                <a:schemeClr val="dk1"/>
              </a:solidFill>
              <a:latin typeface="Calibri"/>
              <a:ea typeface="Calibri"/>
              <a:cs typeface="Calibri"/>
              <a:sym typeface="Calibri"/>
            </a:endParaRPr>
          </a:p>
        </p:txBody>
      </p:sp>
      <p:sp>
        <p:nvSpPr>
          <p:cNvPr id="403" name="Google Shape;403;p17"/>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4 scripts and 6 templates</a:t>
            </a:r>
            <a:endParaRPr b="0" i="0" sz="2700" u="none" cap="none" strike="noStrike">
              <a:solidFill>
                <a:schemeClr val="dk1"/>
              </a:solidFill>
              <a:latin typeface="Calibri"/>
              <a:ea typeface="Calibri"/>
              <a:cs typeface="Calibri"/>
              <a:sym typeface="Calibri"/>
            </a:endParaRPr>
          </a:p>
        </p:txBody>
      </p:sp>
      <p:sp>
        <p:nvSpPr>
          <p:cNvPr id="404" name="Google Shape;404;p17"/>
          <p:cNvSpPr/>
          <p:nvPr/>
        </p:nvSpPr>
        <p:spPr>
          <a:xfrm>
            <a:off x="548640" y="146304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8F6B"/>
              </a:buClr>
              <a:buSzPts val="1500"/>
              <a:buFont typeface="Calibri"/>
              <a:buNone/>
            </a:pPr>
            <a:r>
              <a:rPr b="1" i="0" lang="en-US" sz="1500" u="none" cap="none" strike="noStrike">
                <a:solidFill>
                  <a:srgbClr val="3F8F6B"/>
                </a:solidFill>
                <a:latin typeface="Calibri"/>
                <a:ea typeface="Calibri"/>
                <a:cs typeface="Calibri"/>
                <a:sym typeface="Calibri"/>
              </a:rPr>
              <a:t>The scripts (real CLI)</a:t>
            </a:r>
            <a:endParaRPr b="0" i="0" sz="1500" u="none" cap="none" strike="noStrike">
              <a:solidFill>
                <a:schemeClr val="dk1"/>
              </a:solidFill>
              <a:latin typeface="Calibri"/>
              <a:ea typeface="Calibri"/>
              <a:cs typeface="Calibri"/>
              <a:sym typeface="Calibri"/>
            </a:endParaRPr>
          </a:p>
        </p:txBody>
      </p:sp>
      <p:sp>
        <p:nvSpPr>
          <p:cNvPr id="405" name="Google Shape;405;p17"/>
          <p:cNvSpPr/>
          <p:nvPr/>
        </p:nvSpPr>
        <p:spPr>
          <a:xfrm>
            <a:off x="548640" y="1874520"/>
            <a:ext cx="5486400" cy="868680"/>
          </a:xfrm>
          <a:prstGeom prst="roundRect">
            <a:avLst>
              <a:gd fmla="val 631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7"/>
          <p:cNvSpPr/>
          <p:nvPr/>
        </p:nvSpPr>
        <p:spPr>
          <a:xfrm>
            <a:off x="731520" y="1984248"/>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ourier New"/>
              <a:buNone/>
            </a:pPr>
            <a:r>
              <a:rPr b="1" i="0" lang="en-US" sz="1250" u="none" cap="none" strike="noStrike">
                <a:solidFill>
                  <a:srgbClr val="0F172A"/>
                </a:solidFill>
                <a:latin typeface="Courier New"/>
                <a:ea typeface="Courier New"/>
                <a:cs typeface="Courier New"/>
                <a:sym typeface="Courier New"/>
              </a:rPr>
              <a:t>analyze_prospect.py</a:t>
            </a:r>
            <a:endParaRPr b="0" i="0" sz="1250" u="none" cap="none" strike="noStrike">
              <a:solidFill>
                <a:schemeClr val="dk1"/>
              </a:solidFill>
              <a:latin typeface="Calibri"/>
              <a:ea typeface="Calibri"/>
              <a:cs typeface="Calibri"/>
              <a:sym typeface="Calibri"/>
            </a:endParaRPr>
          </a:p>
        </p:txBody>
      </p:sp>
      <p:sp>
        <p:nvSpPr>
          <p:cNvPr id="407" name="Google Shape;407;p17"/>
          <p:cNvSpPr/>
          <p:nvPr/>
        </p:nvSpPr>
        <p:spPr>
          <a:xfrm>
            <a:off x="731520" y="2258568"/>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950"/>
              <a:buFont typeface="Courier New"/>
              <a:buNone/>
            </a:pPr>
            <a:r>
              <a:rPr b="0" i="0" lang="en-US" sz="950" u="none" cap="none" strike="noStrike">
                <a:solidFill>
                  <a:srgbClr val="2E5E8C"/>
                </a:solidFill>
                <a:latin typeface="Courier New"/>
                <a:ea typeface="Courier New"/>
                <a:cs typeface="Courier New"/>
                <a:sym typeface="Courier New"/>
              </a:rPr>
              <a:t>python3 analyze_prospect.py --url &lt;url&gt; --output json</a:t>
            </a:r>
            <a:endParaRPr b="0" i="0" sz="950" u="none" cap="none" strike="noStrike">
              <a:solidFill>
                <a:schemeClr val="dk1"/>
              </a:solidFill>
              <a:latin typeface="Calibri"/>
              <a:ea typeface="Calibri"/>
              <a:cs typeface="Calibri"/>
              <a:sym typeface="Calibri"/>
            </a:endParaRPr>
          </a:p>
        </p:txBody>
      </p:sp>
      <p:sp>
        <p:nvSpPr>
          <p:cNvPr id="408" name="Google Shape;408;p17"/>
          <p:cNvSpPr/>
          <p:nvPr/>
        </p:nvSpPr>
        <p:spPr>
          <a:xfrm>
            <a:off x="731520" y="2478024"/>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Fetches a site into structured data</a:t>
            </a:r>
            <a:endParaRPr b="0" i="0" sz="1050" u="none" cap="none" strike="noStrike">
              <a:solidFill>
                <a:schemeClr val="dk1"/>
              </a:solidFill>
              <a:latin typeface="Calibri"/>
              <a:ea typeface="Calibri"/>
              <a:cs typeface="Calibri"/>
              <a:sym typeface="Calibri"/>
            </a:endParaRPr>
          </a:p>
        </p:txBody>
      </p:sp>
      <p:sp>
        <p:nvSpPr>
          <p:cNvPr id="409" name="Google Shape;409;p17"/>
          <p:cNvSpPr/>
          <p:nvPr/>
        </p:nvSpPr>
        <p:spPr>
          <a:xfrm>
            <a:off x="548640" y="2852928"/>
            <a:ext cx="5486400" cy="868680"/>
          </a:xfrm>
          <a:prstGeom prst="roundRect">
            <a:avLst>
              <a:gd fmla="val 631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731520" y="2962656"/>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ourier New"/>
              <a:buNone/>
            </a:pPr>
            <a:r>
              <a:rPr b="1" i="0" lang="en-US" sz="1250" u="none" cap="none" strike="noStrike">
                <a:solidFill>
                  <a:srgbClr val="0F172A"/>
                </a:solidFill>
                <a:latin typeface="Courier New"/>
                <a:ea typeface="Courier New"/>
                <a:cs typeface="Courier New"/>
                <a:sym typeface="Courier New"/>
              </a:rPr>
              <a:t>lead_scorer.py</a:t>
            </a:r>
            <a:endParaRPr b="0" i="0" sz="1250" u="none" cap="none" strike="noStrike">
              <a:solidFill>
                <a:schemeClr val="dk1"/>
              </a:solidFill>
              <a:latin typeface="Calibri"/>
              <a:ea typeface="Calibri"/>
              <a:cs typeface="Calibri"/>
              <a:sym typeface="Calibri"/>
            </a:endParaRPr>
          </a:p>
        </p:txBody>
      </p:sp>
      <p:sp>
        <p:nvSpPr>
          <p:cNvPr id="411" name="Google Shape;411;p17"/>
          <p:cNvSpPr/>
          <p:nvPr/>
        </p:nvSpPr>
        <p:spPr>
          <a:xfrm>
            <a:off x="731520" y="3236976"/>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950"/>
              <a:buFont typeface="Courier New"/>
              <a:buNone/>
            </a:pPr>
            <a:r>
              <a:rPr b="0" i="0" lang="en-US" sz="950" u="none" cap="none" strike="noStrike">
                <a:solidFill>
                  <a:srgbClr val="2E5E8C"/>
                </a:solidFill>
                <a:latin typeface="Courier New"/>
                <a:ea typeface="Courier New"/>
                <a:cs typeface="Courier New"/>
                <a:sym typeface="Courier New"/>
              </a:rPr>
              <a:t>python3 lead_scorer.py &lt;input.json&gt;</a:t>
            </a:r>
            <a:endParaRPr b="0" i="0" sz="950" u="none" cap="none" strike="noStrike">
              <a:solidFill>
                <a:schemeClr val="dk1"/>
              </a:solidFill>
              <a:latin typeface="Calibri"/>
              <a:ea typeface="Calibri"/>
              <a:cs typeface="Calibri"/>
              <a:sym typeface="Calibri"/>
            </a:endParaRPr>
          </a:p>
        </p:txBody>
      </p:sp>
      <p:sp>
        <p:nvSpPr>
          <p:cNvPr id="412" name="Google Shape;412;p17"/>
          <p:cNvSpPr/>
          <p:nvPr/>
        </p:nvSpPr>
        <p:spPr>
          <a:xfrm>
            <a:off x="731520" y="3456432"/>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BANT + MEDDIC, each dimension 0 to 25</a:t>
            </a:r>
            <a:endParaRPr b="0" i="0" sz="1050" u="none" cap="none" strike="noStrike">
              <a:solidFill>
                <a:schemeClr val="dk1"/>
              </a:solidFill>
              <a:latin typeface="Calibri"/>
              <a:ea typeface="Calibri"/>
              <a:cs typeface="Calibri"/>
              <a:sym typeface="Calibri"/>
            </a:endParaRPr>
          </a:p>
        </p:txBody>
      </p:sp>
      <p:sp>
        <p:nvSpPr>
          <p:cNvPr id="413" name="Google Shape;413;p17"/>
          <p:cNvSpPr/>
          <p:nvPr/>
        </p:nvSpPr>
        <p:spPr>
          <a:xfrm>
            <a:off x="548640" y="3831336"/>
            <a:ext cx="5486400" cy="868680"/>
          </a:xfrm>
          <a:prstGeom prst="roundRect">
            <a:avLst>
              <a:gd fmla="val 631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731520" y="3941064"/>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ourier New"/>
              <a:buNone/>
            </a:pPr>
            <a:r>
              <a:rPr b="1" i="0" lang="en-US" sz="1250" u="none" cap="none" strike="noStrike">
                <a:solidFill>
                  <a:srgbClr val="0F172A"/>
                </a:solidFill>
                <a:latin typeface="Courier New"/>
                <a:ea typeface="Courier New"/>
                <a:cs typeface="Courier New"/>
                <a:sym typeface="Courier New"/>
              </a:rPr>
              <a:t>contact_finder.py</a:t>
            </a:r>
            <a:endParaRPr b="0" i="0" sz="1250" u="none" cap="none" strike="noStrike">
              <a:solidFill>
                <a:schemeClr val="dk1"/>
              </a:solidFill>
              <a:latin typeface="Calibri"/>
              <a:ea typeface="Calibri"/>
              <a:cs typeface="Calibri"/>
              <a:sym typeface="Calibri"/>
            </a:endParaRPr>
          </a:p>
        </p:txBody>
      </p:sp>
      <p:sp>
        <p:nvSpPr>
          <p:cNvPr id="415" name="Google Shape;415;p17"/>
          <p:cNvSpPr/>
          <p:nvPr/>
        </p:nvSpPr>
        <p:spPr>
          <a:xfrm>
            <a:off x="731520" y="4215384"/>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950"/>
              <a:buFont typeface="Courier New"/>
              <a:buNone/>
            </a:pPr>
            <a:r>
              <a:rPr b="0" i="0" lang="en-US" sz="950" u="none" cap="none" strike="noStrike">
                <a:solidFill>
                  <a:srgbClr val="2E5E8C"/>
                </a:solidFill>
                <a:latin typeface="Courier New"/>
                <a:ea typeface="Courier New"/>
                <a:cs typeface="Courier New"/>
                <a:sym typeface="Courier New"/>
              </a:rPr>
              <a:t>python3 contact_finder.py --url &lt;url&gt; --output json</a:t>
            </a:r>
            <a:endParaRPr b="0" i="0" sz="950" u="none" cap="none" strike="noStrike">
              <a:solidFill>
                <a:schemeClr val="dk1"/>
              </a:solidFill>
              <a:latin typeface="Calibri"/>
              <a:ea typeface="Calibri"/>
              <a:cs typeface="Calibri"/>
              <a:sym typeface="Calibri"/>
            </a:endParaRPr>
          </a:p>
        </p:txBody>
      </p:sp>
      <p:sp>
        <p:nvSpPr>
          <p:cNvPr id="416" name="Google Shape;416;p17"/>
          <p:cNvSpPr/>
          <p:nvPr/>
        </p:nvSpPr>
        <p:spPr>
          <a:xfrm>
            <a:off x="731520" y="4434840"/>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Extracts leadership and team info</a:t>
            </a:r>
            <a:endParaRPr b="0" i="0" sz="1050" u="none" cap="none" strike="noStrike">
              <a:solidFill>
                <a:schemeClr val="dk1"/>
              </a:solidFill>
              <a:latin typeface="Calibri"/>
              <a:ea typeface="Calibri"/>
              <a:cs typeface="Calibri"/>
              <a:sym typeface="Calibri"/>
            </a:endParaRPr>
          </a:p>
        </p:txBody>
      </p:sp>
      <p:sp>
        <p:nvSpPr>
          <p:cNvPr id="417" name="Google Shape;417;p17"/>
          <p:cNvSpPr/>
          <p:nvPr/>
        </p:nvSpPr>
        <p:spPr>
          <a:xfrm>
            <a:off x="548640" y="4809744"/>
            <a:ext cx="5486400" cy="868680"/>
          </a:xfrm>
          <a:prstGeom prst="roundRect">
            <a:avLst>
              <a:gd fmla="val 631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731520" y="4919472"/>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50"/>
              <a:buFont typeface="Courier New"/>
              <a:buNone/>
            </a:pPr>
            <a:r>
              <a:rPr b="1" i="0" lang="en-US" sz="1250" u="none" cap="none" strike="noStrike">
                <a:solidFill>
                  <a:srgbClr val="0F172A"/>
                </a:solidFill>
                <a:latin typeface="Courier New"/>
                <a:ea typeface="Courier New"/>
                <a:cs typeface="Courier New"/>
                <a:sym typeface="Courier New"/>
              </a:rPr>
              <a:t>generate_pdf_report.py</a:t>
            </a:r>
            <a:endParaRPr b="0" i="0" sz="1250" u="none" cap="none" strike="noStrike">
              <a:solidFill>
                <a:schemeClr val="dk1"/>
              </a:solidFill>
              <a:latin typeface="Calibri"/>
              <a:ea typeface="Calibri"/>
              <a:cs typeface="Calibri"/>
              <a:sym typeface="Calibri"/>
            </a:endParaRPr>
          </a:p>
        </p:txBody>
      </p:sp>
      <p:sp>
        <p:nvSpPr>
          <p:cNvPr id="419" name="Google Shape;419;p17"/>
          <p:cNvSpPr/>
          <p:nvPr/>
        </p:nvSpPr>
        <p:spPr>
          <a:xfrm>
            <a:off x="731520" y="5193792"/>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950"/>
              <a:buFont typeface="Courier New"/>
              <a:buNone/>
            </a:pPr>
            <a:r>
              <a:rPr b="0" i="0" lang="en-US" sz="950" u="none" cap="none" strike="noStrike">
                <a:solidFill>
                  <a:srgbClr val="2E5E8C"/>
                </a:solidFill>
                <a:latin typeface="Courier New"/>
                <a:ea typeface="Courier New"/>
                <a:cs typeface="Courier New"/>
                <a:sym typeface="Courier New"/>
              </a:rPr>
              <a:t>python3 generate_pdf_report.py &lt;json&gt; [output.pdf]</a:t>
            </a:r>
            <a:endParaRPr b="0" i="0" sz="950" u="none" cap="none" strike="noStrike">
              <a:solidFill>
                <a:schemeClr val="dk1"/>
              </a:solidFill>
              <a:latin typeface="Calibri"/>
              <a:ea typeface="Calibri"/>
              <a:cs typeface="Calibri"/>
              <a:sym typeface="Calibri"/>
            </a:endParaRPr>
          </a:p>
        </p:txBody>
      </p:sp>
      <p:sp>
        <p:nvSpPr>
          <p:cNvPr id="420" name="Google Shape;420;p17"/>
          <p:cNvSpPr/>
          <p:nvPr/>
        </p:nvSpPr>
        <p:spPr>
          <a:xfrm>
            <a:off x="731520" y="5413248"/>
            <a:ext cx="51206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Multi-page pipeline PDF report</a:t>
            </a:r>
            <a:endParaRPr b="0" i="0" sz="1050" u="none" cap="none" strike="noStrike">
              <a:solidFill>
                <a:schemeClr val="dk1"/>
              </a:solidFill>
              <a:latin typeface="Calibri"/>
              <a:ea typeface="Calibri"/>
              <a:cs typeface="Calibri"/>
              <a:sym typeface="Calibri"/>
            </a:endParaRPr>
          </a:p>
        </p:txBody>
      </p:sp>
      <p:sp>
        <p:nvSpPr>
          <p:cNvPr id="421" name="Google Shape;421;p17"/>
          <p:cNvSpPr/>
          <p:nvPr/>
        </p:nvSpPr>
        <p:spPr>
          <a:xfrm>
            <a:off x="6400800" y="1463040"/>
            <a:ext cx="5212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500"/>
              <a:buFont typeface="Calibri"/>
              <a:buNone/>
            </a:pPr>
            <a:r>
              <a:rPr b="1" i="0" lang="en-US" sz="1500" u="none" cap="none" strike="noStrike">
                <a:solidFill>
                  <a:srgbClr val="E1A140"/>
                </a:solidFill>
                <a:latin typeface="Calibri"/>
                <a:ea typeface="Calibri"/>
                <a:cs typeface="Calibri"/>
                <a:sym typeface="Calibri"/>
              </a:rPr>
              <a:t>The templates (collateral)</a:t>
            </a:r>
            <a:endParaRPr b="0" i="0" sz="1500" u="none" cap="none" strike="noStrike">
              <a:solidFill>
                <a:schemeClr val="dk1"/>
              </a:solidFill>
              <a:latin typeface="Calibri"/>
              <a:ea typeface="Calibri"/>
              <a:cs typeface="Calibri"/>
              <a:sym typeface="Calibri"/>
            </a:endParaRPr>
          </a:p>
        </p:txBody>
      </p:sp>
      <p:sp>
        <p:nvSpPr>
          <p:cNvPr id="422" name="Google Shape;422;p17"/>
          <p:cNvSpPr/>
          <p:nvPr/>
        </p:nvSpPr>
        <p:spPr>
          <a:xfrm>
            <a:off x="6400800" y="1874520"/>
            <a:ext cx="5212080" cy="566928"/>
          </a:xfrm>
          <a:prstGeom prst="roundRect">
            <a:avLst>
              <a:gd fmla="val 806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7"/>
          <p:cNvSpPr/>
          <p:nvPr/>
        </p:nvSpPr>
        <p:spPr>
          <a:xfrm>
            <a:off x="6583680" y="1874520"/>
            <a:ext cx="24688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ourier New"/>
              <a:buNone/>
            </a:pPr>
            <a:r>
              <a:rPr b="1" i="0" lang="en-US" sz="1100" u="none" cap="none" strike="noStrike">
                <a:solidFill>
                  <a:srgbClr val="0F172A"/>
                </a:solidFill>
                <a:latin typeface="Courier New"/>
                <a:ea typeface="Courier New"/>
                <a:cs typeface="Courier New"/>
                <a:sym typeface="Courier New"/>
              </a:rPr>
              <a:t>outreach-cold.md</a:t>
            </a:r>
            <a:endParaRPr b="0" i="0" sz="1100" u="none" cap="none" strike="noStrike">
              <a:solidFill>
                <a:schemeClr val="dk1"/>
              </a:solidFill>
              <a:latin typeface="Calibri"/>
              <a:ea typeface="Calibri"/>
              <a:cs typeface="Calibri"/>
              <a:sym typeface="Calibri"/>
            </a:endParaRPr>
          </a:p>
        </p:txBody>
      </p:sp>
      <p:sp>
        <p:nvSpPr>
          <p:cNvPr id="424" name="Google Shape;424;p17"/>
          <p:cNvSpPr/>
          <p:nvPr/>
        </p:nvSpPr>
        <p:spPr>
          <a:xfrm>
            <a:off x="9052560" y="187452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First-touch cold email</a:t>
            </a:r>
            <a:endParaRPr b="0" i="0" sz="1050" u="none" cap="none" strike="noStrike">
              <a:solidFill>
                <a:schemeClr val="dk1"/>
              </a:solidFill>
              <a:latin typeface="Calibri"/>
              <a:ea typeface="Calibri"/>
              <a:cs typeface="Calibri"/>
              <a:sym typeface="Calibri"/>
            </a:endParaRPr>
          </a:p>
        </p:txBody>
      </p:sp>
      <p:sp>
        <p:nvSpPr>
          <p:cNvPr id="425" name="Google Shape;425;p17"/>
          <p:cNvSpPr/>
          <p:nvPr/>
        </p:nvSpPr>
        <p:spPr>
          <a:xfrm>
            <a:off x="6400800" y="2532888"/>
            <a:ext cx="5212080" cy="566928"/>
          </a:xfrm>
          <a:prstGeom prst="roundRect">
            <a:avLst>
              <a:gd fmla="val 806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7"/>
          <p:cNvSpPr/>
          <p:nvPr/>
        </p:nvSpPr>
        <p:spPr>
          <a:xfrm>
            <a:off x="6583680" y="2532888"/>
            <a:ext cx="24688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ourier New"/>
              <a:buNone/>
            </a:pPr>
            <a:r>
              <a:rPr b="1" i="0" lang="en-US" sz="1100" u="none" cap="none" strike="noStrike">
                <a:solidFill>
                  <a:srgbClr val="0F172A"/>
                </a:solidFill>
                <a:latin typeface="Courier New"/>
                <a:ea typeface="Courier New"/>
                <a:cs typeface="Courier New"/>
                <a:sym typeface="Courier New"/>
              </a:rPr>
              <a:t>outreach-warm.md</a:t>
            </a:r>
            <a:endParaRPr b="0" i="0" sz="1100" u="none" cap="none" strike="noStrike">
              <a:solidFill>
                <a:schemeClr val="dk1"/>
              </a:solidFill>
              <a:latin typeface="Calibri"/>
              <a:ea typeface="Calibri"/>
              <a:cs typeface="Calibri"/>
              <a:sym typeface="Calibri"/>
            </a:endParaRPr>
          </a:p>
        </p:txBody>
      </p:sp>
      <p:sp>
        <p:nvSpPr>
          <p:cNvPr id="427" name="Google Shape;427;p17"/>
          <p:cNvSpPr/>
          <p:nvPr/>
        </p:nvSpPr>
        <p:spPr>
          <a:xfrm>
            <a:off x="9052560" y="2532888"/>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Warm intro sequence</a:t>
            </a:r>
            <a:endParaRPr b="0" i="0" sz="1050" u="none" cap="none" strike="noStrike">
              <a:solidFill>
                <a:schemeClr val="dk1"/>
              </a:solidFill>
              <a:latin typeface="Calibri"/>
              <a:ea typeface="Calibri"/>
              <a:cs typeface="Calibri"/>
              <a:sym typeface="Calibri"/>
            </a:endParaRPr>
          </a:p>
        </p:txBody>
      </p:sp>
      <p:sp>
        <p:nvSpPr>
          <p:cNvPr id="428" name="Google Shape;428;p17"/>
          <p:cNvSpPr/>
          <p:nvPr/>
        </p:nvSpPr>
        <p:spPr>
          <a:xfrm>
            <a:off x="6400800" y="3191256"/>
            <a:ext cx="5212080" cy="566928"/>
          </a:xfrm>
          <a:prstGeom prst="roundRect">
            <a:avLst>
              <a:gd fmla="val 806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p:nvPr/>
        </p:nvSpPr>
        <p:spPr>
          <a:xfrm>
            <a:off x="6583680" y="3191256"/>
            <a:ext cx="24688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ourier New"/>
              <a:buNone/>
            </a:pPr>
            <a:r>
              <a:rPr b="1" i="0" lang="en-US" sz="1100" u="none" cap="none" strike="noStrike">
                <a:solidFill>
                  <a:srgbClr val="0F172A"/>
                </a:solidFill>
                <a:latin typeface="Courier New"/>
                <a:ea typeface="Courier New"/>
                <a:cs typeface="Courier New"/>
                <a:sym typeface="Courier New"/>
              </a:rPr>
              <a:t>outreach-referral.md</a:t>
            </a:r>
            <a:endParaRPr b="0" i="0" sz="1100" u="none" cap="none" strike="noStrike">
              <a:solidFill>
                <a:schemeClr val="dk1"/>
              </a:solidFill>
              <a:latin typeface="Calibri"/>
              <a:ea typeface="Calibri"/>
              <a:cs typeface="Calibri"/>
              <a:sym typeface="Calibri"/>
            </a:endParaRPr>
          </a:p>
        </p:txBody>
      </p:sp>
      <p:sp>
        <p:nvSpPr>
          <p:cNvPr id="430" name="Google Shape;430;p17"/>
          <p:cNvSpPr/>
          <p:nvPr/>
        </p:nvSpPr>
        <p:spPr>
          <a:xfrm>
            <a:off x="9052560" y="3191256"/>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Referral-based outreach</a:t>
            </a:r>
            <a:endParaRPr b="0" i="0" sz="1050" u="none" cap="none" strike="noStrike">
              <a:solidFill>
                <a:schemeClr val="dk1"/>
              </a:solidFill>
              <a:latin typeface="Calibri"/>
              <a:ea typeface="Calibri"/>
              <a:cs typeface="Calibri"/>
              <a:sym typeface="Calibri"/>
            </a:endParaRPr>
          </a:p>
        </p:txBody>
      </p:sp>
      <p:sp>
        <p:nvSpPr>
          <p:cNvPr id="431" name="Google Shape;431;p17"/>
          <p:cNvSpPr/>
          <p:nvPr/>
        </p:nvSpPr>
        <p:spPr>
          <a:xfrm>
            <a:off x="6400800" y="3849624"/>
            <a:ext cx="5212080" cy="566928"/>
          </a:xfrm>
          <a:prstGeom prst="roundRect">
            <a:avLst>
              <a:gd fmla="val 806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7"/>
          <p:cNvSpPr/>
          <p:nvPr/>
        </p:nvSpPr>
        <p:spPr>
          <a:xfrm>
            <a:off x="6583680" y="3849624"/>
            <a:ext cx="24688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ourier New"/>
              <a:buNone/>
            </a:pPr>
            <a:r>
              <a:rPr b="1" i="0" lang="en-US" sz="1100" u="none" cap="none" strike="noStrike">
                <a:solidFill>
                  <a:srgbClr val="0F172A"/>
                </a:solidFill>
                <a:latin typeface="Courier New"/>
                <a:ea typeface="Courier New"/>
                <a:cs typeface="Courier New"/>
                <a:sym typeface="Courier New"/>
              </a:rPr>
              <a:t>meeting-prep.md</a:t>
            </a:r>
            <a:endParaRPr b="0" i="0" sz="1100" u="none" cap="none" strike="noStrike">
              <a:solidFill>
                <a:schemeClr val="dk1"/>
              </a:solidFill>
              <a:latin typeface="Calibri"/>
              <a:ea typeface="Calibri"/>
              <a:cs typeface="Calibri"/>
              <a:sym typeface="Calibri"/>
            </a:endParaRPr>
          </a:p>
        </p:txBody>
      </p:sp>
      <p:sp>
        <p:nvSpPr>
          <p:cNvPr id="433" name="Google Shape;433;p17"/>
          <p:cNvSpPr/>
          <p:nvPr/>
        </p:nvSpPr>
        <p:spPr>
          <a:xfrm>
            <a:off x="9052560" y="3849624"/>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Consultation brief</a:t>
            </a:r>
            <a:endParaRPr b="0" i="0" sz="1050" u="none" cap="none" strike="noStrike">
              <a:solidFill>
                <a:schemeClr val="dk1"/>
              </a:solidFill>
              <a:latin typeface="Calibri"/>
              <a:ea typeface="Calibri"/>
              <a:cs typeface="Calibri"/>
              <a:sym typeface="Calibri"/>
            </a:endParaRPr>
          </a:p>
        </p:txBody>
      </p:sp>
      <p:sp>
        <p:nvSpPr>
          <p:cNvPr id="434" name="Google Shape;434;p17"/>
          <p:cNvSpPr/>
          <p:nvPr/>
        </p:nvSpPr>
        <p:spPr>
          <a:xfrm>
            <a:off x="6400800" y="4507992"/>
            <a:ext cx="5212080" cy="566928"/>
          </a:xfrm>
          <a:prstGeom prst="roundRect">
            <a:avLst>
              <a:gd fmla="val 806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p:nvPr/>
        </p:nvSpPr>
        <p:spPr>
          <a:xfrm>
            <a:off x="6583680" y="4507992"/>
            <a:ext cx="24688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ourier New"/>
              <a:buNone/>
            </a:pPr>
            <a:r>
              <a:rPr b="1" i="0" lang="en-US" sz="1100" u="none" cap="none" strike="noStrike">
                <a:solidFill>
                  <a:srgbClr val="0F172A"/>
                </a:solidFill>
                <a:latin typeface="Courier New"/>
                <a:ea typeface="Courier New"/>
                <a:cs typeface="Courier New"/>
                <a:sym typeface="Courier New"/>
              </a:rPr>
              <a:t>proposal-template.md</a:t>
            </a:r>
            <a:endParaRPr b="0" i="0" sz="1100" u="none" cap="none" strike="noStrike">
              <a:solidFill>
                <a:schemeClr val="dk1"/>
              </a:solidFill>
              <a:latin typeface="Calibri"/>
              <a:ea typeface="Calibri"/>
              <a:cs typeface="Calibri"/>
              <a:sym typeface="Calibri"/>
            </a:endParaRPr>
          </a:p>
        </p:txBody>
      </p:sp>
      <p:sp>
        <p:nvSpPr>
          <p:cNvPr id="436" name="Google Shape;436;p17"/>
          <p:cNvSpPr/>
          <p:nvPr/>
        </p:nvSpPr>
        <p:spPr>
          <a:xfrm>
            <a:off x="9052560" y="4507992"/>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Client proposal shell</a:t>
            </a:r>
            <a:endParaRPr b="0" i="0" sz="1050" u="none" cap="none" strike="noStrike">
              <a:solidFill>
                <a:schemeClr val="dk1"/>
              </a:solidFill>
              <a:latin typeface="Calibri"/>
              <a:ea typeface="Calibri"/>
              <a:cs typeface="Calibri"/>
              <a:sym typeface="Calibri"/>
            </a:endParaRPr>
          </a:p>
        </p:txBody>
      </p:sp>
      <p:sp>
        <p:nvSpPr>
          <p:cNvPr id="437" name="Google Shape;437;p17"/>
          <p:cNvSpPr/>
          <p:nvPr/>
        </p:nvSpPr>
        <p:spPr>
          <a:xfrm>
            <a:off x="6400800" y="5166360"/>
            <a:ext cx="5212080" cy="566928"/>
          </a:xfrm>
          <a:prstGeom prst="roundRect">
            <a:avLst>
              <a:gd fmla="val 806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p:nvPr/>
        </p:nvSpPr>
        <p:spPr>
          <a:xfrm>
            <a:off x="6583680" y="5166360"/>
            <a:ext cx="24688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100"/>
              <a:buFont typeface="Courier New"/>
              <a:buNone/>
            </a:pPr>
            <a:r>
              <a:rPr b="1" i="0" lang="en-US" sz="1100" u="none" cap="none" strike="noStrike">
                <a:solidFill>
                  <a:srgbClr val="0F172A"/>
                </a:solidFill>
                <a:latin typeface="Courier New"/>
                <a:ea typeface="Courier New"/>
                <a:cs typeface="Courier New"/>
                <a:sym typeface="Courier New"/>
              </a:rPr>
              <a:t>objection-playbook.md</a:t>
            </a:r>
            <a:endParaRPr b="0" i="0" sz="1100" u="none" cap="none" strike="noStrike">
              <a:solidFill>
                <a:schemeClr val="dk1"/>
              </a:solidFill>
              <a:latin typeface="Calibri"/>
              <a:ea typeface="Calibri"/>
              <a:cs typeface="Calibri"/>
              <a:sym typeface="Calibri"/>
            </a:endParaRPr>
          </a:p>
        </p:txBody>
      </p:sp>
      <p:sp>
        <p:nvSpPr>
          <p:cNvPr id="439" name="Google Shape;439;p17"/>
          <p:cNvSpPr/>
          <p:nvPr/>
        </p:nvSpPr>
        <p:spPr>
          <a:xfrm>
            <a:off x="9052560" y="5166360"/>
            <a:ext cx="23774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Objection responses</a:t>
            </a:r>
            <a:endParaRPr b="0" i="0" sz="1050" u="none" cap="none" strike="noStrike">
              <a:solidFill>
                <a:schemeClr val="dk1"/>
              </a:solidFill>
              <a:latin typeface="Calibri"/>
              <a:ea typeface="Calibri"/>
              <a:cs typeface="Calibri"/>
              <a:sym typeface="Calibri"/>
            </a:endParaRPr>
          </a:p>
        </p:txBody>
      </p:sp>
      <p:sp>
        <p:nvSpPr>
          <p:cNvPr id="440" name="Google Shape;440;p17"/>
          <p:cNvSpPr/>
          <p:nvPr/>
        </p:nvSpPr>
        <p:spPr>
          <a:xfrm>
            <a:off x="548640" y="617220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50"/>
              <a:buFont typeface="Calibri"/>
              <a:buNone/>
            </a:pPr>
            <a:r>
              <a:rPr b="0" i="1" lang="en-US" sz="1150" u="none" cap="none" strike="noStrike">
                <a:solidFill>
                  <a:srgbClr val="64748B"/>
                </a:solidFill>
                <a:latin typeface="Calibri"/>
                <a:ea typeface="Calibri"/>
                <a:cs typeface="Calibri"/>
                <a:sym typeface="Calibri"/>
              </a:rPr>
              <a:t>Scripts do the deterministic math and IO; templates give the reps a consistent starting shape for every message and document.</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45" name="Shape 445"/>
        <p:cNvGrpSpPr/>
        <p:nvPr/>
      </p:nvGrpSpPr>
      <p:grpSpPr>
        <a:xfrm>
          <a:off x="0" y="0"/>
          <a:ext cx="0" cy="0"/>
          <a:chOff x="0" y="0"/>
          <a:chExt cx="0" cy="0"/>
        </a:xfrm>
      </p:grpSpPr>
      <p:sp>
        <p:nvSpPr>
          <p:cNvPr id="446" name="Google Shape;446;p18"/>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HOW A DEAL FLOWS</a:t>
            </a:r>
            <a:endParaRPr b="0" i="0" sz="1200" u="none" cap="none" strike="noStrike">
              <a:solidFill>
                <a:schemeClr val="dk1"/>
              </a:solidFill>
              <a:latin typeface="Calibri"/>
              <a:ea typeface="Calibri"/>
              <a:cs typeface="Calibri"/>
              <a:sym typeface="Calibri"/>
            </a:endParaRPr>
          </a:p>
        </p:txBody>
      </p:sp>
      <p:sp>
        <p:nvSpPr>
          <p:cNvPr id="447" name="Google Shape;447;p18"/>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One command, the whole team, one score</a:t>
            </a:r>
            <a:endParaRPr b="0" i="0" sz="2700" u="none" cap="none" strike="noStrike">
              <a:solidFill>
                <a:schemeClr val="dk1"/>
              </a:solidFill>
              <a:latin typeface="Calibri"/>
              <a:ea typeface="Calibri"/>
              <a:cs typeface="Calibri"/>
              <a:sym typeface="Calibri"/>
            </a:endParaRPr>
          </a:p>
        </p:txBody>
      </p:sp>
      <p:sp>
        <p:nvSpPr>
          <p:cNvPr id="448" name="Google Shape;448;p18"/>
          <p:cNvSpPr/>
          <p:nvPr/>
        </p:nvSpPr>
        <p:spPr>
          <a:xfrm>
            <a:off x="548640" y="2743200"/>
            <a:ext cx="1691640" cy="1005840"/>
          </a:xfrm>
          <a:prstGeom prst="roundRect">
            <a:avLst>
              <a:gd fmla="val 8182" name="adj"/>
            </a:avLst>
          </a:prstGeom>
          <a:solidFill>
            <a:srgbClr val="DCE4EE"/>
          </a:solidFill>
          <a:ln cap="flat" cmpd="sng" w="12700">
            <a:solidFill>
              <a:srgbClr val="DCE4E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8"/>
          <p:cNvSpPr/>
          <p:nvPr/>
        </p:nvSpPr>
        <p:spPr>
          <a:xfrm>
            <a:off x="548640" y="2743200"/>
            <a:ext cx="1691640" cy="100584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You</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/sales prospect</a:t>
            </a:r>
            <a:endParaRPr b="0" i="0" sz="1250" u="none" cap="none" strike="noStrike">
              <a:solidFill>
                <a:schemeClr val="dk1"/>
              </a:solidFill>
              <a:latin typeface="Calibri"/>
              <a:ea typeface="Calibri"/>
              <a:cs typeface="Calibri"/>
              <a:sym typeface="Calibri"/>
            </a:endParaRPr>
          </a:p>
        </p:txBody>
      </p:sp>
      <p:sp>
        <p:nvSpPr>
          <p:cNvPr id="450" name="Google Shape;450;p18"/>
          <p:cNvSpPr/>
          <p:nvPr/>
        </p:nvSpPr>
        <p:spPr>
          <a:xfrm>
            <a:off x="2606040" y="2788920"/>
            <a:ext cx="1554480" cy="914400"/>
          </a:xfrm>
          <a:prstGeom prst="roundRect">
            <a:avLst>
              <a:gd fmla="val 9000" name="adj"/>
            </a:avLst>
          </a:prstGeom>
          <a:solidFill>
            <a:srgbClr val="DCE4EE"/>
          </a:solidFill>
          <a:ln cap="flat" cmpd="sng" w="12700">
            <a:solidFill>
              <a:srgbClr val="DCE4EE"/>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p:nvPr/>
        </p:nvSpPr>
        <p:spPr>
          <a:xfrm>
            <a:off x="2606040" y="2788920"/>
            <a:ext cx="155448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1E3A5F"/>
              </a:buClr>
              <a:buSzPts val="1250"/>
              <a:buFont typeface="Calibri"/>
              <a:buNone/>
            </a:pPr>
            <a:r>
              <a:rPr b="1" i="0" lang="en-US" sz="1250" u="none" cap="none" strike="noStrike">
                <a:solidFill>
                  <a:srgbClr val="1E3A5F"/>
                </a:solidFill>
                <a:latin typeface="Calibri"/>
                <a:ea typeface="Calibri"/>
                <a:cs typeface="Calibri"/>
                <a:sym typeface="Calibri"/>
              </a:rPr>
              <a:t>Alex routes</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discovery</a:t>
            </a:r>
            <a:endParaRPr b="0" i="0" sz="1250" u="none" cap="none" strike="noStrike">
              <a:solidFill>
                <a:schemeClr val="dk1"/>
              </a:solidFill>
              <a:latin typeface="Calibri"/>
              <a:ea typeface="Calibri"/>
              <a:cs typeface="Calibri"/>
              <a:sym typeface="Calibri"/>
            </a:endParaRPr>
          </a:p>
        </p:txBody>
      </p:sp>
      <p:sp>
        <p:nvSpPr>
          <p:cNvPr id="452" name="Google Shape;452;p18"/>
          <p:cNvSpPr/>
          <p:nvPr/>
        </p:nvSpPr>
        <p:spPr>
          <a:xfrm>
            <a:off x="4572000" y="1417320"/>
            <a:ext cx="2011680" cy="640080"/>
          </a:xfrm>
          <a:prstGeom prst="roundRect">
            <a:avLst>
              <a:gd fmla="val 10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8"/>
          <p:cNvSpPr/>
          <p:nvPr/>
        </p:nvSpPr>
        <p:spPr>
          <a:xfrm>
            <a:off x="4709160" y="1417320"/>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Marcus  </a:t>
            </a:r>
            <a:r>
              <a:rPr b="1" i="0" lang="en-US" sz="1100" u="none" cap="none" strike="noStrike">
                <a:solidFill>
                  <a:srgbClr val="E1A140"/>
                </a:solidFill>
                <a:latin typeface="Calibri"/>
                <a:ea typeface="Calibri"/>
                <a:cs typeface="Calibri"/>
                <a:sym typeface="Calibri"/>
              </a:rPr>
              <a:t>25%</a:t>
            </a:r>
            <a:endParaRPr b="0" i="0" sz="1200" u="none" cap="none" strike="noStrike">
              <a:solidFill>
                <a:schemeClr val="dk1"/>
              </a:solidFill>
              <a:latin typeface="Calibri"/>
              <a:ea typeface="Calibri"/>
              <a:cs typeface="Calibri"/>
              <a:sym typeface="Calibri"/>
            </a:endParaRPr>
          </a:p>
        </p:txBody>
      </p:sp>
      <p:cxnSp>
        <p:nvCxnSpPr>
          <p:cNvPr id="454" name="Google Shape;454;p18"/>
          <p:cNvCxnSpPr/>
          <p:nvPr/>
        </p:nvCxnSpPr>
        <p:spPr>
          <a:xfrm flipH="1" rot="10800000">
            <a:off x="4160520" y="1737360"/>
            <a:ext cx="411480" cy="1508760"/>
          </a:xfrm>
          <a:prstGeom prst="straightConnector1">
            <a:avLst/>
          </a:prstGeom>
          <a:noFill/>
          <a:ln cap="flat" cmpd="sng" w="28575">
            <a:solidFill>
              <a:srgbClr val="64748B"/>
            </a:solidFill>
            <a:prstDash val="solid"/>
            <a:round/>
            <a:headEnd len="sm" w="sm" type="none"/>
            <a:tailEnd len="med" w="med" type="triangle"/>
          </a:ln>
        </p:spPr>
      </p:cxnSp>
      <p:cxnSp>
        <p:nvCxnSpPr>
          <p:cNvPr id="455" name="Google Shape;455;p18"/>
          <p:cNvCxnSpPr/>
          <p:nvPr/>
        </p:nvCxnSpPr>
        <p:spPr>
          <a:xfrm>
            <a:off x="6583680" y="1737360"/>
            <a:ext cx="502920" cy="1508760"/>
          </a:xfrm>
          <a:prstGeom prst="straightConnector1">
            <a:avLst/>
          </a:prstGeom>
          <a:noFill/>
          <a:ln cap="flat" cmpd="sng" w="28575">
            <a:solidFill>
              <a:srgbClr val="64748B"/>
            </a:solidFill>
            <a:prstDash val="solid"/>
            <a:round/>
            <a:headEnd len="sm" w="sm" type="none"/>
            <a:tailEnd len="med" w="med" type="triangle"/>
          </a:ln>
        </p:spPr>
      </p:cxnSp>
      <p:sp>
        <p:nvSpPr>
          <p:cNvPr id="456" name="Google Shape;456;p18"/>
          <p:cNvSpPr/>
          <p:nvPr/>
        </p:nvSpPr>
        <p:spPr>
          <a:xfrm>
            <a:off x="4572000" y="2276856"/>
            <a:ext cx="2011680" cy="640080"/>
          </a:xfrm>
          <a:prstGeom prst="roundRect">
            <a:avLst>
              <a:gd fmla="val 10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8"/>
          <p:cNvSpPr/>
          <p:nvPr/>
        </p:nvSpPr>
        <p:spPr>
          <a:xfrm>
            <a:off x="4709160" y="2276856"/>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Priya  </a:t>
            </a:r>
            <a:r>
              <a:rPr b="1" i="0" lang="en-US" sz="1100" u="none" cap="none" strike="noStrike">
                <a:solidFill>
                  <a:srgbClr val="E1A140"/>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cxnSp>
        <p:nvCxnSpPr>
          <p:cNvPr id="458" name="Google Shape;458;p18"/>
          <p:cNvCxnSpPr/>
          <p:nvPr/>
        </p:nvCxnSpPr>
        <p:spPr>
          <a:xfrm flipH="1" rot="10800000">
            <a:off x="4160520" y="2596896"/>
            <a:ext cx="411480" cy="649224"/>
          </a:xfrm>
          <a:prstGeom prst="straightConnector1">
            <a:avLst/>
          </a:prstGeom>
          <a:noFill/>
          <a:ln cap="flat" cmpd="sng" w="28575">
            <a:solidFill>
              <a:srgbClr val="64748B"/>
            </a:solidFill>
            <a:prstDash val="solid"/>
            <a:round/>
            <a:headEnd len="sm" w="sm" type="none"/>
            <a:tailEnd len="med" w="med" type="triangle"/>
          </a:ln>
        </p:spPr>
      </p:cxnSp>
      <p:cxnSp>
        <p:nvCxnSpPr>
          <p:cNvPr id="459" name="Google Shape;459;p18"/>
          <p:cNvCxnSpPr/>
          <p:nvPr/>
        </p:nvCxnSpPr>
        <p:spPr>
          <a:xfrm>
            <a:off x="6583680" y="2596896"/>
            <a:ext cx="502920" cy="649224"/>
          </a:xfrm>
          <a:prstGeom prst="straightConnector1">
            <a:avLst/>
          </a:prstGeom>
          <a:noFill/>
          <a:ln cap="flat" cmpd="sng" w="28575">
            <a:solidFill>
              <a:srgbClr val="64748B"/>
            </a:solidFill>
            <a:prstDash val="solid"/>
            <a:round/>
            <a:headEnd len="sm" w="sm" type="none"/>
            <a:tailEnd len="med" w="med" type="triangle"/>
          </a:ln>
        </p:spPr>
      </p:cxnSp>
      <p:sp>
        <p:nvSpPr>
          <p:cNvPr id="460" name="Google Shape;460;p18"/>
          <p:cNvSpPr/>
          <p:nvPr/>
        </p:nvSpPr>
        <p:spPr>
          <a:xfrm>
            <a:off x="4572000" y="3136392"/>
            <a:ext cx="2011680" cy="640080"/>
          </a:xfrm>
          <a:prstGeom prst="roundRect">
            <a:avLst>
              <a:gd fmla="val 10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8"/>
          <p:cNvSpPr/>
          <p:nvPr/>
        </p:nvSpPr>
        <p:spPr>
          <a:xfrm>
            <a:off x="4709160" y="3136392"/>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Diego  </a:t>
            </a:r>
            <a:r>
              <a:rPr b="1" i="0" lang="en-US" sz="1100" u="none" cap="none" strike="noStrike">
                <a:solidFill>
                  <a:srgbClr val="E1A140"/>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cxnSp>
        <p:nvCxnSpPr>
          <p:cNvPr id="462" name="Google Shape;462;p18"/>
          <p:cNvCxnSpPr/>
          <p:nvPr/>
        </p:nvCxnSpPr>
        <p:spPr>
          <a:xfrm>
            <a:off x="4160520" y="3246120"/>
            <a:ext cx="411480" cy="210312"/>
          </a:xfrm>
          <a:prstGeom prst="straightConnector1">
            <a:avLst/>
          </a:prstGeom>
          <a:noFill/>
          <a:ln cap="flat" cmpd="sng" w="28575">
            <a:solidFill>
              <a:srgbClr val="64748B"/>
            </a:solidFill>
            <a:prstDash val="solid"/>
            <a:round/>
            <a:headEnd len="sm" w="sm" type="none"/>
            <a:tailEnd len="med" w="med" type="triangle"/>
          </a:ln>
        </p:spPr>
      </p:cxnSp>
      <p:cxnSp>
        <p:nvCxnSpPr>
          <p:cNvPr id="463" name="Google Shape;463;p18"/>
          <p:cNvCxnSpPr/>
          <p:nvPr/>
        </p:nvCxnSpPr>
        <p:spPr>
          <a:xfrm flipH="1" rot="10800000">
            <a:off x="6583680" y="3246120"/>
            <a:ext cx="502920" cy="210312"/>
          </a:xfrm>
          <a:prstGeom prst="straightConnector1">
            <a:avLst/>
          </a:prstGeom>
          <a:noFill/>
          <a:ln cap="flat" cmpd="sng" w="28575">
            <a:solidFill>
              <a:srgbClr val="64748B"/>
            </a:solidFill>
            <a:prstDash val="solid"/>
            <a:round/>
            <a:headEnd len="sm" w="sm" type="none"/>
            <a:tailEnd len="med" w="med" type="triangle"/>
          </a:ln>
        </p:spPr>
      </p:cxnSp>
      <p:sp>
        <p:nvSpPr>
          <p:cNvPr id="464" name="Google Shape;464;p18"/>
          <p:cNvSpPr/>
          <p:nvPr/>
        </p:nvSpPr>
        <p:spPr>
          <a:xfrm>
            <a:off x="4572000" y="3995928"/>
            <a:ext cx="2011680" cy="640080"/>
          </a:xfrm>
          <a:prstGeom prst="roundRect">
            <a:avLst>
              <a:gd fmla="val 10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8"/>
          <p:cNvSpPr/>
          <p:nvPr/>
        </p:nvSpPr>
        <p:spPr>
          <a:xfrm>
            <a:off x="4709160" y="3995928"/>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Sofia  </a:t>
            </a:r>
            <a:r>
              <a:rPr b="1" i="0" lang="en-US" sz="1100" u="none" cap="none" strike="noStrike">
                <a:solidFill>
                  <a:srgbClr val="E1A140"/>
                </a:solidFill>
                <a:latin typeface="Calibri"/>
                <a:ea typeface="Calibri"/>
                <a:cs typeface="Calibri"/>
                <a:sym typeface="Calibri"/>
              </a:rPr>
              <a:t>15%</a:t>
            </a:r>
            <a:endParaRPr b="0" i="0" sz="1200" u="none" cap="none" strike="noStrike">
              <a:solidFill>
                <a:schemeClr val="dk1"/>
              </a:solidFill>
              <a:latin typeface="Calibri"/>
              <a:ea typeface="Calibri"/>
              <a:cs typeface="Calibri"/>
              <a:sym typeface="Calibri"/>
            </a:endParaRPr>
          </a:p>
        </p:txBody>
      </p:sp>
      <p:cxnSp>
        <p:nvCxnSpPr>
          <p:cNvPr id="466" name="Google Shape;466;p18"/>
          <p:cNvCxnSpPr/>
          <p:nvPr/>
        </p:nvCxnSpPr>
        <p:spPr>
          <a:xfrm>
            <a:off x="4160520" y="3246120"/>
            <a:ext cx="411480" cy="1069848"/>
          </a:xfrm>
          <a:prstGeom prst="straightConnector1">
            <a:avLst/>
          </a:prstGeom>
          <a:noFill/>
          <a:ln cap="flat" cmpd="sng" w="28575">
            <a:solidFill>
              <a:srgbClr val="64748B"/>
            </a:solidFill>
            <a:prstDash val="solid"/>
            <a:round/>
            <a:headEnd len="sm" w="sm" type="none"/>
            <a:tailEnd len="med" w="med" type="triangle"/>
          </a:ln>
        </p:spPr>
      </p:cxnSp>
      <p:cxnSp>
        <p:nvCxnSpPr>
          <p:cNvPr id="467" name="Google Shape;467;p18"/>
          <p:cNvCxnSpPr/>
          <p:nvPr/>
        </p:nvCxnSpPr>
        <p:spPr>
          <a:xfrm flipH="1" rot="10800000">
            <a:off x="6583680" y="3246120"/>
            <a:ext cx="502920" cy="1069848"/>
          </a:xfrm>
          <a:prstGeom prst="straightConnector1">
            <a:avLst/>
          </a:prstGeom>
          <a:noFill/>
          <a:ln cap="flat" cmpd="sng" w="28575">
            <a:solidFill>
              <a:srgbClr val="64748B"/>
            </a:solidFill>
            <a:prstDash val="solid"/>
            <a:round/>
            <a:headEnd len="sm" w="sm" type="none"/>
            <a:tailEnd len="med" w="med" type="triangle"/>
          </a:ln>
        </p:spPr>
      </p:cxnSp>
      <p:sp>
        <p:nvSpPr>
          <p:cNvPr id="468" name="Google Shape;468;p18"/>
          <p:cNvSpPr/>
          <p:nvPr/>
        </p:nvSpPr>
        <p:spPr>
          <a:xfrm>
            <a:off x="4572000" y="4855464"/>
            <a:ext cx="2011680" cy="640080"/>
          </a:xfrm>
          <a:prstGeom prst="roundRect">
            <a:avLst>
              <a:gd fmla="val 10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8"/>
          <p:cNvSpPr/>
          <p:nvPr/>
        </p:nvSpPr>
        <p:spPr>
          <a:xfrm>
            <a:off x="4709160" y="4855464"/>
            <a:ext cx="1737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Jordan  </a:t>
            </a:r>
            <a:r>
              <a:rPr b="1" i="0" lang="en-US" sz="1100" u="none" cap="none" strike="noStrike">
                <a:solidFill>
                  <a:srgbClr val="E1A140"/>
                </a:solidFill>
                <a:latin typeface="Calibri"/>
                <a:ea typeface="Calibri"/>
                <a:cs typeface="Calibri"/>
                <a:sym typeface="Calibri"/>
              </a:rPr>
              <a:t>20%</a:t>
            </a:r>
            <a:endParaRPr b="0" i="0" sz="1200" u="none" cap="none" strike="noStrike">
              <a:solidFill>
                <a:schemeClr val="dk1"/>
              </a:solidFill>
              <a:latin typeface="Calibri"/>
              <a:ea typeface="Calibri"/>
              <a:cs typeface="Calibri"/>
              <a:sym typeface="Calibri"/>
            </a:endParaRPr>
          </a:p>
        </p:txBody>
      </p:sp>
      <p:cxnSp>
        <p:nvCxnSpPr>
          <p:cNvPr id="470" name="Google Shape;470;p18"/>
          <p:cNvCxnSpPr/>
          <p:nvPr/>
        </p:nvCxnSpPr>
        <p:spPr>
          <a:xfrm>
            <a:off x="4160520" y="3246120"/>
            <a:ext cx="411480" cy="1929384"/>
          </a:xfrm>
          <a:prstGeom prst="straightConnector1">
            <a:avLst/>
          </a:prstGeom>
          <a:noFill/>
          <a:ln cap="flat" cmpd="sng" w="28575">
            <a:solidFill>
              <a:srgbClr val="64748B"/>
            </a:solidFill>
            <a:prstDash val="solid"/>
            <a:round/>
            <a:headEnd len="sm" w="sm" type="none"/>
            <a:tailEnd len="med" w="med" type="triangle"/>
          </a:ln>
        </p:spPr>
      </p:cxnSp>
      <p:cxnSp>
        <p:nvCxnSpPr>
          <p:cNvPr id="471" name="Google Shape;471;p18"/>
          <p:cNvCxnSpPr/>
          <p:nvPr/>
        </p:nvCxnSpPr>
        <p:spPr>
          <a:xfrm flipH="1" rot="10800000">
            <a:off x="6583680" y="3246120"/>
            <a:ext cx="502920" cy="1929384"/>
          </a:xfrm>
          <a:prstGeom prst="straightConnector1">
            <a:avLst/>
          </a:prstGeom>
          <a:noFill/>
          <a:ln cap="flat" cmpd="sng" w="28575">
            <a:solidFill>
              <a:srgbClr val="64748B"/>
            </a:solidFill>
            <a:prstDash val="solid"/>
            <a:round/>
            <a:headEnd len="sm" w="sm" type="none"/>
            <a:tailEnd len="med" w="med" type="triangle"/>
          </a:ln>
        </p:spPr>
      </p:cxnSp>
      <p:sp>
        <p:nvSpPr>
          <p:cNvPr id="472" name="Google Shape;472;p18"/>
          <p:cNvSpPr/>
          <p:nvPr/>
        </p:nvSpPr>
        <p:spPr>
          <a:xfrm>
            <a:off x="7086600" y="2788920"/>
            <a:ext cx="1554480" cy="914400"/>
          </a:xfrm>
          <a:prstGeom prst="roundRect">
            <a:avLst>
              <a:gd fmla="val 9000" name="adj"/>
            </a:avLst>
          </a:prstGeom>
          <a:solidFill>
            <a:srgbClr val="E2EAF2"/>
          </a:solidFill>
          <a:ln cap="flat" cmpd="sng" w="12700">
            <a:solidFill>
              <a:srgbClr val="E2EAF2"/>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8"/>
          <p:cNvSpPr/>
          <p:nvPr/>
        </p:nvSpPr>
        <p:spPr>
          <a:xfrm>
            <a:off x="7086600" y="2788920"/>
            <a:ext cx="155448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2E5E8C"/>
              </a:buClr>
              <a:buSzPts val="1250"/>
              <a:buFont typeface="Calibri"/>
              <a:buNone/>
            </a:pPr>
            <a:r>
              <a:rPr b="1" i="0" lang="en-US" sz="1250" u="none" cap="none" strike="noStrike">
                <a:solidFill>
                  <a:srgbClr val="2E5E8C"/>
                </a:solidFill>
                <a:latin typeface="Calibri"/>
                <a:ea typeface="Calibri"/>
                <a:cs typeface="Calibri"/>
                <a:sym typeface="Calibri"/>
              </a:rPr>
              <a:t>Synthesis</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weighted avg</a:t>
            </a:r>
            <a:endParaRPr b="0" i="0" sz="1250" u="none" cap="none" strike="noStrike">
              <a:solidFill>
                <a:schemeClr val="dk1"/>
              </a:solidFill>
              <a:latin typeface="Calibri"/>
              <a:ea typeface="Calibri"/>
              <a:cs typeface="Calibri"/>
              <a:sym typeface="Calibri"/>
            </a:endParaRPr>
          </a:p>
        </p:txBody>
      </p:sp>
      <p:sp>
        <p:nvSpPr>
          <p:cNvPr id="474" name="Google Shape;474;p18"/>
          <p:cNvSpPr/>
          <p:nvPr/>
        </p:nvSpPr>
        <p:spPr>
          <a:xfrm>
            <a:off x="8915400" y="2697480"/>
            <a:ext cx="1417320" cy="1097280"/>
          </a:xfrm>
          <a:prstGeom prst="roundRect">
            <a:avLst>
              <a:gd fmla="val 7500" name="adj"/>
            </a:avLst>
          </a:prstGeom>
          <a:solidFill>
            <a:srgbClr val="0F172A"/>
          </a:solidFill>
          <a:ln cap="flat" cmpd="sng" w="12700">
            <a:solidFill>
              <a:srgbClr val="0F172A"/>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p:nvPr/>
        </p:nvSpPr>
        <p:spPr>
          <a:xfrm>
            <a:off x="8915400" y="2697480"/>
            <a:ext cx="141732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0-100</a:t>
            </a:r>
            <a:br>
              <a:rPr b="1" i="0" lang="en-US" sz="1800" u="none" cap="none" strike="noStrike">
                <a:solidFill>
                  <a:srgbClr val="FFFFFF"/>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 grade</a:t>
            </a:r>
            <a:endParaRPr b="0" i="0" sz="1800" u="none" cap="none" strike="noStrike">
              <a:solidFill>
                <a:schemeClr val="dk1"/>
              </a:solidFill>
              <a:latin typeface="Calibri"/>
              <a:ea typeface="Calibri"/>
              <a:cs typeface="Calibri"/>
              <a:sym typeface="Calibri"/>
            </a:endParaRPr>
          </a:p>
        </p:txBody>
      </p:sp>
      <p:cxnSp>
        <p:nvCxnSpPr>
          <p:cNvPr id="476" name="Google Shape;476;p18"/>
          <p:cNvCxnSpPr/>
          <p:nvPr/>
        </p:nvCxnSpPr>
        <p:spPr>
          <a:xfrm>
            <a:off x="2240280" y="3246120"/>
            <a:ext cx="365760" cy="0"/>
          </a:xfrm>
          <a:prstGeom prst="straightConnector1">
            <a:avLst/>
          </a:prstGeom>
          <a:noFill/>
          <a:ln cap="flat" cmpd="sng" w="28575">
            <a:solidFill>
              <a:srgbClr val="2E5E8C"/>
            </a:solidFill>
            <a:prstDash val="solid"/>
            <a:round/>
            <a:headEnd len="sm" w="sm" type="none"/>
            <a:tailEnd len="med" w="med" type="triangle"/>
          </a:ln>
        </p:spPr>
      </p:cxnSp>
      <p:cxnSp>
        <p:nvCxnSpPr>
          <p:cNvPr id="477" name="Google Shape;477;p18"/>
          <p:cNvCxnSpPr/>
          <p:nvPr/>
        </p:nvCxnSpPr>
        <p:spPr>
          <a:xfrm>
            <a:off x="8641080" y="3246120"/>
            <a:ext cx="274320" cy="0"/>
          </a:xfrm>
          <a:prstGeom prst="straightConnector1">
            <a:avLst/>
          </a:prstGeom>
          <a:noFill/>
          <a:ln cap="flat" cmpd="sng" w="28575">
            <a:solidFill>
              <a:srgbClr val="2E5E8C"/>
            </a:solidFill>
            <a:prstDash val="solid"/>
            <a:round/>
            <a:headEnd len="sm" w="sm" type="none"/>
            <a:tailEnd len="med" w="med" type="triangle"/>
          </a:ln>
        </p:spPr>
      </p:cxnSp>
      <p:sp>
        <p:nvSpPr>
          <p:cNvPr id="478" name="Google Shape;478;p18"/>
          <p:cNvSpPr/>
          <p:nvPr/>
        </p:nvSpPr>
        <p:spPr>
          <a:xfrm>
            <a:off x="10515600" y="2788920"/>
            <a:ext cx="1097280" cy="914400"/>
          </a:xfrm>
          <a:prstGeom prst="roundRect">
            <a:avLst>
              <a:gd fmla="val 9000" name="adj"/>
            </a:avLst>
          </a:prstGeom>
          <a:solidFill>
            <a:srgbClr val="F5E4D8"/>
          </a:solidFill>
          <a:ln cap="flat" cmpd="sng" w="12700">
            <a:solidFill>
              <a:srgbClr val="F5E4D8"/>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8"/>
          <p:cNvSpPr/>
          <p:nvPr/>
        </p:nvSpPr>
        <p:spPr>
          <a:xfrm>
            <a:off x="10515600" y="2788920"/>
            <a:ext cx="1097280" cy="914400"/>
          </a:xfrm>
          <a:prstGeom prst="rect">
            <a:avLst/>
          </a:prstGeom>
          <a:noFill/>
          <a:ln>
            <a:noFill/>
          </a:ln>
        </p:spPr>
        <p:txBody>
          <a:bodyPr anchorCtr="0" anchor="ctr" bIns="50800" lIns="50800" spcFirstLastPara="1" rIns="50800" wrap="square" tIns="50800">
            <a:noAutofit/>
          </a:bodyPr>
          <a:lstStyle/>
          <a:p>
            <a:pPr indent="0" lvl="0" marL="0" marR="0" rtl="0" algn="ctr">
              <a:spcBef>
                <a:spcPts val="0"/>
              </a:spcBef>
              <a:spcAft>
                <a:spcPts val="0"/>
              </a:spcAft>
              <a:buClr>
                <a:srgbClr val="BB6A3C"/>
              </a:buClr>
              <a:buSzPts val="1250"/>
              <a:buFont typeface="Calibri"/>
              <a:buNone/>
            </a:pPr>
            <a:r>
              <a:rPr b="1" i="0" lang="en-US" sz="1250" u="none" cap="none" strike="noStrike">
                <a:solidFill>
                  <a:srgbClr val="BB6A3C"/>
                </a:solidFill>
                <a:latin typeface="Calibri"/>
                <a:ea typeface="Calibri"/>
                <a:cs typeface="Calibri"/>
                <a:sym typeface="Calibri"/>
              </a:rPr>
              <a:t>Jordan drafts</a:t>
            </a:r>
            <a:endParaRPr b="0" i="0" sz="12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outreach</a:t>
            </a:r>
            <a:endParaRPr b="0" i="0" sz="1250" u="none" cap="none" strike="noStrike">
              <a:solidFill>
                <a:schemeClr val="dk1"/>
              </a:solidFill>
              <a:latin typeface="Calibri"/>
              <a:ea typeface="Calibri"/>
              <a:cs typeface="Calibri"/>
              <a:sym typeface="Calibri"/>
            </a:endParaRPr>
          </a:p>
        </p:txBody>
      </p:sp>
      <p:cxnSp>
        <p:nvCxnSpPr>
          <p:cNvPr id="480" name="Google Shape;480;p18"/>
          <p:cNvCxnSpPr/>
          <p:nvPr/>
        </p:nvCxnSpPr>
        <p:spPr>
          <a:xfrm>
            <a:off x="10332720" y="3246120"/>
            <a:ext cx="182880" cy="0"/>
          </a:xfrm>
          <a:prstGeom prst="straightConnector1">
            <a:avLst/>
          </a:prstGeom>
          <a:noFill/>
          <a:ln cap="flat" cmpd="sng" w="28575">
            <a:solidFill>
              <a:srgbClr val="BB6A3C"/>
            </a:solidFill>
            <a:prstDash val="solid"/>
            <a:round/>
            <a:headEnd len="sm" w="sm" type="none"/>
            <a:tailEnd len="med" w="med" type="triangle"/>
          </a:ln>
        </p:spPr>
      </p:cxnSp>
      <p:sp>
        <p:nvSpPr>
          <p:cNvPr id="481" name="Google Shape;481;p18"/>
          <p:cNvSpPr/>
          <p:nvPr/>
        </p:nvSpPr>
        <p:spPr>
          <a:xfrm>
            <a:off x="548640" y="5806440"/>
            <a:ext cx="11064240" cy="54864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64748B"/>
              </a:buClr>
              <a:buSzPts val="1300"/>
              <a:buFont typeface="Calibri"/>
              <a:buNone/>
            </a:pPr>
            <a:r>
              <a:rPr b="0" i="1" lang="en-US" sz="1300" u="none" cap="none" strike="noStrike">
                <a:solidFill>
                  <a:srgbClr val="64748B"/>
                </a:solidFill>
                <a:latin typeface="Calibri"/>
                <a:ea typeface="Calibri"/>
                <a:cs typeface="Calibri"/>
                <a:sym typeface="Calibri"/>
              </a:rPr>
              <a:t>Every step is coached by Kajiro first. The prospect run produces PROSPECT-ANALYSIS.md; outreach, prep, and proposal then build on it automatically.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86" name="Shape 486"/>
        <p:cNvGrpSpPr/>
        <p:nvPr/>
      </p:nvGrpSpPr>
      <p:grpSpPr>
        <a:xfrm>
          <a:off x="0" y="0"/>
          <a:ext cx="0" cy="0"/>
          <a:chOff x="0" y="0"/>
          <a:chExt cx="0" cy="0"/>
        </a:xfrm>
      </p:grpSpPr>
      <p:sp>
        <p:nvSpPr>
          <p:cNvPr id="487" name="Google Shape;487;p19"/>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PATH 1 OF 2</a:t>
            </a:r>
            <a:endParaRPr b="0" i="0" sz="1200" u="none" cap="none" strike="noStrike">
              <a:solidFill>
                <a:schemeClr val="dk1"/>
              </a:solidFill>
              <a:latin typeface="Calibri"/>
              <a:ea typeface="Calibri"/>
              <a:cs typeface="Calibri"/>
              <a:sym typeface="Calibri"/>
            </a:endParaRPr>
          </a:p>
        </p:txBody>
      </p:sp>
      <p:sp>
        <p:nvSpPr>
          <p:cNvPr id="488" name="Google Shape;488;p19"/>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MVP, running locally in an afternoon</a:t>
            </a:r>
            <a:endParaRPr b="0" i="0" sz="2700" u="none" cap="none" strike="noStrike">
              <a:solidFill>
                <a:schemeClr val="dk1"/>
              </a:solidFill>
              <a:latin typeface="Calibri"/>
              <a:ea typeface="Calibri"/>
              <a:cs typeface="Calibri"/>
              <a:sym typeface="Calibri"/>
            </a:endParaRPr>
          </a:p>
        </p:txBody>
      </p:sp>
      <p:sp>
        <p:nvSpPr>
          <p:cNvPr id="489" name="Google Shape;489;p19"/>
          <p:cNvSpPr/>
          <p:nvPr/>
        </p:nvSpPr>
        <p:spPr>
          <a:xfrm>
            <a:off x="548640" y="1371600"/>
            <a:ext cx="11064240"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400"/>
              <a:buFont typeface="Calibri"/>
              <a:buNone/>
            </a:pPr>
            <a:r>
              <a:rPr b="0" i="0" lang="en-US" sz="1400" u="none" cap="none" strike="noStrike">
                <a:solidFill>
                  <a:srgbClr val="0F172A"/>
                </a:solidFill>
                <a:latin typeface="Calibri"/>
                <a:ea typeface="Calibri"/>
                <a:cs typeface="Calibri"/>
                <a:sym typeface="Calibri"/>
              </a:rPr>
              <a:t>Goal: the sales team working from the command line, no web app yet. This is the fastest way to see value and it uses only the repo plus your two standing skills.</a:t>
            </a:r>
            <a:endParaRPr b="0" i="0" sz="1400" u="none" cap="none" strike="noStrike">
              <a:solidFill>
                <a:schemeClr val="dk1"/>
              </a:solidFill>
              <a:latin typeface="Calibri"/>
              <a:ea typeface="Calibri"/>
              <a:cs typeface="Calibri"/>
              <a:sym typeface="Calibri"/>
            </a:endParaRPr>
          </a:p>
        </p:txBody>
      </p:sp>
      <p:sp>
        <p:nvSpPr>
          <p:cNvPr id="490" name="Google Shape;490;p19"/>
          <p:cNvSpPr/>
          <p:nvPr/>
        </p:nvSpPr>
        <p:spPr>
          <a:xfrm>
            <a:off x="548640" y="2103120"/>
            <a:ext cx="5440680" cy="786384"/>
          </a:xfrm>
          <a:prstGeom prst="roundRect">
            <a:avLst>
              <a:gd fmla="val 697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9"/>
          <p:cNvSpPr/>
          <p:nvPr/>
        </p:nvSpPr>
        <p:spPr>
          <a:xfrm>
            <a:off x="731520" y="2322576"/>
            <a:ext cx="384048" cy="38404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9"/>
          <p:cNvSpPr/>
          <p:nvPr/>
        </p:nvSpPr>
        <p:spPr>
          <a:xfrm>
            <a:off x="731520" y="232257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1</a:t>
            </a:r>
            <a:endParaRPr b="0" i="0" sz="1600" u="none" cap="none" strike="noStrike">
              <a:solidFill>
                <a:schemeClr val="dk1"/>
              </a:solidFill>
              <a:latin typeface="Calibri"/>
              <a:ea typeface="Calibri"/>
              <a:cs typeface="Calibri"/>
              <a:sym typeface="Calibri"/>
            </a:endParaRPr>
          </a:p>
        </p:txBody>
      </p:sp>
      <p:sp>
        <p:nvSpPr>
          <p:cNvPr id="493" name="Google Shape;493;p19"/>
          <p:cNvSpPr/>
          <p:nvPr/>
        </p:nvSpPr>
        <p:spPr>
          <a:xfrm>
            <a:off x="1234440" y="21945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Clone</a:t>
            </a:r>
            <a:endParaRPr b="0" i="0" sz="1300" u="none" cap="none" strike="noStrike">
              <a:solidFill>
                <a:schemeClr val="dk1"/>
              </a:solidFill>
              <a:latin typeface="Calibri"/>
              <a:ea typeface="Calibri"/>
              <a:cs typeface="Calibri"/>
              <a:sym typeface="Calibri"/>
            </a:endParaRPr>
          </a:p>
        </p:txBody>
      </p:sp>
      <p:sp>
        <p:nvSpPr>
          <p:cNvPr id="494" name="Google Shape;494;p19"/>
          <p:cNvSpPr/>
          <p:nvPr/>
        </p:nvSpPr>
        <p:spPr>
          <a:xfrm>
            <a:off x="1234440" y="2450592"/>
            <a:ext cx="4572000"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git clone the repo to your machine</a:t>
            </a:r>
            <a:endParaRPr b="0" i="0" sz="1050" u="none" cap="none" strike="noStrike">
              <a:solidFill>
                <a:schemeClr val="dk1"/>
              </a:solidFill>
              <a:latin typeface="Calibri"/>
              <a:ea typeface="Calibri"/>
              <a:cs typeface="Calibri"/>
              <a:sym typeface="Calibri"/>
            </a:endParaRPr>
          </a:p>
        </p:txBody>
      </p:sp>
      <p:sp>
        <p:nvSpPr>
          <p:cNvPr id="495" name="Google Shape;495;p19"/>
          <p:cNvSpPr/>
          <p:nvPr/>
        </p:nvSpPr>
        <p:spPr>
          <a:xfrm>
            <a:off x="6446520" y="2103120"/>
            <a:ext cx="5440680" cy="786384"/>
          </a:xfrm>
          <a:prstGeom prst="roundRect">
            <a:avLst>
              <a:gd fmla="val 697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p:nvPr/>
        </p:nvSpPr>
        <p:spPr>
          <a:xfrm>
            <a:off x="6629400" y="2322576"/>
            <a:ext cx="384048" cy="38404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9"/>
          <p:cNvSpPr/>
          <p:nvPr/>
        </p:nvSpPr>
        <p:spPr>
          <a:xfrm>
            <a:off x="6629400" y="2322576"/>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2</a:t>
            </a:r>
            <a:endParaRPr b="0" i="0" sz="1600" u="none" cap="none" strike="noStrike">
              <a:solidFill>
                <a:schemeClr val="dk1"/>
              </a:solidFill>
              <a:latin typeface="Calibri"/>
              <a:ea typeface="Calibri"/>
              <a:cs typeface="Calibri"/>
              <a:sym typeface="Calibri"/>
            </a:endParaRPr>
          </a:p>
        </p:txBody>
      </p:sp>
      <p:sp>
        <p:nvSpPr>
          <p:cNvPr id="498" name="Google Shape;498;p19"/>
          <p:cNvSpPr/>
          <p:nvPr/>
        </p:nvSpPr>
        <p:spPr>
          <a:xfrm>
            <a:off x="7132320" y="219456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Install skills</a:t>
            </a:r>
            <a:endParaRPr b="0" i="0" sz="1300" u="none" cap="none" strike="noStrike">
              <a:solidFill>
                <a:schemeClr val="dk1"/>
              </a:solidFill>
              <a:latin typeface="Calibri"/>
              <a:ea typeface="Calibri"/>
              <a:cs typeface="Calibri"/>
              <a:sym typeface="Calibri"/>
            </a:endParaRPr>
          </a:p>
        </p:txBody>
      </p:sp>
      <p:sp>
        <p:nvSpPr>
          <p:cNvPr id="499" name="Google Shape;499;p19"/>
          <p:cNvSpPr/>
          <p:nvPr/>
        </p:nvSpPr>
        <p:spPr>
          <a:xfrm>
            <a:off x="7132320" y="2450592"/>
            <a:ext cx="4572000"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Run ./install.sh to copy the orchestrator, 13 skills, 5 agents, 4 scripts, 6 templates into the Claude config dir</a:t>
            </a:r>
            <a:endParaRPr b="0" i="0" sz="1050" u="none" cap="none" strike="noStrike">
              <a:solidFill>
                <a:schemeClr val="dk1"/>
              </a:solidFill>
              <a:latin typeface="Calibri"/>
              <a:ea typeface="Calibri"/>
              <a:cs typeface="Calibri"/>
              <a:sym typeface="Calibri"/>
            </a:endParaRPr>
          </a:p>
        </p:txBody>
      </p:sp>
      <p:sp>
        <p:nvSpPr>
          <p:cNvPr id="500" name="Google Shape;500;p19"/>
          <p:cNvSpPr/>
          <p:nvPr/>
        </p:nvSpPr>
        <p:spPr>
          <a:xfrm>
            <a:off x="548640" y="3035808"/>
            <a:ext cx="5440680" cy="786384"/>
          </a:xfrm>
          <a:prstGeom prst="roundRect">
            <a:avLst>
              <a:gd fmla="val 697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9"/>
          <p:cNvSpPr/>
          <p:nvPr/>
        </p:nvSpPr>
        <p:spPr>
          <a:xfrm>
            <a:off x="731520" y="3255264"/>
            <a:ext cx="384048" cy="38404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9"/>
          <p:cNvSpPr/>
          <p:nvPr/>
        </p:nvSpPr>
        <p:spPr>
          <a:xfrm>
            <a:off x="731520" y="32552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3</a:t>
            </a:r>
            <a:endParaRPr b="0" i="0" sz="1600" u="none" cap="none" strike="noStrike">
              <a:solidFill>
                <a:schemeClr val="dk1"/>
              </a:solidFill>
              <a:latin typeface="Calibri"/>
              <a:ea typeface="Calibri"/>
              <a:cs typeface="Calibri"/>
              <a:sym typeface="Calibri"/>
            </a:endParaRPr>
          </a:p>
        </p:txBody>
      </p:sp>
      <p:sp>
        <p:nvSpPr>
          <p:cNvPr id="503" name="Google Shape;503;p19"/>
          <p:cNvSpPr/>
          <p:nvPr/>
        </p:nvSpPr>
        <p:spPr>
          <a:xfrm>
            <a:off x="1234440" y="3127248"/>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Python deps</a:t>
            </a:r>
            <a:endParaRPr b="0" i="0" sz="1300" u="none" cap="none" strike="noStrike">
              <a:solidFill>
                <a:schemeClr val="dk1"/>
              </a:solidFill>
              <a:latin typeface="Calibri"/>
              <a:ea typeface="Calibri"/>
              <a:cs typeface="Calibri"/>
              <a:sym typeface="Calibri"/>
            </a:endParaRPr>
          </a:p>
        </p:txBody>
      </p:sp>
      <p:sp>
        <p:nvSpPr>
          <p:cNvPr id="504" name="Google Shape;504;p19"/>
          <p:cNvSpPr/>
          <p:nvPr/>
        </p:nvSpPr>
        <p:spPr>
          <a:xfrm>
            <a:off x="1234440" y="3383280"/>
            <a:ext cx="4572000"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pip install -r requirements.txt for reportlab, beautifulsoup4, requests (enables PDF reports)</a:t>
            </a:r>
            <a:endParaRPr b="0" i="0" sz="1050" u="none" cap="none" strike="noStrike">
              <a:solidFill>
                <a:schemeClr val="dk1"/>
              </a:solidFill>
              <a:latin typeface="Calibri"/>
              <a:ea typeface="Calibri"/>
              <a:cs typeface="Calibri"/>
              <a:sym typeface="Calibri"/>
            </a:endParaRPr>
          </a:p>
        </p:txBody>
      </p:sp>
      <p:sp>
        <p:nvSpPr>
          <p:cNvPr id="505" name="Google Shape;505;p19"/>
          <p:cNvSpPr/>
          <p:nvPr/>
        </p:nvSpPr>
        <p:spPr>
          <a:xfrm>
            <a:off x="6446520" y="3035808"/>
            <a:ext cx="5440680" cy="786384"/>
          </a:xfrm>
          <a:prstGeom prst="roundRect">
            <a:avLst>
              <a:gd fmla="val 697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9"/>
          <p:cNvSpPr/>
          <p:nvPr/>
        </p:nvSpPr>
        <p:spPr>
          <a:xfrm>
            <a:off x="6629400" y="3255264"/>
            <a:ext cx="384048" cy="38404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9"/>
          <p:cNvSpPr/>
          <p:nvPr/>
        </p:nvSpPr>
        <p:spPr>
          <a:xfrm>
            <a:off x="6629400" y="32552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4</a:t>
            </a:r>
            <a:endParaRPr b="0" i="0" sz="1600" u="none" cap="none" strike="noStrike">
              <a:solidFill>
                <a:schemeClr val="dk1"/>
              </a:solidFill>
              <a:latin typeface="Calibri"/>
              <a:ea typeface="Calibri"/>
              <a:cs typeface="Calibri"/>
              <a:sym typeface="Calibri"/>
            </a:endParaRPr>
          </a:p>
        </p:txBody>
      </p:sp>
      <p:sp>
        <p:nvSpPr>
          <p:cNvPr id="508" name="Google Shape;508;p19"/>
          <p:cNvSpPr/>
          <p:nvPr/>
        </p:nvSpPr>
        <p:spPr>
          <a:xfrm>
            <a:off x="7132320" y="3127248"/>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Run a prospect</a:t>
            </a:r>
            <a:endParaRPr b="0" i="0" sz="1300" u="none" cap="none" strike="noStrike">
              <a:solidFill>
                <a:schemeClr val="dk1"/>
              </a:solidFill>
              <a:latin typeface="Calibri"/>
              <a:ea typeface="Calibri"/>
              <a:cs typeface="Calibri"/>
              <a:sym typeface="Calibri"/>
            </a:endParaRPr>
          </a:p>
        </p:txBody>
      </p:sp>
      <p:sp>
        <p:nvSpPr>
          <p:cNvPr id="509" name="Google Shape;509;p19"/>
          <p:cNvSpPr/>
          <p:nvPr/>
        </p:nvSpPr>
        <p:spPr>
          <a:xfrm>
            <a:off x="7132320" y="3383280"/>
            <a:ext cx="4572000"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In Claude Code: /sales prospect &lt;url&gt;. The five agents run in parallel, Kajiro sharpens the brief first</a:t>
            </a:r>
            <a:endParaRPr b="0" i="0" sz="1050" u="none" cap="none" strike="noStrike">
              <a:solidFill>
                <a:schemeClr val="dk1"/>
              </a:solidFill>
              <a:latin typeface="Calibri"/>
              <a:ea typeface="Calibri"/>
              <a:cs typeface="Calibri"/>
              <a:sym typeface="Calibri"/>
            </a:endParaRPr>
          </a:p>
        </p:txBody>
      </p:sp>
      <p:sp>
        <p:nvSpPr>
          <p:cNvPr id="510" name="Google Shape;510;p19"/>
          <p:cNvSpPr/>
          <p:nvPr/>
        </p:nvSpPr>
        <p:spPr>
          <a:xfrm>
            <a:off x="548640" y="3968496"/>
            <a:ext cx="5440680" cy="786384"/>
          </a:xfrm>
          <a:prstGeom prst="roundRect">
            <a:avLst>
              <a:gd fmla="val 697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9"/>
          <p:cNvSpPr/>
          <p:nvPr/>
        </p:nvSpPr>
        <p:spPr>
          <a:xfrm>
            <a:off x="731520" y="4187952"/>
            <a:ext cx="384048" cy="38404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9"/>
          <p:cNvSpPr/>
          <p:nvPr/>
        </p:nvSpPr>
        <p:spPr>
          <a:xfrm>
            <a:off x="731520" y="4187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5</a:t>
            </a:r>
            <a:endParaRPr b="0" i="0" sz="1600" u="none" cap="none" strike="noStrike">
              <a:solidFill>
                <a:schemeClr val="dk1"/>
              </a:solidFill>
              <a:latin typeface="Calibri"/>
              <a:ea typeface="Calibri"/>
              <a:cs typeface="Calibri"/>
              <a:sym typeface="Calibri"/>
            </a:endParaRPr>
          </a:p>
        </p:txBody>
      </p:sp>
      <p:sp>
        <p:nvSpPr>
          <p:cNvPr id="513" name="Google Shape;513;p19"/>
          <p:cNvSpPr/>
          <p:nvPr/>
        </p:nvSpPr>
        <p:spPr>
          <a:xfrm>
            <a:off x="1234440" y="4059936"/>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Read the output</a:t>
            </a:r>
            <a:endParaRPr b="0" i="0" sz="1300" u="none" cap="none" strike="noStrike">
              <a:solidFill>
                <a:schemeClr val="dk1"/>
              </a:solidFill>
              <a:latin typeface="Calibri"/>
              <a:ea typeface="Calibri"/>
              <a:cs typeface="Calibri"/>
              <a:sym typeface="Calibri"/>
            </a:endParaRPr>
          </a:p>
        </p:txBody>
      </p:sp>
      <p:sp>
        <p:nvSpPr>
          <p:cNvPr id="514" name="Google Shape;514;p19"/>
          <p:cNvSpPr/>
          <p:nvPr/>
        </p:nvSpPr>
        <p:spPr>
          <a:xfrm>
            <a:off x="1234440" y="4315968"/>
            <a:ext cx="4572000"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PROSPECT-ANALYSIS.md lands in your working dir with a 0-100 score, a grade, and an action plan</a:t>
            </a:r>
            <a:endParaRPr b="0" i="0" sz="1050" u="none" cap="none" strike="noStrike">
              <a:solidFill>
                <a:schemeClr val="dk1"/>
              </a:solidFill>
              <a:latin typeface="Calibri"/>
              <a:ea typeface="Calibri"/>
              <a:cs typeface="Calibri"/>
              <a:sym typeface="Calibri"/>
            </a:endParaRPr>
          </a:p>
        </p:txBody>
      </p:sp>
      <p:sp>
        <p:nvSpPr>
          <p:cNvPr id="515" name="Google Shape;515;p19"/>
          <p:cNvSpPr/>
          <p:nvPr/>
        </p:nvSpPr>
        <p:spPr>
          <a:xfrm>
            <a:off x="6446520" y="3968496"/>
            <a:ext cx="5440680" cy="786384"/>
          </a:xfrm>
          <a:prstGeom prst="roundRect">
            <a:avLst>
              <a:gd fmla="val 697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9"/>
          <p:cNvSpPr/>
          <p:nvPr/>
        </p:nvSpPr>
        <p:spPr>
          <a:xfrm>
            <a:off x="6629400" y="4187952"/>
            <a:ext cx="384048" cy="384048"/>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9"/>
          <p:cNvSpPr/>
          <p:nvPr/>
        </p:nvSpPr>
        <p:spPr>
          <a:xfrm>
            <a:off x="6629400" y="4187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mbria"/>
              <a:buNone/>
            </a:pPr>
            <a:r>
              <a:rPr b="1" i="0" lang="en-US" sz="1600" u="none" cap="none" strike="noStrike">
                <a:solidFill>
                  <a:srgbClr val="FFFFFF"/>
                </a:solidFill>
                <a:latin typeface="Cambria"/>
                <a:ea typeface="Cambria"/>
                <a:cs typeface="Cambria"/>
                <a:sym typeface="Cambria"/>
              </a:rPr>
              <a:t>6</a:t>
            </a:r>
            <a:endParaRPr b="0" i="0" sz="1600" u="none" cap="none" strike="noStrike">
              <a:solidFill>
                <a:schemeClr val="dk1"/>
              </a:solidFill>
              <a:latin typeface="Calibri"/>
              <a:ea typeface="Calibri"/>
              <a:cs typeface="Calibri"/>
              <a:sym typeface="Calibri"/>
            </a:endParaRPr>
          </a:p>
        </p:txBody>
      </p:sp>
      <p:sp>
        <p:nvSpPr>
          <p:cNvPr id="518" name="Google Shape;518;p19"/>
          <p:cNvSpPr/>
          <p:nvPr/>
        </p:nvSpPr>
        <p:spPr>
          <a:xfrm>
            <a:off x="7132320" y="4059936"/>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Work the deal</a:t>
            </a:r>
            <a:endParaRPr b="0" i="0" sz="1300" u="none" cap="none" strike="noStrike">
              <a:solidFill>
                <a:schemeClr val="dk1"/>
              </a:solidFill>
              <a:latin typeface="Calibri"/>
              <a:ea typeface="Calibri"/>
              <a:cs typeface="Calibri"/>
              <a:sym typeface="Calibri"/>
            </a:endParaRPr>
          </a:p>
        </p:txBody>
      </p:sp>
      <p:sp>
        <p:nvSpPr>
          <p:cNvPr id="519" name="Google Shape;519;p19"/>
          <p:cNvSpPr/>
          <p:nvPr/>
        </p:nvSpPr>
        <p:spPr>
          <a:xfrm>
            <a:off x="7132320" y="4315968"/>
            <a:ext cx="4572000" cy="38404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/sales qualify, /sales contacts, /sales outreach, /sales prep build on that analysis</a:t>
            </a:r>
            <a:endParaRPr b="0" i="0" sz="1050" u="none" cap="none" strike="noStrike">
              <a:solidFill>
                <a:schemeClr val="dk1"/>
              </a:solidFill>
              <a:latin typeface="Calibri"/>
              <a:ea typeface="Calibri"/>
              <a:cs typeface="Calibri"/>
              <a:sym typeface="Calibri"/>
            </a:endParaRPr>
          </a:p>
        </p:txBody>
      </p:sp>
      <p:sp>
        <p:nvSpPr>
          <p:cNvPr id="520" name="Google Shape;520;p19"/>
          <p:cNvSpPr/>
          <p:nvPr/>
        </p:nvSpPr>
        <p:spPr>
          <a:xfrm>
            <a:off x="548640" y="626364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8F6B"/>
              </a:buClr>
              <a:buSzPts val="1200"/>
              <a:buFont typeface="Calibri"/>
              <a:buNone/>
            </a:pPr>
            <a:r>
              <a:rPr b="1" i="1" lang="en-US" sz="1200" u="none" cap="none" strike="noStrike">
                <a:solidFill>
                  <a:srgbClr val="3F8F6B"/>
                </a:solidFill>
                <a:latin typeface="Calibri"/>
                <a:ea typeface="Calibri"/>
                <a:cs typeface="Calibri"/>
                <a:sym typeface="Calibri"/>
              </a:rPr>
              <a:t>MVP cost: your Claude subscription only. No hosting, no database, no keys beyond Claude Code.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5" name="Shape 525"/>
        <p:cNvGrpSpPr/>
        <p:nvPr/>
      </p:nvGrpSpPr>
      <p:grpSpPr>
        <a:xfrm>
          <a:off x="0" y="0"/>
          <a:ext cx="0" cy="0"/>
          <a:chOff x="0" y="0"/>
          <a:chExt cx="0" cy="0"/>
        </a:xfrm>
      </p:grpSpPr>
      <p:sp>
        <p:nvSpPr>
          <p:cNvPr id="526" name="Google Shape;526;p20"/>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PATH 2 OF 2</a:t>
            </a:r>
            <a:endParaRPr b="0" i="0" sz="1200" u="none" cap="none" strike="noStrike">
              <a:solidFill>
                <a:schemeClr val="dk1"/>
              </a:solidFill>
              <a:latin typeface="Calibri"/>
              <a:ea typeface="Calibri"/>
              <a:cs typeface="Calibri"/>
              <a:sym typeface="Calibri"/>
            </a:endParaRPr>
          </a:p>
        </p:txBody>
      </p:sp>
      <p:sp>
        <p:nvSpPr>
          <p:cNvPr id="527" name="Google Shape;527;p20"/>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Full integration, the operator console on Vercel</a:t>
            </a:r>
            <a:endParaRPr b="0" i="0" sz="2700" u="none" cap="none" strike="noStrike">
              <a:solidFill>
                <a:schemeClr val="dk1"/>
              </a:solidFill>
              <a:latin typeface="Calibri"/>
              <a:ea typeface="Calibri"/>
              <a:cs typeface="Calibri"/>
              <a:sym typeface="Calibri"/>
            </a:endParaRPr>
          </a:p>
        </p:txBody>
      </p:sp>
      <p:sp>
        <p:nvSpPr>
          <p:cNvPr id="528" name="Google Shape;528;p20"/>
          <p:cNvSpPr/>
          <p:nvPr/>
        </p:nvSpPr>
        <p:spPr>
          <a:xfrm>
            <a:off x="548640" y="1371600"/>
            <a:ext cx="11064240"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400"/>
              <a:buFont typeface="Calibri"/>
              <a:buNone/>
            </a:pPr>
            <a:r>
              <a:rPr b="0" i="0" lang="en-US" sz="1400" u="none" cap="none" strike="noStrike">
                <a:solidFill>
                  <a:srgbClr val="0F172A"/>
                </a:solidFill>
                <a:latin typeface="Calibri"/>
                <a:ea typeface="Calibri"/>
                <a:cs typeface="Calibri"/>
                <a:sym typeface="Calibri"/>
              </a:rPr>
              <a:t>Goal: the same team, now driven from a web console with a pipeline, an inbound funnel, and shared storage. The crew stays the engine; you build four layers around it.</a:t>
            </a:r>
            <a:endParaRPr b="0" i="0" sz="1400" u="none" cap="none" strike="noStrike">
              <a:solidFill>
                <a:schemeClr val="dk1"/>
              </a:solidFill>
              <a:latin typeface="Calibri"/>
              <a:ea typeface="Calibri"/>
              <a:cs typeface="Calibri"/>
              <a:sym typeface="Calibri"/>
            </a:endParaRPr>
          </a:p>
        </p:txBody>
      </p:sp>
      <p:sp>
        <p:nvSpPr>
          <p:cNvPr id="529" name="Google Shape;529;p20"/>
          <p:cNvSpPr/>
          <p:nvPr/>
        </p:nvSpPr>
        <p:spPr>
          <a:xfrm>
            <a:off x="548640" y="210312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0"/>
          <p:cNvSpPr/>
          <p:nvPr/>
        </p:nvSpPr>
        <p:spPr>
          <a:xfrm>
            <a:off x="777240" y="2359152"/>
            <a:ext cx="365760" cy="365760"/>
          </a:xfrm>
          <a:prstGeom prst="ellipse">
            <a:avLst/>
          </a:prstGeom>
          <a:solidFill>
            <a:srgbClr val="2E5E8C"/>
          </a:solidFill>
          <a:ln cap="flat" cmpd="sng" w="12700">
            <a:solidFill>
              <a:srgbClr val="2E5E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777240" y="23591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1</a:t>
            </a:r>
            <a:endParaRPr b="0" i="0" sz="1500" u="none" cap="none" strike="noStrike">
              <a:solidFill>
                <a:schemeClr val="dk1"/>
              </a:solidFill>
              <a:latin typeface="Calibri"/>
              <a:ea typeface="Calibri"/>
              <a:cs typeface="Calibri"/>
              <a:sym typeface="Calibri"/>
            </a:endParaRPr>
          </a:p>
        </p:txBody>
      </p:sp>
      <p:sp>
        <p:nvSpPr>
          <p:cNvPr id="532" name="Google Shape;532;p20"/>
          <p:cNvSpPr/>
          <p:nvPr/>
        </p:nvSpPr>
        <p:spPr>
          <a:xfrm>
            <a:off x="1261872" y="237744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Inbound funnel</a:t>
            </a:r>
            <a:endParaRPr b="0" i="0" sz="1400" u="none" cap="none" strike="noStrike">
              <a:solidFill>
                <a:schemeClr val="dk1"/>
              </a:solidFill>
              <a:latin typeface="Calibri"/>
              <a:ea typeface="Calibri"/>
              <a:cs typeface="Calibri"/>
              <a:sym typeface="Calibri"/>
            </a:endParaRPr>
          </a:p>
        </p:txBody>
      </p:sp>
      <p:sp>
        <p:nvSpPr>
          <p:cNvPr id="533" name="Google Shape;533;p20"/>
          <p:cNvSpPr/>
          <p:nvPr/>
        </p:nvSpPr>
        <p:spPr>
          <a:xfrm>
            <a:off x="777240" y="288036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5E8C"/>
              </a:buClr>
              <a:buSzPts val="1100"/>
              <a:buFont typeface="Calibri"/>
              <a:buNone/>
            </a:pPr>
            <a:r>
              <a:rPr b="0" i="1" lang="en-US" sz="1100" u="none" cap="none" strike="noStrike">
                <a:solidFill>
                  <a:srgbClr val="2E5E8C"/>
                </a:solidFill>
                <a:latin typeface="Calibri"/>
                <a:ea typeface="Calibri"/>
                <a:cs typeface="Calibri"/>
                <a:sym typeface="Calibri"/>
              </a:rPr>
              <a:t>Next.js on Vercel</a:t>
            </a:r>
            <a:endParaRPr b="0" i="0" sz="1100" u="none" cap="none" strike="noStrike">
              <a:solidFill>
                <a:schemeClr val="dk1"/>
              </a:solidFill>
              <a:latin typeface="Calibri"/>
              <a:ea typeface="Calibri"/>
              <a:cs typeface="Calibri"/>
              <a:sym typeface="Calibri"/>
            </a:endParaRPr>
          </a:p>
        </p:txBody>
      </p:sp>
      <p:sp>
        <p:nvSpPr>
          <p:cNvPr id="534" name="Google Shape;534;p20"/>
          <p:cNvSpPr/>
          <p:nvPr/>
        </p:nvSpPr>
        <p:spPr>
          <a:xfrm>
            <a:off x="777240" y="3200400"/>
            <a:ext cx="2194560" cy="9601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Iris (elicitation) captures leads one tappable question at a time</a:t>
            </a:r>
            <a:endParaRPr b="0" i="0" sz="1150" u="none" cap="none" strike="noStrike">
              <a:solidFill>
                <a:schemeClr val="dk1"/>
              </a:solidFill>
              <a:latin typeface="Calibri"/>
              <a:ea typeface="Calibri"/>
              <a:cs typeface="Calibri"/>
              <a:sym typeface="Calibri"/>
            </a:endParaRPr>
          </a:p>
        </p:txBody>
      </p:sp>
      <p:sp>
        <p:nvSpPr>
          <p:cNvPr id="535" name="Google Shape;535;p20"/>
          <p:cNvSpPr/>
          <p:nvPr/>
        </p:nvSpPr>
        <p:spPr>
          <a:xfrm>
            <a:off x="3419856" y="210312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20"/>
          <p:cNvSpPr/>
          <p:nvPr/>
        </p:nvSpPr>
        <p:spPr>
          <a:xfrm>
            <a:off x="3648456" y="2359152"/>
            <a:ext cx="365760" cy="365760"/>
          </a:xfrm>
          <a:prstGeom prst="ellipse">
            <a:avLst/>
          </a:prstGeom>
          <a:solidFill>
            <a:srgbClr val="3F8F6B"/>
          </a:solidFill>
          <a:ln cap="flat" cmpd="sng" w="12700">
            <a:solidFill>
              <a:srgbClr val="3F8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0"/>
          <p:cNvSpPr/>
          <p:nvPr/>
        </p:nvSpPr>
        <p:spPr>
          <a:xfrm>
            <a:off x="3648456" y="23591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2</a:t>
            </a:r>
            <a:endParaRPr b="0" i="0" sz="1500" u="none" cap="none" strike="noStrike">
              <a:solidFill>
                <a:schemeClr val="dk1"/>
              </a:solidFill>
              <a:latin typeface="Calibri"/>
              <a:ea typeface="Calibri"/>
              <a:cs typeface="Calibri"/>
              <a:sym typeface="Calibri"/>
            </a:endParaRPr>
          </a:p>
        </p:txBody>
      </p:sp>
      <p:sp>
        <p:nvSpPr>
          <p:cNvPr id="538" name="Google Shape;538;p20"/>
          <p:cNvSpPr/>
          <p:nvPr/>
        </p:nvSpPr>
        <p:spPr>
          <a:xfrm>
            <a:off x="4133088" y="237744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Supabase</a:t>
            </a:r>
            <a:endParaRPr b="0" i="0" sz="1400" u="none" cap="none" strike="noStrike">
              <a:solidFill>
                <a:schemeClr val="dk1"/>
              </a:solidFill>
              <a:latin typeface="Calibri"/>
              <a:ea typeface="Calibri"/>
              <a:cs typeface="Calibri"/>
              <a:sym typeface="Calibri"/>
            </a:endParaRPr>
          </a:p>
        </p:txBody>
      </p:sp>
      <p:sp>
        <p:nvSpPr>
          <p:cNvPr id="539" name="Google Shape;539;p20"/>
          <p:cNvSpPr/>
          <p:nvPr/>
        </p:nvSpPr>
        <p:spPr>
          <a:xfrm>
            <a:off x="3648456" y="288036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8F6B"/>
              </a:buClr>
              <a:buSzPts val="1100"/>
              <a:buFont typeface="Calibri"/>
              <a:buNone/>
            </a:pPr>
            <a:r>
              <a:rPr b="0" i="1" lang="en-US" sz="1100" u="none" cap="none" strike="noStrike">
                <a:solidFill>
                  <a:srgbClr val="3F8F6B"/>
                </a:solidFill>
                <a:latin typeface="Calibri"/>
                <a:ea typeface="Calibri"/>
                <a:cs typeface="Calibri"/>
                <a:sym typeface="Calibri"/>
              </a:rPr>
              <a:t>Postgres, source of truth</a:t>
            </a:r>
            <a:endParaRPr b="0" i="0" sz="1100" u="none" cap="none" strike="noStrike">
              <a:solidFill>
                <a:schemeClr val="dk1"/>
              </a:solidFill>
              <a:latin typeface="Calibri"/>
              <a:ea typeface="Calibri"/>
              <a:cs typeface="Calibri"/>
              <a:sym typeface="Calibri"/>
            </a:endParaRPr>
          </a:p>
        </p:txBody>
      </p:sp>
      <p:sp>
        <p:nvSpPr>
          <p:cNvPr id="540" name="Google Shape;540;p20"/>
          <p:cNvSpPr/>
          <p:nvPr/>
        </p:nvSpPr>
        <p:spPr>
          <a:xfrm>
            <a:off x="3648456" y="3200400"/>
            <a:ext cx="2194560" cy="9601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Leads, targets, runs, and artifacts shared by console and crew</a:t>
            </a:r>
            <a:endParaRPr b="0" i="0" sz="1150" u="none" cap="none" strike="noStrike">
              <a:solidFill>
                <a:schemeClr val="dk1"/>
              </a:solidFill>
              <a:latin typeface="Calibri"/>
              <a:ea typeface="Calibri"/>
              <a:cs typeface="Calibri"/>
              <a:sym typeface="Calibri"/>
            </a:endParaRPr>
          </a:p>
        </p:txBody>
      </p:sp>
      <p:sp>
        <p:nvSpPr>
          <p:cNvPr id="541" name="Google Shape;541;p20"/>
          <p:cNvSpPr/>
          <p:nvPr/>
        </p:nvSpPr>
        <p:spPr>
          <a:xfrm>
            <a:off x="6291072" y="210312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0"/>
          <p:cNvSpPr/>
          <p:nvPr/>
        </p:nvSpPr>
        <p:spPr>
          <a:xfrm>
            <a:off x="6519672" y="2359152"/>
            <a:ext cx="365760" cy="365760"/>
          </a:xfrm>
          <a:prstGeom prst="ellipse">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0"/>
          <p:cNvSpPr/>
          <p:nvPr/>
        </p:nvSpPr>
        <p:spPr>
          <a:xfrm>
            <a:off x="6519672" y="23591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3</a:t>
            </a:r>
            <a:endParaRPr b="0" i="0" sz="1500" u="none" cap="none" strike="noStrike">
              <a:solidFill>
                <a:schemeClr val="dk1"/>
              </a:solidFill>
              <a:latin typeface="Calibri"/>
              <a:ea typeface="Calibri"/>
              <a:cs typeface="Calibri"/>
              <a:sym typeface="Calibri"/>
            </a:endParaRPr>
          </a:p>
        </p:txBody>
      </p:sp>
      <p:sp>
        <p:nvSpPr>
          <p:cNvPr id="544" name="Google Shape;544;p20"/>
          <p:cNvSpPr/>
          <p:nvPr/>
        </p:nvSpPr>
        <p:spPr>
          <a:xfrm>
            <a:off x="7004304" y="237744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Local launcher</a:t>
            </a:r>
            <a:endParaRPr b="0" i="0" sz="1400" u="none" cap="none" strike="noStrike">
              <a:solidFill>
                <a:schemeClr val="dk1"/>
              </a:solidFill>
              <a:latin typeface="Calibri"/>
              <a:ea typeface="Calibri"/>
              <a:cs typeface="Calibri"/>
              <a:sym typeface="Calibri"/>
            </a:endParaRPr>
          </a:p>
        </p:txBody>
      </p:sp>
      <p:sp>
        <p:nvSpPr>
          <p:cNvPr id="545" name="Google Shape;545;p20"/>
          <p:cNvSpPr/>
          <p:nvPr/>
        </p:nvSpPr>
        <p:spPr>
          <a:xfrm>
            <a:off x="6519672" y="288036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Node helper</a:t>
            </a:r>
            <a:endParaRPr b="0" i="0" sz="1100" u="none" cap="none" strike="noStrike">
              <a:solidFill>
                <a:schemeClr val="dk1"/>
              </a:solidFill>
              <a:latin typeface="Calibri"/>
              <a:ea typeface="Calibri"/>
              <a:cs typeface="Calibri"/>
              <a:sym typeface="Calibri"/>
            </a:endParaRPr>
          </a:p>
        </p:txBody>
      </p:sp>
      <p:sp>
        <p:nvSpPr>
          <p:cNvPr id="546" name="Google Shape;546;p20"/>
          <p:cNvSpPr/>
          <p:nvPr/>
        </p:nvSpPr>
        <p:spPr>
          <a:xfrm>
            <a:off x="6519672" y="3200400"/>
            <a:ext cx="2194560" cy="9601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The console calls it to invoke /sales commands in Claude Code</a:t>
            </a:r>
            <a:endParaRPr b="0" i="0" sz="1150" u="none" cap="none" strike="noStrike">
              <a:solidFill>
                <a:schemeClr val="dk1"/>
              </a:solidFill>
              <a:latin typeface="Calibri"/>
              <a:ea typeface="Calibri"/>
              <a:cs typeface="Calibri"/>
              <a:sym typeface="Calibri"/>
            </a:endParaRPr>
          </a:p>
        </p:txBody>
      </p:sp>
      <p:sp>
        <p:nvSpPr>
          <p:cNvPr id="547" name="Google Shape;547;p20"/>
          <p:cNvSpPr/>
          <p:nvPr/>
        </p:nvSpPr>
        <p:spPr>
          <a:xfrm>
            <a:off x="9162288" y="2103120"/>
            <a:ext cx="2651760" cy="2148840"/>
          </a:xfrm>
          <a:prstGeom prst="roundRect">
            <a:avLst>
              <a:gd fmla="val 297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5400000" dist="381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0"/>
          <p:cNvSpPr/>
          <p:nvPr/>
        </p:nvSpPr>
        <p:spPr>
          <a:xfrm>
            <a:off x="9390888" y="2359152"/>
            <a:ext cx="365760" cy="365760"/>
          </a:xfrm>
          <a:prstGeom prst="ellipse">
            <a:avLst/>
          </a:prstGeom>
          <a:solidFill>
            <a:srgbClr val="1E3A5F"/>
          </a:solidFill>
          <a:ln cap="flat" cmpd="sng" w="12700">
            <a:solidFill>
              <a:srgbClr val="1E3A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0"/>
          <p:cNvSpPr/>
          <p:nvPr/>
        </p:nvSpPr>
        <p:spPr>
          <a:xfrm>
            <a:off x="9390888" y="23591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4</a:t>
            </a:r>
            <a:endParaRPr b="0" i="0" sz="1500" u="none" cap="none" strike="noStrike">
              <a:solidFill>
                <a:schemeClr val="dk1"/>
              </a:solidFill>
              <a:latin typeface="Calibri"/>
              <a:ea typeface="Calibri"/>
              <a:cs typeface="Calibri"/>
              <a:sym typeface="Calibri"/>
            </a:endParaRPr>
          </a:p>
        </p:txBody>
      </p:sp>
      <p:sp>
        <p:nvSpPr>
          <p:cNvPr id="550" name="Google Shape;550;p20"/>
          <p:cNvSpPr/>
          <p:nvPr/>
        </p:nvSpPr>
        <p:spPr>
          <a:xfrm>
            <a:off x="9875520" y="2377440"/>
            <a:ext cx="1828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1400"/>
              <a:buFont typeface="Calibri"/>
              <a:buNone/>
            </a:pPr>
            <a:r>
              <a:rPr b="1" i="0" lang="en-US" sz="1400" u="none" cap="none" strike="noStrike">
                <a:solidFill>
                  <a:srgbClr val="0F172A"/>
                </a:solidFill>
                <a:latin typeface="Calibri"/>
                <a:ea typeface="Calibri"/>
                <a:cs typeface="Calibri"/>
                <a:sym typeface="Calibri"/>
              </a:rPr>
              <a:t>Operator console</a:t>
            </a:r>
            <a:endParaRPr b="0" i="0" sz="1400" u="none" cap="none" strike="noStrike">
              <a:solidFill>
                <a:schemeClr val="dk1"/>
              </a:solidFill>
              <a:latin typeface="Calibri"/>
              <a:ea typeface="Calibri"/>
              <a:cs typeface="Calibri"/>
              <a:sym typeface="Calibri"/>
            </a:endParaRPr>
          </a:p>
        </p:txBody>
      </p:sp>
      <p:sp>
        <p:nvSpPr>
          <p:cNvPr id="551" name="Google Shape;551;p20"/>
          <p:cNvSpPr/>
          <p:nvPr/>
        </p:nvSpPr>
        <p:spPr>
          <a:xfrm>
            <a:off x="9390888" y="288036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3A5F"/>
              </a:buClr>
              <a:buSzPts val="1100"/>
              <a:buFont typeface="Calibri"/>
              <a:buNone/>
            </a:pPr>
            <a:r>
              <a:rPr b="0" i="1" lang="en-US" sz="1100" u="none" cap="none" strike="noStrike">
                <a:solidFill>
                  <a:srgbClr val="1E3A5F"/>
                </a:solidFill>
                <a:latin typeface="Calibri"/>
                <a:ea typeface="Calibri"/>
                <a:cs typeface="Calibri"/>
                <a:sym typeface="Calibri"/>
              </a:rPr>
              <a:t>Next.js, local</a:t>
            </a:r>
            <a:endParaRPr b="0" i="0" sz="1100" u="none" cap="none" strike="noStrike">
              <a:solidFill>
                <a:schemeClr val="dk1"/>
              </a:solidFill>
              <a:latin typeface="Calibri"/>
              <a:ea typeface="Calibri"/>
              <a:cs typeface="Calibri"/>
              <a:sym typeface="Calibri"/>
            </a:endParaRPr>
          </a:p>
        </p:txBody>
      </p:sp>
      <p:sp>
        <p:nvSpPr>
          <p:cNvPr id="552" name="Google Shape;552;p20"/>
          <p:cNvSpPr/>
          <p:nvPr/>
        </p:nvSpPr>
        <p:spPr>
          <a:xfrm>
            <a:off x="9390888" y="3200400"/>
            <a:ext cx="2194560" cy="9601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64748B"/>
              </a:buClr>
              <a:buSzPts val="1150"/>
              <a:buFont typeface="Calibri"/>
              <a:buNone/>
            </a:pPr>
            <a:r>
              <a:rPr b="0" i="0" lang="en-US" sz="1150" u="none" cap="none" strike="noStrike">
                <a:solidFill>
                  <a:srgbClr val="64748B"/>
                </a:solidFill>
                <a:latin typeface="Calibri"/>
                <a:ea typeface="Calibri"/>
                <a:cs typeface="Calibri"/>
                <a:sym typeface="Calibri"/>
              </a:rPr>
              <a:t>Pipeline board, run controls, artifact viewer, ICP editor</a:t>
            </a:r>
            <a:endParaRPr b="0" i="0" sz="1150" u="none" cap="none" strike="noStrike">
              <a:solidFill>
                <a:schemeClr val="dk1"/>
              </a:solidFill>
              <a:latin typeface="Calibri"/>
              <a:ea typeface="Calibri"/>
              <a:cs typeface="Calibri"/>
              <a:sym typeface="Calibri"/>
            </a:endParaRPr>
          </a:p>
        </p:txBody>
      </p:sp>
      <p:sp>
        <p:nvSpPr>
          <p:cNvPr id="553" name="Google Shape;553;p20"/>
          <p:cNvSpPr/>
          <p:nvPr/>
        </p:nvSpPr>
        <p:spPr>
          <a:xfrm>
            <a:off x="548640" y="4617720"/>
            <a:ext cx="11064240" cy="1325880"/>
          </a:xfrm>
          <a:prstGeom prst="roundRect">
            <a:avLst>
              <a:gd fmla="val 4828" name="adj"/>
            </a:avLst>
          </a:prstGeom>
          <a:solidFill>
            <a:srgbClr val="0F172A"/>
          </a:solidFill>
          <a:ln cap="flat" cmpd="sng" w="12700">
            <a:solidFill>
              <a:srgbClr val="0F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0"/>
          <p:cNvSpPr/>
          <p:nvPr/>
        </p:nvSpPr>
        <p:spPr>
          <a:xfrm>
            <a:off x="914400" y="4709160"/>
            <a:ext cx="10332720" cy="1143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A140"/>
              </a:buClr>
              <a:buSzPts val="1350"/>
              <a:buFont typeface="Calibri"/>
              <a:buNone/>
            </a:pPr>
            <a:r>
              <a:rPr b="1" i="0" lang="en-US" sz="1350" u="none" cap="none" strike="noStrike">
                <a:solidFill>
                  <a:srgbClr val="E1A140"/>
                </a:solidFill>
                <a:latin typeface="Calibri"/>
                <a:ea typeface="Calibri"/>
                <a:cs typeface="Calibri"/>
                <a:sym typeface="Calibri"/>
              </a:rPr>
              <a:t>What carries over from Path 1.  </a:t>
            </a:r>
            <a:r>
              <a:rPr b="0" i="0" lang="en-US" sz="1350" u="none" cap="none" strike="noStrike">
                <a:solidFill>
                  <a:srgbClr val="E2E8F0"/>
                </a:solidFill>
                <a:latin typeface="Calibri"/>
                <a:ea typeface="Calibri"/>
                <a:cs typeface="Calibri"/>
                <a:sym typeface="Calibri"/>
              </a:rPr>
              <a:t>The orchestrator, the five agents, the four scripts, the six templates, and Kajiro are unchanged. Path 2 adds an inbound bridge, three database bridge scripts, and the console. This is the Atrium PRD v5 architecture.</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59" name="Shape 559"/>
        <p:cNvGrpSpPr/>
        <p:nvPr/>
      </p:nvGrpSpPr>
      <p:grpSpPr>
        <a:xfrm>
          <a:off x="0" y="0"/>
          <a:ext cx="0" cy="0"/>
          <a:chOff x="0" y="0"/>
          <a:chExt cx="0" cy="0"/>
        </a:xfrm>
      </p:grpSpPr>
      <p:sp>
        <p:nvSpPr>
          <p:cNvPr id="560" name="Google Shape;560;p21"/>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THE TWO PATHS, SIDE BY SIDE</a:t>
            </a:r>
            <a:endParaRPr b="0" i="0" sz="1200" u="none" cap="none" strike="noStrike">
              <a:solidFill>
                <a:schemeClr val="dk1"/>
              </a:solidFill>
              <a:latin typeface="Calibri"/>
              <a:ea typeface="Calibri"/>
              <a:cs typeface="Calibri"/>
              <a:sym typeface="Calibri"/>
            </a:endParaRPr>
          </a:p>
        </p:txBody>
      </p:sp>
      <p:sp>
        <p:nvSpPr>
          <p:cNvPr id="561" name="Google Shape;561;p21"/>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Start local, grow into the console</a:t>
            </a:r>
            <a:endParaRPr b="0" i="0" sz="2700" u="none" cap="none" strike="noStrike">
              <a:solidFill>
                <a:schemeClr val="dk1"/>
              </a:solidFill>
              <a:latin typeface="Calibri"/>
              <a:ea typeface="Calibri"/>
              <a:cs typeface="Calibri"/>
              <a:sym typeface="Calibri"/>
            </a:endParaRPr>
          </a:p>
        </p:txBody>
      </p:sp>
      <p:graphicFrame>
        <p:nvGraphicFramePr>
          <p:cNvPr id="562" name="Google Shape;562;p21"/>
          <p:cNvGraphicFramePr/>
          <p:nvPr/>
        </p:nvGraphicFramePr>
        <p:xfrm>
          <a:off x="548640" y="1554480"/>
          <a:ext cx="3000000" cy="3000000"/>
        </p:xfrm>
        <a:graphic>
          <a:graphicData uri="http://schemas.openxmlformats.org/drawingml/2006/table">
            <a:tbl>
              <a:tblPr>
                <a:noFill/>
                <a:tableStyleId>{0510816E-5A55-4CBC-883F-2B9CA7725E70}</a:tableStyleId>
              </a:tblPr>
              <a:tblGrid>
                <a:gridCol w="2468875"/>
                <a:gridCol w="4297675"/>
                <a:gridCol w="4297675"/>
              </a:tblGrid>
              <a:tr h="548650">
                <a:tc>
                  <a:txBody>
                    <a:bodyPr/>
                    <a:lstStyle/>
                    <a:p>
                      <a:pPr indent="0" lvl="0" marL="0" marR="0" rtl="0" algn="l">
                        <a:spcBef>
                          <a:spcPts val="0"/>
                        </a:spcBef>
                        <a:spcAft>
                          <a:spcPts val="0"/>
                        </a:spcAft>
                        <a:buClr>
                          <a:schemeClr val="dk1"/>
                        </a:buClr>
                        <a:buSzPts val="1200"/>
                        <a:buFont typeface="Calibri"/>
                        <a:buNone/>
                      </a:pPr>
                      <a:r>
                        <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Path 1: Local MVP</a:t>
                      </a:r>
                      <a:endParaRPr sz="15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2E5E8C"/>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Path 2: Full Vercel Build</a:t>
                      </a:r>
                      <a:endParaRPr sz="15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1E3A5F"/>
                    </a:solidFill>
                  </a:tcPr>
                </a:tc>
              </a:tr>
              <a:tr h="548650">
                <a:tc>
                  <a:txBody>
                    <a:bodyPr/>
                    <a:lstStyle/>
                    <a:p>
                      <a:pPr indent="0" lvl="0" marL="0" marR="0" rtl="0" algn="l">
                        <a:spcBef>
                          <a:spcPts val="0"/>
                        </a:spcBef>
                        <a:spcAft>
                          <a:spcPts val="0"/>
                        </a:spcAft>
                        <a:buClr>
                          <a:srgbClr val="0F172A"/>
                        </a:buClr>
                        <a:buSzPts val="1250"/>
                        <a:buFont typeface="Calibri"/>
                        <a:buNone/>
                      </a:pPr>
                      <a:r>
                        <a:rPr b="1" lang="en-US" sz="1250" u="none" cap="none" strike="noStrike">
                          <a:solidFill>
                            <a:srgbClr val="0F172A"/>
                          </a:solidFill>
                          <a:latin typeface="Calibri"/>
                          <a:ea typeface="Calibri"/>
                          <a:cs typeface="Calibri"/>
                          <a:sym typeface="Calibri"/>
                        </a:rPr>
                        <a:t>Interface</a:t>
                      </a:r>
                      <a:endParaRPr sz="125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EF2F6"/>
                    </a:solidFill>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Claude Code command line</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Web console + inbound funnel</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548650">
                <a:tc>
                  <a:txBody>
                    <a:bodyPr/>
                    <a:lstStyle/>
                    <a:p>
                      <a:pPr indent="0" lvl="0" marL="0" marR="0" rtl="0" algn="l">
                        <a:spcBef>
                          <a:spcPts val="0"/>
                        </a:spcBef>
                        <a:spcAft>
                          <a:spcPts val="0"/>
                        </a:spcAft>
                        <a:buClr>
                          <a:srgbClr val="0F172A"/>
                        </a:buClr>
                        <a:buSzPts val="1250"/>
                        <a:buFont typeface="Calibri"/>
                        <a:buNone/>
                      </a:pPr>
                      <a:r>
                        <a:rPr b="1" lang="en-US" sz="1250" u="none" cap="none" strike="noStrike">
                          <a:solidFill>
                            <a:srgbClr val="0F172A"/>
                          </a:solidFill>
                          <a:latin typeface="Calibri"/>
                          <a:ea typeface="Calibri"/>
                          <a:cs typeface="Calibri"/>
                          <a:sym typeface="Calibri"/>
                        </a:rPr>
                        <a:t>Lead source</a:t>
                      </a:r>
                      <a:endParaRPr sz="125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EF2F6"/>
                    </a:solidFill>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You point it at a URL</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Inbound funnel + outbound targets</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548650">
                <a:tc>
                  <a:txBody>
                    <a:bodyPr/>
                    <a:lstStyle/>
                    <a:p>
                      <a:pPr indent="0" lvl="0" marL="0" marR="0" rtl="0" algn="l">
                        <a:spcBef>
                          <a:spcPts val="0"/>
                        </a:spcBef>
                        <a:spcAft>
                          <a:spcPts val="0"/>
                        </a:spcAft>
                        <a:buClr>
                          <a:srgbClr val="0F172A"/>
                        </a:buClr>
                        <a:buSzPts val="1250"/>
                        <a:buFont typeface="Calibri"/>
                        <a:buNone/>
                      </a:pPr>
                      <a:r>
                        <a:rPr b="1" lang="en-US" sz="1250" u="none" cap="none" strike="noStrike">
                          <a:solidFill>
                            <a:srgbClr val="0F172A"/>
                          </a:solidFill>
                          <a:latin typeface="Calibri"/>
                          <a:ea typeface="Calibri"/>
                          <a:cs typeface="Calibri"/>
                          <a:sym typeface="Calibri"/>
                        </a:rPr>
                        <a:t>Storage</a:t>
                      </a:r>
                      <a:endParaRPr sz="125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EF2F6"/>
                    </a:solidFill>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Markdown files in a folder</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Supabase, one source of truth</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548650">
                <a:tc>
                  <a:txBody>
                    <a:bodyPr/>
                    <a:lstStyle/>
                    <a:p>
                      <a:pPr indent="0" lvl="0" marL="0" marR="0" rtl="0" algn="l">
                        <a:spcBef>
                          <a:spcPts val="0"/>
                        </a:spcBef>
                        <a:spcAft>
                          <a:spcPts val="0"/>
                        </a:spcAft>
                        <a:buClr>
                          <a:srgbClr val="0F172A"/>
                        </a:buClr>
                        <a:buSzPts val="1250"/>
                        <a:buFont typeface="Calibri"/>
                        <a:buNone/>
                      </a:pPr>
                      <a:r>
                        <a:rPr b="1" lang="en-US" sz="1250" u="none" cap="none" strike="noStrike">
                          <a:solidFill>
                            <a:srgbClr val="0F172A"/>
                          </a:solidFill>
                          <a:latin typeface="Calibri"/>
                          <a:ea typeface="Calibri"/>
                          <a:cs typeface="Calibri"/>
                          <a:sym typeface="Calibri"/>
                        </a:rPr>
                        <a:t>Hosting</a:t>
                      </a:r>
                      <a:endParaRPr sz="125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EF2F6"/>
                    </a:solidFill>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None, all local</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Funnel on Vercel, console local</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548650">
                <a:tc>
                  <a:txBody>
                    <a:bodyPr/>
                    <a:lstStyle/>
                    <a:p>
                      <a:pPr indent="0" lvl="0" marL="0" marR="0" rtl="0" algn="l">
                        <a:spcBef>
                          <a:spcPts val="0"/>
                        </a:spcBef>
                        <a:spcAft>
                          <a:spcPts val="0"/>
                        </a:spcAft>
                        <a:buClr>
                          <a:srgbClr val="0F172A"/>
                        </a:buClr>
                        <a:buSzPts val="1250"/>
                        <a:buFont typeface="Calibri"/>
                        <a:buNone/>
                      </a:pPr>
                      <a:r>
                        <a:rPr b="1" lang="en-US" sz="1250" u="none" cap="none" strike="noStrike">
                          <a:solidFill>
                            <a:srgbClr val="0F172A"/>
                          </a:solidFill>
                          <a:latin typeface="Calibri"/>
                          <a:ea typeface="Calibri"/>
                          <a:cs typeface="Calibri"/>
                          <a:sym typeface="Calibri"/>
                        </a:rPr>
                        <a:t>Extra parts</a:t>
                      </a:r>
                      <a:endParaRPr sz="125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EF2F6"/>
                    </a:solidFill>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Repo + Kajiro only</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 launcher, DB bridges, console</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548650">
                <a:tc>
                  <a:txBody>
                    <a:bodyPr/>
                    <a:lstStyle/>
                    <a:p>
                      <a:pPr indent="0" lvl="0" marL="0" marR="0" rtl="0" algn="l">
                        <a:spcBef>
                          <a:spcPts val="0"/>
                        </a:spcBef>
                        <a:spcAft>
                          <a:spcPts val="0"/>
                        </a:spcAft>
                        <a:buClr>
                          <a:srgbClr val="0F172A"/>
                        </a:buClr>
                        <a:buSzPts val="1250"/>
                        <a:buFont typeface="Calibri"/>
                        <a:buNone/>
                      </a:pPr>
                      <a:r>
                        <a:rPr b="1" lang="en-US" sz="1250" u="none" cap="none" strike="noStrike">
                          <a:solidFill>
                            <a:srgbClr val="0F172A"/>
                          </a:solidFill>
                          <a:latin typeface="Calibri"/>
                          <a:ea typeface="Calibri"/>
                          <a:cs typeface="Calibri"/>
                          <a:sym typeface="Calibri"/>
                        </a:rPr>
                        <a:t>Time to value</a:t>
                      </a:r>
                      <a:endParaRPr sz="125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EF2F6"/>
                    </a:solidFill>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An afternoon</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Phased, weeks</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548650">
                <a:tc>
                  <a:txBody>
                    <a:bodyPr/>
                    <a:lstStyle/>
                    <a:p>
                      <a:pPr indent="0" lvl="0" marL="0" marR="0" rtl="0" algn="l">
                        <a:spcBef>
                          <a:spcPts val="0"/>
                        </a:spcBef>
                        <a:spcAft>
                          <a:spcPts val="0"/>
                        </a:spcAft>
                        <a:buClr>
                          <a:srgbClr val="0F172A"/>
                        </a:buClr>
                        <a:buSzPts val="1250"/>
                        <a:buFont typeface="Calibri"/>
                        <a:buNone/>
                      </a:pPr>
                      <a:r>
                        <a:rPr b="1" lang="en-US" sz="1250" u="none" cap="none" strike="noStrike">
                          <a:solidFill>
                            <a:srgbClr val="0F172A"/>
                          </a:solidFill>
                          <a:latin typeface="Calibri"/>
                          <a:ea typeface="Calibri"/>
                          <a:cs typeface="Calibri"/>
                          <a:sym typeface="Calibri"/>
                        </a:rPr>
                        <a:t>Cost</a:t>
                      </a:r>
                      <a:endParaRPr sz="125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EEF2F6"/>
                    </a:solidFill>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Claude subscription only</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0F172A"/>
                        </a:buClr>
                        <a:buSzPts val="1200"/>
                        <a:buFont typeface="Calibri"/>
                        <a:buNone/>
                      </a:pPr>
                      <a:r>
                        <a:rPr lang="en-US" sz="1200" u="none" cap="none" strike="noStrike">
                          <a:solidFill>
                            <a:srgbClr val="0F172A"/>
                          </a:solidFill>
                          <a:latin typeface="Calibri"/>
                          <a:ea typeface="Calibri"/>
                          <a:cs typeface="Calibri"/>
                          <a:sym typeface="Calibri"/>
                        </a:rPr>
                        <a:t>Adds Supabase, Cal.com, Resend</a:t>
                      </a:r>
                      <a:endParaRPr sz="1200" u="none" cap="none" strike="noStrike">
                        <a:latin typeface="Calibri"/>
                        <a:ea typeface="Calibri"/>
                        <a:cs typeface="Calibri"/>
                        <a:sym typeface="Calibri"/>
                      </a:endParaRPr>
                    </a:p>
                  </a:txBody>
                  <a:tcPr marT="76200" marB="76200" marR="76200" marL="762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bl>
          </a:graphicData>
        </a:graphic>
      </p:graphicFrame>
      <p:sp>
        <p:nvSpPr>
          <p:cNvPr id="563" name="Google Shape;563;p21"/>
          <p:cNvSpPr/>
          <p:nvPr/>
        </p:nvSpPr>
        <p:spPr>
          <a:xfrm>
            <a:off x="548640" y="626364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Same team, two containers. Nothing you build in Path 1 is thrown away in Path 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68" name="Shape 568"/>
        <p:cNvGrpSpPr/>
        <p:nvPr/>
      </p:nvGrpSpPr>
      <p:grpSpPr>
        <a:xfrm>
          <a:off x="0" y="0"/>
          <a:ext cx="0" cy="0"/>
          <a:chOff x="0" y="0"/>
          <a:chExt cx="0" cy="0"/>
        </a:xfrm>
      </p:grpSpPr>
      <p:sp>
        <p:nvSpPr>
          <p:cNvPr id="569" name="Google Shape;569;p22"/>
          <p:cNvSpPr/>
          <p:nvPr/>
        </p:nvSpPr>
        <p:spPr>
          <a:xfrm>
            <a:off x="548640" y="384048"/>
            <a:ext cx="11064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200"/>
              <a:buFont typeface="Calibri"/>
              <a:buNone/>
            </a:pPr>
            <a:r>
              <a:rPr b="1" i="0" lang="en-US" sz="1200" u="none" cap="none" strike="noStrike">
                <a:solidFill>
                  <a:srgbClr val="E1A140"/>
                </a:solidFill>
                <a:latin typeface="Calibri"/>
                <a:ea typeface="Calibri"/>
                <a:cs typeface="Calibri"/>
                <a:sym typeface="Calibri"/>
              </a:rPr>
              <a:t>PEXELS CASTING SHEET</a:t>
            </a:r>
            <a:endParaRPr b="0" i="0" sz="1200" u="none" cap="none" strike="noStrike">
              <a:solidFill>
                <a:schemeClr val="dk1"/>
              </a:solidFill>
              <a:latin typeface="Calibri"/>
              <a:ea typeface="Calibri"/>
              <a:cs typeface="Calibri"/>
              <a:sym typeface="Calibri"/>
            </a:endParaRPr>
          </a:p>
        </p:txBody>
      </p:sp>
      <p:sp>
        <p:nvSpPr>
          <p:cNvPr id="570" name="Google Shape;570;p22"/>
          <p:cNvSpPr/>
          <p:nvPr/>
        </p:nvSpPr>
        <p:spPr>
          <a:xfrm>
            <a:off x="548640" y="658368"/>
            <a:ext cx="110642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2700"/>
              <a:buFont typeface="Cambria"/>
              <a:buNone/>
            </a:pPr>
            <a:r>
              <a:rPr b="1" i="0" lang="en-US" sz="2700" u="none" cap="none" strike="noStrike">
                <a:solidFill>
                  <a:srgbClr val="0F172A"/>
                </a:solidFill>
                <a:latin typeface="Cambria"/>
                <a:ea typeface="Cambria"/>
                <a:cs typeface="Cambria"/>
                <a:sym typeface="Cambria"/>
              </a:rPr>
              <a:t>Drop real portraits into the persona cards</a:t>
            </a:r>
            <a:endParaRPr b="0" i="0" sz="2700" u="none" cap="none" strike="noStrike">
              <a:solidFill>
                <a:schemeClr val="dk1"/>
              </a:solidFill>
              <a:latin typeface="Calibri"/>
              <a:ea typeface="Calibri"/>
              <a:cs typeface="Calibri"/>
              <a:sym typeface="Calibri"/>
            </a:endParaRPr>
          </a:p>
        </p:txBody>
      </p:sp>
      <p:sp>
        <p:nvSpPr>
          <p:cNvPr id="571" name="Google Shape;571;p22"/>
          <p:cNvSpPr/>
          <p:nvPr/>
        </p:nvSpPr>
        <p:spPr>
          <a:xfrm>
            <a:off x="548640" y="1371600"/>
            <a:ext cx="11064240" cy="640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The build environment cannot reach Pexels, so these cards use designed avatars. To swap in real photos, open each link below, download, and replace the avatar on that persona slide. All are free under the Pexels license.</a:t>
            </a:r>
            <a:endParaRPr b="0" i="0" sz="1300" u="none" cap="none" strike="noStrike">
              <a:solidFill>
                <a:schemeClr val="dk1"/>
              </a:solidFill>
              <a:latin typeface="Calibri"/>
              <a:ea typeface="Calibri"/>
              <a:cs typeface="Calibri"/>
              <a:sym typeface="Calibri"/>
            </a:endParaRPr>
          </a:p>
        </p:txBody>
      </p:sp>
      <p:graphicFrame>
        <p:nvGraphicFramePr>
          <p:cNvPr id="572" name="Google Shape;572;p22"/>
          <p:cNvGraphicFramePr/>
          <p:nvPr/>
        </p:nvGraphicFramePr>
        <p:xfrm>
          <a:off x="548640" y="2148840"/>
          <a:ext cx="3000000" cy="3000000"/>
        </p:xfrm>
        <a:graphic>
          <a:graphicData uri="http://schemas.openxmlformats.org/drawingml/2006/table">
            <a:tbl>
              <a:tblPr>
                <a:noFill/>
                <a:tableStyleId>{0510816E-5A55-4CBC-883F-2B9CA7725E70}</a:tableStyleId>
              </a:tblPr>
              <a:tblGrid>
                <a:gridCol w="2103125"/>
                <a:gridCol w="2743200"/>
                <a:gridCol w="6217925"/>
              </a:tblGrid>
              <a:tr h="4572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Persona</a:t>
                      </a:r>
                      <a:endParaRPr sz="12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Role</a:t>
                      </a:r>
                      <a:endParaRPr sz="12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Pexels photo link</a:t>
                      </a:r>
                      <a:endParaRPr sz="12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solidFill>
                      <a:srgbClr val="0F172A"/>
                    </a:solidFill>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Alex Morgan</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VP of Sales</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3"/>
                        </a:rPr>
                        <a:t>https://www.pexels.com/photo/portrait-of-smiling-woman-in-business-attire-31869537/</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Marcus Chen</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Market Research Analyst</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4"/>
                        </a:rPr>
                        <a:t>https://www.pexels.com/photo/man-in-gray-suit-wearing-eyeglasses-10816007/</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Priya Nair</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Business Development Rep</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5"/>
                        </a:rPr>
                        <a:t>https://www.pexels.com/photo/professional-portrait-of-smiling-businesswoman-34381970/</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Diego Alvarez</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Lead Qualification Specialist</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6"/>
                        </a:rPr>
                        <a:t>https://www.pexels.com/photo/portrait-of-a-man-in-a-black-suit-14589344/</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Sofia Rossi</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Competitive Intelligence Lead</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7"/>
                        </a:rPr>
                        <a:t>https://www.pexels.com/photo/elegantly-dressed-woman-in-a-jacket-15780889/</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Jordan Blake</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Outreach Strategist</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8"/>
                        </a:rPr>
                        <a:t>https://www.pexels.com/photo/portrait-of-smiling-man-in-shirt-18032391/</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Nadia Cole</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Sales Enablement Coach</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9"/>
                        </a:rPr>
                        <a:t>https://www.pexels.com/photo/professional-portrait-of-smiling-woman-in-studio-38197025/</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r h="457200">
                <a:tc>
                  <a:txBody>
                    <a:bodyPr/>
                    <a:lstStyle/>
                    <a:p>
                      <a:pPr indent="0" lvl="0" marL="0" marR="0" rtl="0" algn="l">
                        <a:spcBef>
                          <a:spcPts val="0"/>
                        </a:spcBef>
                        <a:spcAft>
                          <a:spcPts val="0"/>
                        </a:spcAft>
                        <a:buClr>
                          <a:srgbClr val="0F172A"/>
                        </a:buClr>
                        <a:buSzPts val="1150"/>
                        <a:buFont typeface="Calibri"/>
                        <a:buNone/>
                      </a:pPr>
                      <a:r>
                        <a:rPr b="1" lang="en-US" sz="1150" u="none" cap="none" strike="noStrike">
                          <a:solidFill>
                            <a:srgbClr val="0F172A"/>
                          </a:solidFill>
                          <a:latin typeface="Calibri"/>
                          <a:ea typeface="Calibri"/>
                          <a:cs typeface="Calibri"/>
                          <a:sym typeface="Calibri"/>
                        </a:rPr>
                        <a:t>Iris Vega</a:t>
                      </a:r>
                      <a:endParaRPr sz="115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64748B"/>
                        </a:buClr>
                        <a:buSzPts val="1100"/>
                        <a:buFont typeface="Calibri"/>
                        <a:buNone/>
                      </a:pPr>
                      <a:r>
                        <a:rPr lang="en-US" sz="1100" u="none" cap="none" strike="noStrike">
                          <a:solidFill>
                            <a:srgbClr val="64748B"/>
                          </a:solidFill>
                          <a:latin typeface="Calibri"/>
                          <a:ea typeface="Calibri"/>
                          <a:cs typeface="Calibri"/>
                          <a:sym typeface="Calibri"/>
                        </a:rPr>
                        <a:t>Intake Coordinator</a:t>
                      </a:r>
                      <a:endParaRPr sz="1100" u="none" cap="none" strike="noStrike">
                        <a:latin typeface="Calibri"/>
                        <a:ea typeface="Calibri"/>
                        <a:cs typeface="Calibri"/>
                        <a:sym typeface="Calibri"/>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c>
                  <a:txBody>
                    <a:bodyPr/>
                    <a:lstStyle/>
                    <a:p>
                      <a:pPr indent="0" lvl="0" marL="0" marR="0" rtl="0" algn="l">
                        <a:spcBef>
                          <a:spcPts val="0"/>
                        </a:spcBef>
                        <a:spcAft>
                          <a:spcPts val="0"/>
                        </a:spcAft>
                        <a:buClr>
                          <a:srgbClr val="2E5E8C"/>
                        </a:buClr>
                        <a:buSzPts val="950"/>
                        <a:buFont typeface="Courier New"/>
                        <a:buNone/>
                      </a:pPr>
                      <a:r>
                        <a:rPr lang="en-US" sz="950" u="sng" cap="none" strike="noStrike">
                          <a:solidFill>
                            <a:schemeClr val="hlink"/>
                          </a:solidFill>
                          <a:latin typeface="Courier New"/>
                          <a:ea typeface="Courier New"/>
                          <a:cs typeface="Courier New"/>
                          <a:sym typeface="Courier New"/>
                          <a:hlinkClick r:id="rId10"/>
                        </a:rPr>
                        <a:t>https://www.pexels.com/photo/elegant-woman-smiling-10174456/</a:t>
                      </a:r>
                      <a:endParaRPr sz="950" u="none" cap="none" strike="noStrike">
                        <a:latin typeface="Courier New"/>
                        <a:ea typeface="Courier New"/>
                        <a:cs typeface="Courier New"/>
                        <a:sym typeface="Courier New"/>
                      </a:endParaRPr>
                    </a:p>
                  </a:txBody>
                  <a:tcPr marT="63500" marB="63500" marR="63500" marL="63500" anchor="ctr">
                    <a:lnL cap="flat" cmpd="sng" w="12700">
                      <a:solidFill>
                        <a:srgbClr val="E2E8F0"/>
                      </a:solidFill>
                      <a:prstDash val="solid"/>
                      <a:round/>
                      <a:headEnd len="sm" w="sm" type="none"/>
                      <a:tailEnd len="sm" w="sm" type="none"/>
                    </a:lnL>
                    <a:lnR cap="flat" cmpd="sng" w="12700">
                      <a:solidFill>
                        <a:srgbClr val="E2E8F0"/>
                      </a:solidFill>
                      <a:prstDash val="solid"/>
                      <a:round/>
                      <a:headEnd len="sm" w="sm" type="none"/>
                      <a:tailEnd len="sm" w="sm" type="none"/>
                    </a:lnR>
                    <a:lnT cap="flat" cmpd="sng" w="12700">
                      <a:solidFill>
                        <a:srgbClr val="E2E8F0"/>
                      </a:solidFill>
                      <a:prstDash val="solid"/>
                      <a:round/>
                      <a:headEnd len="sm" w="sm" type="none"/>
                      <a:tailEnd len="sm" w="sm" type="none"/>
                    </a:lnT>
                    <a:lnB cap="flat" cmpd="sng" w="12700">
                      <a:solidFill>
                        <a:srgbClr val="E2E8F0"/>
                      </a:solidFill>
                      <a:prstDash val="solid"/>
                      <a:round/>
                      <a:headEnd len="sm" w="sm" type="none"/>
                      <a:tailEnd len="sm" w="sm" type="none"/>
                    </a:lnB>
                  </a:tcPr>
                </a:tc>
              </a:tr>
            </a:tbl>
          </a:graphicData>
        </a:graphic>
      </p:graphicFrame>
      <p:sp>
        <p:nvSpPr>
          <p:cNvPr id="573" name="Google Shape;573;p22"/>
          <p:cNvSpPr/>
          <p:nvPr/>
        </p:nvSpPr>
        <p:spPr>
          <a:xfrm>
            <a:off x="548640" y="6263640"/>
            <a:ext cx="11064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50"/>
              <a:buFont typeface="Calibri"/>
              <a:buNone/>
            </a:pPr>
            <a:r>
              <a:rPr b="0" i="1" lang="en-US" sz="1050" u="none" cap="none" strike="noStrike">
                <a:solidFill>
                  <a:srgbClr val="64748B"/>
                </a:solidFill>
                <a:latin typeface="Calibri"/>
                <a:ea typeface="Calibri"/>
                <a:cs typeface="Calibri"/>
                <a:sym typeface="Calibri"/>
              </a:rPr>
              <a:t>Direct download form: images.pexels.com/photos/&lt;id&gt;/pexels-photo-&lt;id&gt;.jpeg. Tip: choose portraits with similar framing and a plain background for a consistent team look.</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78" name="Shape 578"/>
        <p:cNvGrpSpPr/>
        <p:nvPr/>
      </p:nvGrpSpPr>
      <p:grpSpPr>
        <a:xfrm>
          <a:off x="0" y="0"/>
          <a:ext cx="0" cy="0"/>
          <a:chOff x="0" y="0"/>
          <a:chExt cx="0" cy="0"/>
        </a:xfrm>
      </p:grpSpPr>
      <p:sp>
        <p:nvSpPr>
          <p:cNvPr id="579" name="Google Shape;579;p23"/>
          <p:cNvSpPr/>
          <p:nvPr/>
        </p:nvSpPr>
        <p:spPr>
          <a:xfrm>
            <a:off x="-1280160" y="4206240"/>
            <a:ext cx="3840480" cy="3840480"/>
          </a:xfrm>
          <a:prstGeom prst="ellipse">
            <a:avLst/>
          </a:prstGeom>
          <a:solidFill>
            <a:srgbClr val="2E5E8C">
              <a:alpha val="34117"/>
            </a:srgbClr>
          </a:solidFill>
          <a:ln cap="flat" cmpd="sng" w="12700">
            <a:solidFill>
              <a:srgbClr val="2E5E8C">
                <a:alpha val="3411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3"/>
          <p:cNvSpPr/>
          <p:nvPr/>
        </p:nvSpPr>
        <p:spPr>
          <a:xfrm>
            <a:off x="10332720" y="-1280160"/>
            <a:ext cx="3291840" cy="3291840"/>
          </a:xfrm>
          <a:prstGeom prst="ellipse">
            <a:avLst/>
          </a:prstGeom>
          <a:solidFill>
            <a:srgbClr val="E1A140">
              <a:alpha val="30196"/>
            </a:srgbClr>
          </a:solidFill>
          <a:ln cap="flat" cmpd="sng" w="12700">
            <a:solidFill>
              <a:srgbClr val="E1A14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3"/>
          <p:cNvSpPr/>
          <p:nvPr/>
        </p:nvSpPr>
        <p:spPr>
          <a:xfrm>
            <a:off x="731520" y="128016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A140"/>
              </a:buClr>
              <a:buSzPts val="1300"/>
              <a:buFont typeface="Calibri"/>
              <a:buNone/>
            </a:pPr>
            <a:r>
              <a:rPr b="1" i="0" lang="en-US" sz="1300" u="none" cap="none" strike="noStrike">
                <a:solidFill>
                  <a:srgbClr val="E1A140"/>
                </a:solidFill>
                <a:latin typeface="Calibri"/>
                <a:ea typeface="Calibri"/>
                <a:cs typeface="Calibri"/>
                <a:sym typeface="Calibri"/>
              </a:rPr>
              <a:t>HOW TO DRIVE THE BUILD</a:t>
            </a:r>
            <a:endParaRPr b="0" i="0" sz="1300" u="none" cap="none" strike="noStrike">
              <a:solidFill>
                <a:schemeClr val="dk1"/>
              </a:solidFill>
              <a:latin typeface="Calibri"/>
              <a:ea typeface="Calibri"/>
              <a:cs typeface="Calibri"/>
              <a:sym typeface="Calibri"/>
            </a:endParaRPr>
          </a:p>
        </p:txBody>
      </p:sp>
      <p:sp>
        <p:nvSpPr>
          <p:cNvPr id="582" name="Google Shape;582;p23"/>
          <p:cNvSpPr/>
          <p:nvPr/>
        </p:nvSpPr>
        <p:spPr>
          <a:xfrm>
            <a:off x="731520" y="169164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You have the team and both paths</a:t>
            </a:r>
            <a:endParaRPr b="0" i="0" sz="3600" u="none" cap="none" strike="noStrike">
              <a:solidFill>
                <a:schemeClr val="dk1"/>
              </a:solidFill>
              <a:latin typeface="Calibri"/>
              <a:ea typeface="Calibri"/>
              <a:cs typeface="Calibri"/>
              <a:sym typeface="Calibri"/>
            </a:endParaRPr>
          </a:p>
        </p:txBody>
      </p:sp>
      <p:sp>
        <p:nvSpPr>
          <p:cNvPr id="583" name="Google Shape;583;p23"/>
          <p:cNvSpPr/>
          <p:nvPr/>
        </p:nvSpPr>
        <p:spPr>
          <a:xfrm>
            <a:off x="777240" y="2880360"/>
            <a:ext cx="502920" cy="5029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3"/>
          <p:cNvSpPr/>
          <p:nvPr/>
        </p:nvSpPr>
        <p:spPr>
          <a:xfrm>
            <a:off x="777240" y="28803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2000"/>
              <a:buFont typeface="Cambria"/>
              <a:buNone/>
            </a:pPr>
            <a:r>
              <a:rPr b="1" i="0" lang="en-US" sz="2000" u="none" cap="none" strike="noStrike">
                <a:solidFill>
                  <a:srgbClr val="0F172A"/>
                </a:solidFill>
                <a:latin typeface="Cambria"/>
                <a:ea typeface="Cambria"/>
                <a:cs typeface="Cambria"/>
                <a:sym typeface="Cambria"/>
              </a:rPr>
              <a:t>1</a:t>
            </a:r>
            <a:endParaRPr b="0" i="0" sz="2000" u="none" cap="none" strike="noStrike">
              <a:solidFill>
                <a:schemeClr val="dk1"/>
              </a:solidFill>
              <a:latin typeface="Calibri"/>
              <a:ea typeface="Calibri"/>
              <a:cs typeface="Calibri"/>
              <a:sym typeface="Calibri"/>
            </a:endParaRPr>
          </a:p>
        </p:txBody>
      </p:sp>
      <p:sp>
        <p:nvSpPr>
          <p:cNvPr id="585" name="Google Shape;585;p23"/>
          <p:cNvSpPr/>
          <p:nvPr/>
        </p:nvSpPr>
        <p:spPr>
          <a:xfrm>
            <a:off x="1463040" y="288036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500"/>
              <a:buFont typeface="Calibri"/>
              <a:buNone/>
            </a:pPr>
            <a:r>
              <a:rPr b="0" i="0" lang="en-US" sz="1500" u="none" cap="none" strike="noStrike">
                <a:solidFill>
                  <a:srgbClr val="E2E8F0"/>
                </a:solidFill>
                <a:latin typeface="Calibri"/>
                <a:ea typeface="Calibri"/>
                <a:cs typeface="Calibri"/>
                <a:sym typeface="Calibri"/>
              </a:rPr>
              <a:t>Run Path 1 today: clone, install.sh, then /sales prospect a real target</a:t>
            </a:r>
            <a:endParaRPr b="0" i="0" sz="1500" u="none" cap="none" strike="noStrike">
              <a:solidFill>
                <a:schemeClr val="dk1"/>
              </a:solidFill>
              <a:latin typeface="Calibri"/>
              <a:ea typeface="Calibri"/>
              <a:cs typeface="Calibri"/>
              <a:sym typeface="Calibri"/>
            </a:endParaRPr>
          </a:p>
        </p:txBody>
      </p:sp>
      <p:sp>
        <p:nvSpPr>
          <p:cNvPr id="586" name="Google Shape;586;p23"/>
          <p:cNvSpPr/>
          <p:nvPr/>
        </p:nvSpPr>
        <p:spPr>
          <a:xfrm>
            <a:off x="777240" y="3630168"/>
            <a:ext cx="502920" cy="5029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23"/>
          <p:cNvSpPr/>
          <p:nvPr/>
        </p:nvSpPr>
        <p:spPr>
          <a:xfrm>
            <a:off x="777240" y="36301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2000"/>
              <a:buFont typeface="Cambria"/>
              <a:buNone/>
            </a:pPr>
            <a:r>
              <a:rPr b="1" i="0" lang="en-US" sz="2000" u="none" cap="none" strike="noStrike">
                <a:solidFill>
                  <a:srgbClr val="0F172A"/>
                </a:solidFill>
                <a:latin typeface="Cambria"/>
                <a:ea typeface="Cambria"/>
                <a:cs typeface="Cambria"/>
                <a:sym typeface="Cambria"/>
              </a:rPr>
              <a:t>2</a:t>
            </a:r>
            <a:endParaRPr b="0" i="0" sz="2000" u="none" cap="none" strike="noStrike">
              <a:solidFill>
                <a:schemeClr val="dk1"/>
              </a:solidFill>
              <a:latin typeface="Calibri"/>
              <a:ea typeface="Calibri"/>
              <a:cs typeface="Calibri"/>
              <a:sym typeface="Calibri"/>
            </a:endParaRPr>
          </a:p>
        </p:txBody>
      </p:sp>
      <p:sp>
        <p:nvSpPr>
          <p:cNvPr id="588" name="Google Shape;588;p23"/>
          <p:cNvSpPr/>
          <p:nvPr/>
        </p:nvSpPr>
        <p:spPr>
          <a:xfrm>
            <a:off x="1463040" y="3630168"/>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500"/>
              <a:buFont typeface="Calibri"/>
              <a:buNone/>
            </a:pPr>
            <a:r>
              <a:rPr b="0" i="0" lang="en-US" sz="1500" u="none" cap="none" strike="noStrike">
                <a:solidFill>
                  <a:srgbClr val="E2E8F0"/>
                </a:solidFill>
                <a:latin typeface="Calibri"/>
                <a:ea typeface="Calibri"/>
                <a:cs typeface="Calibri"/>
                <a:sym typeface="Calibri"/>
              </a:rPr>
              <a:t>Confirm the output and the score feel right for your ICP</a:t>
            </a:r>
            <a:endParaRPr b="0" i="0" sz="1500" u="none" cap="none" strike="noStrike">
              <a:solidFill>
                <a:schemeClr val="dk1"/>
              </a:solidFill>
              <a:latin typeface="Calibri"/>
              <a:ea typeface="Calibri"/>
              <a:cs typeface="Calibri"/>
              <a:sym typeface="Calibri"/>
            </a:endParaRPr>
          </a:p>
        </p:txBody>
      </p:sp>
      <p:sp>
        <p:nvSpPr>
          <p:cNvPr id="589" name="Google Shape;589;p23"/>
          <p:cNvSpPr/>
          <p:nvPr/>
        </p:nvSpPr>
        <p:spPr>
          <a:xfrm>
            <a:off x="777240" y="4379976"/>
            <a:ext cx="502920" cy="502920"/>
          </a:xfrm>
          <a:prstGeom prst="ellipse">
            <a:avLst/>
          </a:prstGeom>
          <a:solidFill>
            <a:srgbClr val="E1A140"/>
          </a:solidFill>
          <a:ln cap="flat" cmpd="sng" w="12700">
            <a:solidFill>
              <a:srgbClr val="E1A1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3"/>
          <p:cNvSpPr/>
          <p:nvPr/>
        </p:nvSpPr>
        <p:spPr>
          <a:xfrm>
            <a:off x="777240" y="4379976"/>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2000"/>
              <a:buFont typeface="Cambria"/>
              <a:buNone/>
            </a:pPr>
            <a:r>
              <a:rPr b="1" i="0" lang="en-US" sz="2000" u="none" cap="none" strike="noStrike">
                <a:solidFill>
                  <a:srgbClr val="0F172A"/>
                </a:solidFill>
                <a:latin typeface="Cambria"/>
                <a:ea typeface="Cambria"/>
                <a:cs typeface="Cambria"/>
                <a:sym typeface="Cambria"/>
              </a:rPr>
              <a:t>3</a:t>
            </a:r>
            <a:endParaRPr b="0" i="0" sz="2000" u="none" cap="none" strike="noStrike">
              <a:solidFill>
                <a:schemeClr val="dk1"/>
              </a:solidFill>
              <a:latin typeface="Calibri"/>
              <a:ea typeface="Calibri"/>
              <a:cs typeface="Calibri"/>
              <a:sym typeface="Calibri"/>
            </a:endParaRPr>
          </a:p>
        </p:txBody>
      </p:sp>
      <p:sp>
        <p:nvSpPr>
          <p:cNvPr id="591" name="Google Shape;591;p23"/>
          <p:cNvSpPr/>
          <p:nvPr/>
        </p:nvSpPr>
        <p:spPr>
          <a:xfrm>
            <a:off x="1463040" y="4379976"/>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2E8F0"/>
              </a:buClr>
              <a:buSzPts val="1500"/>
              <a:buFont typeface="Calibri"/>
              <a:buNone/>
            </a:pPr>
            <a:r>
              <a:rPr b="0" i="0" lang="en-US" sz="1500" u="none" cap="none" strike="noStrike">
                <a:solidFill>
                  <a:srgbClr val="E2E8F0"/>
                </a:solidFill>
                <a:latin typeface="Calibri"/>
                <a:ea typeface="Calibri"/>
                <a:cs typeface="Calibri"/>
                <a:sym typeface="Calibri"/>
              </a:rPr>
              <a:t>When ready, build Path 2 from the Atrium PRD v5, one phase at a time</a:t>
            </a:r>
            <a:endParaRPr b="0" i="0" sz="1500" u="none" cap="none" strike="noStrike">
              <a:solidFill>
                <a:schemeClr val="dk1"/>
              </a:solidFill>
              <a:latin typeface="Calibri"/>
              <a:ea typeface="Calibri"/>
              <a:cs typeface="Calibri"/>
              <a:sym typeface="Calibri"/>
            </a:endParaRPr>
          </a:p>
        </p:txBody>
      </p:sp>
      <p:cxnSp>
        <p:nvCxnSpPr>
          <p:cNvPr id="592" name="Google Shape;592;p23"/>
          <p:cNvCxnSpPr/>
          <p:nvPr/>
        </p:nvCxnSpPr>
        <p:spPr>
          <a:xfrm>
            <a:off x="777240" y="5623560"/>
            <a:ext cx="3108960" cy="0"/>
          </a:xfrm>
          <a:prstGeom prst="straightConnector1">
            <a:avLst/>
          </a:prstGeom>
          <a:noFill/>
          <a:ln cap="flat" cmpd="sng" w="25400">
            <a:solidFill>
              <a:srgbClr val="E1A140"/>
            </a:solidFill>
            <a:prstDash val="solid"/>
            <a:round/>
            <a:headEnd len="sm" w="sm" type="none"/>
            <a:tailEnd len="sm" w="sm" type="none"/>
          </a:ln>
        </p:spPr>
      </p:cxnSp>
      <p:sp>
        <p:nvSpPr>
          <p:cNvPr id="593" name="Google Shape;593;p23"/>
          <p:cNvSpPr/>
          <p:nvPr/>
        </p:nvSpPr>
        <p:spPr>
          <a:xfrm>
            <a:off x="749808" y="5779008"/>
            <a:ext cx="10058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00"/>
              <a:buFont typeface="Calibri"/>
              <a:buNone/>
            </a:pPr>
            <a:r>
              <a:rPr b="0" i="0" lang="en-US" sz="1200" u="none" cap="none" strike="noStrike">
                <a:solidFill>
                  <a:srgbClr val="94A3B8"/>
                </a:solidFill>
                <a:latin typeface="Calibri"/>
                <a:ea typeface="Calibri"/>
                <a:cs typeface="Calibri"/>
                <a:sym typeface="Calibri"/>
              </a:rPr>
              <a:t>AltoLumo Sales Leads     Overview guide     Kenneth Benavides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